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323" r:id="rId3"/>
    <p:sldId id="257" r:id="rId4"/>
    <p:sldId id="258" r:id="rId5"/>
    <p:sldId id="259" r:id="rId6"/>
    <p:sldId id="260" r:id="rId7"/>
    <p:sldId id="261" r:id="rId8"/>
    <p:sldId id="262" r:id="rId9"/>
    <p:sldId id="263" r:id="rId10"/>
    <p:sldId id="268" r:id="rId11"/>
    <p:sldId id="264" r:id="rId12"/>
    <p:sldId id="265" r:id="rId13"/>
    <p:sldId id="266" r:id="rId14"/>
    <p:sldId id="269" r:id="rId15"/>
    <p:sldId id="270" r:id="rId16"/>
    <p:sldId id="271" r:id="rId17"/>
    <p:sldId id="272" r:id="rId18"/>
    <p:sldId id="273" r:id="rId19"/>
    <p:sldId id="274" r:id="rId20"/>
    <p:sldId id="275" r:id="rId21"/>
    <p:sldId id="276" r:id="rId22"/>
    <p:sldId id="277" r:id="rId23"/>
    <p:sldId id="279" r:id="rId24"/>
    <p:sldId id="283" r:id="rId25"/>
    <p:sldId id="280" r:id="rId26"/>
    <p:sldId id="284" r:id="rId27"/>
    <p:sldId id="304" r:id="rId28"/>
    <p:sldId id="281" r:id="rId29"/>
    <p:sldId id="282" r:id="rId30"/>
    <p:sldId id="285"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6" r:id="rId48"/>
    <p:sldId id="307" r:id="rId49"/>
    <p:sldId id="308" r:id="rId50"/>
    <p:sldId id="309" r:id="rId51"/>
    <p:sldId id="310" r:id="rId52"/>
    <p:sldId id="311" r:id="rId53"/>
    <p:sldId id="312" r:id="rId54"/>
    <p:sldId id="313" r:id="rId55"/>
    <p:sldId id="324" r:id="rId56"/>
    <p:sldId id="314" r:id="rId57"/>
    <p:sldId id="315" r:id="rId58"/>
    <p:sldId id="316" r:id="rId59"/>
    <p:sldId id="317" r:id="rId60"/>
    <p:sldId id="318" r:id="rId61"/>
    <p:sldId id="319" r:id="rId62"/>
    <p:sldId id="320" r:id="rId63"/>
    <p:sldId id="332" r:id="rId64"/>
    <p:sldId id="322" r:id="rId65"/>
    <p:sldId id="325" r:id="rId66"/>
    <p:sldId id="326" r:id="rId67"/>
    <p:sldId id="327" r:id="rId68"/>
    <p:sldId id="328" r:id="rId69"/>
    <p:sldId id="329" r:id="rId70"/>
    <p:sldId id="330" r:id="rId71"/>
    <p:sldId id="344" r:id="rId72"/>
    <p:sldId id="345" r:id="rId73"/>
    <p:sldId id="346" r:id="rId74"/>
    <p:sldId id="347" r:id="rId75"/>
    <p:sldId id="348" r:id="rId76"/>
    <p:sldId id="331" r:id="rId77"/>
    <p:sldId id="333" r:id="rId78"/>
    <p:sldId id="334" r:id="rId79"/>
    <p:sldId id="335" r:id="rId80"/>
    <p:sldId id="349" r:id="rId81"/>
    <p:sldId id="336" r:id="rId82"/>
    <p:sldId id="337" r:id="rId83"/>
    <p:sldId id="338" r:id="rId84"/>
    <p:sldId id="339" r:id="rId85"/>
    <p:sldId id="340" r:id="rId86"/>
    <p:sldId id="341" r:id="rId87"/>
    <p:sldId id="342" r:id="rId88"/>
    <p:sldId id="350" r:id="rId89"/>
    <p:sldId id="343" r:id="rId90"/>
    <p:sldId id="351" r:id="rId91"/>
    <p:sldId id="367" r:id="rId92"/>
    <p:sldId id="353" r:id="rId93"/>
    <p:sldId id="357" r:id="rId94"/>
    <p:sldId id="354" r:id="rId95"/>
    <p:sldId id="365" r:id="rId96"/>
    <p:sldId id="366" r:id="rId97"/>
    <p:sldId id="358" r:id="rId98"/>
    <p:sldId id="355" r:id="rId99"/>
    <p:sldId id="360" r:id="rId100"/>
    <p:sldId id="361" r:id="rId101"/>
    <p:sldId id="362" r:id="rId102"/>
    <p:sldId id="368" r:id="rId103"/>
    <p:sldId id="363" r:id="rId10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7C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06719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19401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17008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2634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37879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89610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39297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63548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62083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53452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98102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70246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28242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19272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35641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47296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1717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5/14/2026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955609045"/>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alecomputing.com/on-premises-external-data-center" TargetMode="External"/><Relationship Id="rId2" Type="http://schemas.openxmlformats.org/officeDocument/2006/relationships/hyperlink" Target="https://www.scalecomputing.com/resources/what-is-hyperconverged-infrastructur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microsoft.com/en-us/power-platform/products/power-bi/topics/dashboards/kpi-dashboard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microsoft.com/en-us/dynamics-365/topics/customer-service/what-is-customer-experience-cx" TargetMode="External"/><Relationship Id="rId2" Type="http://schemas.openxmlformats.org/officeDocument/2006/relationships/hyperlink" Target="https://www.microsoft.com/en-us/dynamics-365/topics/erp/erp-softwar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microsoft.com/en-us/dynamics-365/resources/erp-solutions-for-manufacturin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www.acceldata.io/blog/ultimate-guide-to-data-quality-definition-characteristics-and-best-practices" TargetMode="External"/><Relationship Id="rId2" Type="http://schemas.openxmlformats.org/officeDocument/2006/relationships/hyperlink" Target="https://www.montecarlodata.com/blog-data-integrity-vs-data-quality/" TargetMode="External"/><Relationship Id="rId1" Type="http://schemas.openxmlformats.org/officeDocument/2006/relationships/slideLayout" Target="../slideLayouts/slideLayout2.xml"/><Relationship Id="rId5" Type="http://schemas.openxmlformats.org/officeDocument/2006/relationships/hyperlink" Target="https://atlan.com/data-integrity-vs-data-quality/" TargetMode="External"/><Relationship Id="rId4" Type="http://schemas.openxmlformats.org/officeDocument/2006/relationships/hyperlink" Target="https://www.claravine.com/pillars-data-quality/"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https://www.wrike.com/project-management-guide/faq/what-is-change-management-in-project-management/"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www.wrike.com/collaborative-work-guide/what-is-cross-functional-collaboration/" TargetMode="External"/><Relationship Id="rId2" Type="http://schemas.openxmlformats.org/officeDocument/2006/relationships/hyperlink" Target="https://www.wrike.com/project-management-guide/faq/what-is-scope-in-project-management/"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067440"/>
            <a:ext cx="9607237" cy="1790076"/>
          </a:xfrm>
        </p:spPr>
        <p:txBody>
          <a:bodyPr>
            <a:normAutofit/>
          </a:bodyPr>
          <a:lstStyle/>
          <a:p>
            <a:r>
              <a:rPr lang="en-GB" sz="5400">
                <a:solidFill>
                  <a:srgbClr val="0070C0"/>
                </a:solidFill>
              </a:rPr>
              <a:t>INFORMATION  TECHNOLOGY</a:t>
            </a:r>
            <a:endParaRPr lang="en-GB" sz="5400" dirty="0">
              <a:solidFill>
                <a:srgbClr val="0070C0"/>
              </a:solidFill>
            </a:endParaRPr>
          </a:p>
        </p:txBody>
      </p:sp>
      <p:sp>
        <p:nvSpPr>
          <p:cNvPr id="3" name="Subtitle 2"/>
          <p:cNvSpPr>
            <a:spLocks noGrp="1"/>
          </p:cNvSpPr>
          <p:nvPr>
            <p:ph type="subTitle" idx="1"/>
          </p:nvPr>
        </p:nvSpPr>
        <p:spPr/>
        <p:txBody>
          <a:bodyPr/>
          <a:lstStyle/>
          <a:p>
            <a:r>
              <a:rPr lang="en-GB" dirty="0"/>
              <a:t>  </a:t>
            </a:r>
          </a:p>
        </p:txBody>
      </p:sp>
      <p:sp>
        <p:nvSpPr>
          <p:cNvPr id="5" name="TextBox 4">
            <a:extLst>
              <a:ext uri="{FF2B5EF4-FFF2-40B4-BE49-F238E27FC236}">
                <a16:creationId xmlns:a16="http://schemas.microsoft.com/office/drawing/2014/main" id="{E36FFD95-3781-85C0-DF44-9E33D3316B36}"/>
              </a:ext>
            </a:extLst>
          </p:cNvPr>
          <p:cNvSpPr txBox="1"/>
          <p:nvPr/>
        </p:nvSpPr>
        <p:spPr>
          <a:xfrm>
            <a:off x="7869837" y="3165281"/>
            <a:ext cx="2938072" cy="646331"/>
          </a:xfrm>
          <a:prstGeom prst="rect">
            <a:avLst/>
          </a:prstGeom>
          <a:noFill/>
        </p:spPr>
        <p:txBody>
          <a:bodyPr wrap="square">
            <a:spAutoFit/>
          </a:bodyPr>
          <a:lstStyle/>
          <a:p>
            <a:r>
              <a:rPr lang="en-US" sz="3600" dirty="0">
                <a:solidFill>
                  <a:srgbClr val="002060"/>
                </a:solidFill>
              </a:rPr>
              <a:t>-</a:t>
            </a:r>
            <a:r>
              <a:rPr lang="en-US" sz="2800" dirty="0">
                <a:solidFill>
                  <a:srgbClr val="002060"/>
                </a:solidFill>
              </a:rPr>
              <a:t> RITTIKA  GHOSH</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19EEE-ABD7-FA2B-9CEC-EC979C8C7AED}"/>
              </a:ext>
            </a:extLst>
          </p:cNvPr>
          <p:cNvSpPr>
            <a:spLocks noGrp="1"/>
          </p:cNvSpPr>
          <p:nvPr>
            <p:ph type="ctrTitle"/>
          </p:nvPr>
        </p:nvSpPr>
        <p:spPr>
          <a:xfrm>
            <a:off x="1648817" y="1380068"/>
            <a:ext cx="10558696" cy="2616199"/>
          </a:xfrm>
        </p:spPr>
        <p:txBody>
          <a:bodyPr/>
          <a:lstStyle/>
          <a:p>
            <a:pPr algn="l"/>
            <a:r>
              <a:rPr lang="en-GB" sz="4400">
                <a:solidFill>
                  <a:srgbClr val="002060"/>
                </a:solidFill>
              </a:rPr>
              <a:t>       1.Introduction to IT and Business System </a:t>
            </a:r>
            <a:endParaRPr lang="en-US" sz="4400">
              <a:solidFill>
                <a:srgbClr val="002060"/>
              </a:solidFill>
            </a:endParaRPr>
          </a:p>
        </p:txBody>
      </p:sp>
      <p:sp>
        <p:nvSpPr>
          <p:cNvPr id="3" name="Subtitle 2">
            <a:extLst>
              <a:ext uri="{FF2B5EF4-FFF2-40B4-BE49-F238E27FC236}">
                <a16:creationId xmlns:a16="http://schemas.microsoft.com/office/drawing/2014/main" id="{B3E62171-95C3-FF48-855F-91C38AA0F69C}"/>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359756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A65B-AA94-3734-580F-48D7FFD369BC}"/>
              </a:ext>
            </a:extLst>
          </p:cNvPr>
          <p:cNvSpPr>
            <a:spLocks noGrp="1"/>
          </p:cNvSpPr>
          <p:nvPr>
            <p:ph type="title"/>
          </p:nvPr>
        </p:nvSpPr>
        <p:spPr/>
        <p:txBody>
          <a:bodyPr/>
          <a:lstStyle/>
          <a:p>
            <a:r>
              <a:rPr lang="en-GB">
                <a:solidFill>
                  <a:srgbClr val="000000"/>
                </a:solidFill>
              </a:rPr>
              <a:t>WHAT IS INFORMATION TECHNOLOGY?</a:t>
            </a:r>
          </a:p>
        </p:txBody>
      </p:sp>
      <p:sp>
        <p:nvSpPr>
          <p:cNvPr id="3" name="Content Placeholder 2">
            <a:extLst>
              <a:ext uri="{FF2B5EF4-FFF2-40B4-BE49-F238E27FC236}">
                <a16:creationId xmlns:a16="http://schemas.microsoft.com/office/drawing/2014/main" id="{5DD91D1B-A076-B9D5-D125-CA2225DBA342}"/>
              </a:ext>
            </a:extLst>
          </p:cNvPr>
          <p:cNvSpPr>
            <a:spLocks noGrp="1"/>
          </p:cNvSpPr>
          <p:nvPr>
            <p:ph idx="1"/>
          </p:nvPr>
        </p:nvSpPr>
        <p:spPr/>
        <p:txBody>
          <a:bodyPr>
            <a:noAutofit/>
          </a:bodyPr>
          <a:lstStyle/>
          <a:p>
            <a:r>
              <a:rPr lang="en-GB">
                <a:solidFill>
                  <a:srgbClr val="07182D"/>
                </a:solidFill>
                <a:latin typeface="Calibri"/>
                <a:ea typeface="Calibri"/>
                <a:cs typeface="Calibri"/>
              </a:rPr>
              <a:t>The field of information technology (IT for short) is often associated with the computer systems, hardware, software, and networks related to the processing and distribution of data. These include networking hardware, such as servers and routers, and applications that allow communication over a variety of networks and the Internet at large.</a:t>
            </a:r>
          </a:p>
          <a:p>
            <a:pPr marL="0" indent="0">
              <a:buClr>
                <a:srgbClr val="1287C3"/>
              </a:buClr>
              <a:buNone/>
            </a:pPr>
            <a:endParaRPr lang="en-GB">
              <a:solidFill>
                <a:srgbClr val="07182D"/>
              </a:solidFill>
              <a:latin typeface="Calibri"/>
              <a:ea typeface="Calibri"/>
              <a:cs typeface="Calibri"/>
            </a:endParaRPr>
          </a:p>
        </p:txBody>
      </p:sp>
    </p:spTree>
    <p:extLst>
      <p:ext uri="{BB962C8B-B14F-4D97-AF65-F5344CB8AC3E}">
        <p14:creationId xmlns:p14="http://schemas.microsoft.com/office/powerpoint/2010/main" val="249171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EE7C2-3235-7071-3B57-5EC062101129}"/>
              </a:ext>
            </a:extLst>
          </p:cNvPr>
          <p:cNvSpPr>
            <a:spLocks noGrp="1"/>
          </p:cNvSpPr>
          <p:nvPr>
            <p:ph type="title"/>
          </p:nvPr>
        </p:nvSpPr>
        <p:spPr>
          <a:xfrm>
            <a:off x="1225519" y="685800"/>
            <a:ext cx="10967617" cy="1752599"/>
          </a:xfrm>
        </p:spPr>
        <p:txBody>
          <a:bodyPr>
            <a:normAutofit/>
          </a:bodyPr>
          <a:lstStyle/>
          <a:p>
            <a:r>
              <a:rPr lang="en-GB" sz="3600"/>
              <a:t>DIFFERENCE BETWEEN IT AND COMPUTER SCIENCE?</a:t>
            </a:r>
            <a:endParaRPr lang="en-US" sz="3600"/>
          </a:p>
          <a:p>
            <a:endParaRPr lang="en-GB"/>
          </a:p>
        </p:txBody>
      </p:sp>
      <p:sp>
        <p:nvSpPr>
          <p:cNvPr id="3" name="Content Placeholder 2">
            <a:extLst>
              <a:ext uri="{FF2B5EF4-FFF2-40B4-BE49-F238E27FC236}">
                <a16:creationId xmlns:a16="http://schemas.microsoft.com/office/drawing/2014/main" id="{FF72659C-DBCF-34D3-7B26-47BD24125024}"/>
              </a:ext>
            </a:extLst>
          </p:cNvPr>
          <p:cNvSpPr>
            <a:spLocks noGrp="1"/>
          </p:cNvSpPr>
          <p:nvPr>
            <p:ph idx="1"/>
          </p:nvPr>
        </p:nvSpPr>
        <p:spPr>
          <a:xfrm>
            <a:off x="1484310" y="2192547"/>
            <a:ext cx="10018713" cy="3224842"/>
          </a:xfrm>
        </p:spPr>
        <p:txBody>
          <a:bodyPr/>
          <a:lstStyle/>
          <a:p>
            <a:r>
              <a:rPr lang="en-GB">
                <a:ea typeface="+mn-lt"/>
                <a:cs typeface="+mn-lt"/>
              </a:rPr>
              <a:t>Computer Science (CS) focuses on the theoretical foundations, algorithms, and software development (building tools), </a:t>
            </a:r>
          </a:p>
          <a:p>
            <a:pPr>
              <a:buClr>
                <a:srgbClr val="1287C3"/>
              </a:buClr>
            </a:pPr>
            <a:r>
              <a:rPr lang="en-GB">
                <a:ea typeface="+mn-lt"/>
                <a:cs typeface="+mn-lt"/>
              </a:rPr>
              <a:t> Information Technology (IT) focuses on the practical application, management, and maintenance of computer systems (using tools)</a:t>
            </a:r>
            <a:endParaRPr lang="en-GB"/>
          </a:p>
        </p:txBody>
      </p:sp>
    </p:spTree>
    <p:extLst>
      <p:ext uri="{BB962C8B-B14F-4D97-AF65-F5344CB8AC3E}">
        <p14:creationId xmlns:p14="http://schemas.microsoft.com/office/powerpoint/2010/main" val="3827636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C57E6-9499-0A55-DA54-FDEBAA1968D8}"/>
              </a:ext>
            </a:extLst>
          </p:cNvPr>
          <p:cNvSpPr>
            <a:spLocks noGrp="1"/>
          </p:cNvSpPr>
          <p:nvPr>
            <p:ph type="title"/>
          </p:nvPr>
        </p:nvSpPr>
        <p:spPr>
          <a:xfrm>
            <a:off x="1484311" y="685800"/>
            <a:ext cx="10550675" cy="1752599"/>
          </a:xfrm>
        </p:spPr>
        <p:txBody>
          <a:bodyPr/>
          <a:lstStyle/>
          <a:p>
            <a:r>
              <a:rPr lang="en-GB" sz="3200">
                <a:solidFill>
                  <a:srgbClr val="2D2D2D"/>
                </a:solidFill>
              </a:rPr>
              <a:t>WHY IS INFORMATION TECHNOLOGY IMPORTANT?</a:t>
            </a:r>
            <a:endParaRPr lang="en-US" sz="3200"/>
          </a:p>
          <a:p>
            <a:endParaRPr lang="en-GB"/>
          </a:p>
        </p:txBody>
      </p:sp>
      <p:sp>
        <p:nvSpPr>
          <p:cNvPr id="3" name="Content Placeholder 2">
            <a:extLst>
              <a:ext uri="{FF2B5EF4-FFF2-40B4-BE49-F238E27FC236}">
                <a16:creationId xmlns:a16="http://schemas.microsoft.com/office/drawing/2014/main" id="{B3E464F9-1BCC-4D51-860B-107A1BD7E9C9}"/>
              </a:ext>
            </a:extLst>
          </p:cNvPr>
          <p:cNvSpPr>
            <a:spLocks noGrp="1"/>
          </p:cNvSpPr>
          <p:nvPr>
            <p:ph idx="1"/>
          </p:nvPr>
        </p:nvSpPr>
        <p:spPr/>
        <p:txBody>
          <a:bodyPr>
            <a:normAutofit fontScale="92500" lnSpcReduction="10000"/>
          </a:bodyPr>
          <a:lstStyle/>
          <a:p>
            <a:r>
              <a:rPr lang="en-GB" b="1">
                <a:solidFill>
                  <a:srgbClr val="2D2D2D"/>
                </a:solidFill>
              </a:rPr>
              <a:t>Facilitates communication </a:t>
            </a:r>
            <a:r>
              <a:rPr lang="en-GB" sz="1500">
                <a:solidFill>
                  <a:srgbClr val="2D2D2D"/>
                </a:solidFill>
                <a:ea typeface="+mn-lt"/>
                <a:cs typeface="+mn-lt"/>
              </a:rPr>
              <a:t>Due to the Internet, social media and smart devices, sharing information globally </a:t>
            </a:r>
            <a:endParaRPr lang="en-GB"/>
          </a:p>
          <a:p>
            <a:pPr>
              <a:buClr>
                <a:srgbClr val="1287C3"/>
              </a:buClr>
            </a:pPr>
            <a:r>
              <a:rPr lang="en-US" b="1">
                <a:solidFill>
                  <a:srgbClr val="2D2D2D"/>
                </a:solidFill>
              </a:rPr>
              <a:t>Improves data storage and management </a:t>
            </a:r>
            <a:r>
              <a:rPr lang="en-US" sz="1500">
                <a:solidFill>
                  <a:srgbClr val="2D2D2D"/>
                </a:solidFill>
                <a:ea typeface="+mn-lt"/>
                <a:cs typeface="+mn-lt"/>
              </a:rPr>
              <a:t>Due to advances in technology,</a:t>
            </a:r>
            <a:r>
              <a:rPr lang="en-US" sz="1600">
                <a:solidFill>
                  <a:srgbClr val="2D2D2D"/>
                </a:solidFill>
                <a:ea typeface="+mn-lt"/>
                <a:cs typeface="+mn-lt"/>
              </a:rPr>
              <a:t> many businesses now use digital databases, which take less space, are cheaper to operate and are relatively protected from physical damage.</a:t>
            </a:r>
            <a:endParaRPr lang="en-US"/>
          </a:p>
          <a:p>
            <a:pPr>
              <a:buClr>
                <a:srgbClr val="1287C3"/>
              </a:buClr>
            </a:pPr>
            <a:r>
              <a:rPr lang="en-US" b="1">
                <a:solidFill>
                  <a:srgbClr val="2D2D2D"/>
                </a:solidFill>
              </a:rPr>
              <a:t>Protects critical systems </a:t>
            </a:r>
            <a:r>
              <a:rPr lang="en-US" sz="1500">
                <a:solidFill>
                  <a:srgbClr val="2D2D2D"/>
                </a:solidFill>
                <a:ea typeface="+mn-lt"/>
                <a:cs typeface="+mn-lt"/>
              </a:rPr>
              <a:t>A branch of information technology helps to secure computer systems, networks and databases</a:t>
            </a:r>
            <a:endParaRPr lang="en-US"/>
          </a:p>
          <a:p>
            <a:pPr>
              <a:buClr>
                <a:srgbClr val="1287C3"/>
              </a:buClr>
            </a:pPr>
            <a:r>
              <a:rPr lang="en-US" b="1">
                <a:solidFill>
                  <a:srgbClr val="2D2D2D"/>
                </a:solidFill>
              </a:rPr>
              <a:t>Boosts productivity and efficiency </a:t>
            </a:r>
            <a:r>
              <a:rPr lang="en-US" sz="1500">
                <a:solidFill>
                  <a:srgbClr val="2D2D2D"/>
                </a:solidFill>
                <a:ea typeface="+mn-lt"/>
                <a:cs typeface="+mn-lt"/>
              </a:rPr>
              <a:t>With digital systems, people can perform tasks faster compared to manual methods.</a:t>
            </a:r>
            <a:endParaRPr lang="en-US"/>
          </a:p>
          <a:p>
            <a:pPr marL="0" indent="0">
              <a:buClr>
                <a:srgbClr val="1287C3"/>
              </a:buClr>
              <a:buNone/>
            </a:pPr>
            <a:br>
              <a:rPr lang="en-US"/>
            </a:br>
            <a:endParaRPr lang="en-US"/>
          </a:p>
        </p:txBody>
      </p:sp>
    </p:spTree>
    <p:extLst>
      <p:ext uri="{BB962C8B-B14F-4D97-AF65-F5344CB8AC3E}">
        <p14:creationId xmlns:p14="http://schemas.microsoft.com/office/powerpoint/2010/main" val="2320307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B2A35-BD51-4ACF-EF11-9D0E23517D77}"/>
              </a:ext>
            </a:extLst>
          </p:cNvPr>
          <p:cNvSpPr>
            <a:spLocks noGrp="1"/>
          </p:cNvSpPr>
          <p:nvPr>
            <p:ph type="title"/>
          </p:nvPr>
        </p:nvSpPr>
        <p:spPr>
          <a:xfrm>
            <a:off x="1484311" y="211348"/>
            <a:ext cx="10018713" cy="1278146"/>
          </a:xfrm>
        </p:spPr>
        <p:txBody>
          <a:bodyPr/>
          <a:lstStyle/>
          <a:p>
            <a:r>
              <a:rPr lang="en-GB"/>
              <a:t>CORE COMPONENTS OF IT</a:t>
            </a:r>
          </a:p>
        </p:txBody>
      </p:sp>
      <p:sp>
        <p:nvSpPr>
          <p:cNvPr id="3" name="Content Placeholder 2">
            <a:extLst>
              <a:ext uri="{FF2B5EF4-FFF2-40B4-BE49-F238E27FC236}">
                <a16:creationId xmlns:a16="http://schemas.microsoft.com/office/drawing/2014/main" id="{DDCCAFA4-5A0A-C9EB-56A3-B9F4C0BBD835}"/>
              </a:ext>
            </a:extLst>
          </p:cNvPr>
          <p:cNvSpPr>
            <a:spLocks noGrp="1"/>
          </p:cNvSpPr>
          <p:nvPr>
            <p:ph idx="1"/>
          </p:nvPr>
        </p:nvSpPr>
        <p:spPr>
          <a:xfrm>
            <a:off x="1484310" y="2120661"/>
            <a:ext cx="10521919" cy="4720086"/>
          </a:xfrm>
        </p:spPr>
        <p:txBody>
          <a:bodyPr>
            <a:normAutofit fontScale="25000" lnSpcReduction="20000"/>
          </a:bodyPr>
          <a:lstStyle/>
          <a:p>
            <a:r>
              <a:rPr lang="en-GB" sz="7200" b="1"/>
              <a:t>Hardware </a:t>
            </a:r>
            <a:r>
              <a:rPr lang="en-GB" sz="7200"/>
              <a:t>:This</a:t>
            </a:r>
            <a:r>
              <a:rPr lang="en-GB" sz="7200">
                <a:ea typeface="+mn-lt"/>
                <a:cs typeface="+mn-lt"/>
              </a:rPr>
              <a:t> includes servers, computers, network devices, storage systems, and peripheral devices. Hardware forms the physical foundation of the IT infrastructure.</a:t>
            </a:r>
            <a:endParaRPr lang="en-GB" sz="7200"/>
          </a:p>
          <a:p>
            <a:pPr>
              <a:buClr>
                <a:srgbClr val="1287C3"/>
              </a:buClr>
            </a:pPr>
            <a:r>
              <a:rPr lang="en-GB" sz="7200" b="1"/>
              <a:t>Software </a:t>
            </a:r>
            <a:r>
              <a:rPr lang="en-GB" sz="7200"/>
              <a:t>: It</a:t>
            </a:r>
            <a:r>
              <a:rPr lang="en-GB" sz="7200">
                <a:ea typeface="+mn-lt"/>
                <a:cs typeface="+mn-lt"/>
              </a:rPr>
              <a:t> encompasses operating systems, applications, databases, virtualization, and other software programs that enable various functionalities within the infrastructure. </a:t>
            </a:r>
            <a:r>
              <a:rPr lang="en-GB" sz="7200" dirty="0">
                <a:solidFill>
                  <a:srgbClr val="009ADE"/>
                </a:solidFill>
                <a:ea typeface="+mn-lt"/>
                <a:cs typeface="+mn-lt"/>
                <a:hlinkClick r:id="rId2"/>
              </a:rPr>
              <a:t>Hyperconverged infrastructure (HCI)</a:t>
            </a:r>
            <a:r>
              <a:rPr lang="en-GB" sz="7200">
                <a:ea typeface="+mn-lt"/>
                <a:cs typeface="+mn-lt"/>
              </a:rPr>
              <a:t> is a modern technology that many IT infrastructure leaders have found success with.</a:t>
            </a:r>
            <a:endParaRPr lang="en-GB" sz="7200"/>
          </a:p>
          <a:p>
            <a:pPr algn="just">
              <a:buClr>
                <a:srgbClr val="1287C3"/>
              </a:buClr>
            </a:pPr>
            <a:r>
              <a:rPr lang="en-GB" sz="7200" b="1" dirty="0"/>
              <a:t>Networks </a:t>
            </a:r>
            <a:r>
              <a:rPr lang="en-GB" sz="7200" dirty="0"/>
              <a:t>: Networking</a:t>
            </a:r>
            <a:r>
              <a:rPr lang="en-GB" sz="7200" dirty="0">
                <a:ea typeface="+mn-lt"/>
                <a:cs typeface="+mn-lt"/>
              </a:rPr>
              <a:t> components such as routers, switches, firewalls, and cables connect devices and facilitate data transmission across the infrastructure.</a:t>
            </a:r>
            <a:endParaRPr lang="en-GB" sz="7200" dirty="0"/>
          </a:p>
          <a:p>
            <a:pPr>
              <a:buClr>
                <a:srgbClr val="1287C3"/>
              </a:buClr>
            </a:pPr>
            <a:r>
              <a:rPr lang="en-GB" sz="7200" b="1" dirty="0"/>
              <a:t>Data </a:t>
            </a:r>
            <a:r>
              <a:rPr lang="en-GB" sz="7200" b="1" dirty="0" err="1"/>
              <a:t>Centers</a:t>
            </a:r>
            <a:r>
              <a:rPr lang="en-GB" sz="7200" dirty="0"/>
              <a:t> : These</a:t>
            </a:r>
            <a:r>
              <a:rPr lang="en-GB" sz="7200" dirty="0">
                <a:ea typeface="+mn-lt"/>
                <a:cs typeface="+mn-lt"/>
              </a:rPr>
              <a:t> centralized facilities house servers, storage systems, and networking equipment. </a:t>
            </a:r>
            <a:r>
              <a:rPr lang="en-GB" sz="7200" dirty="0">
                <a:solidFill>
                  <a:srgbClr val="009ADE"/>
                </a:solidFill>
                <a:ea typeface="+mn-lt"/>
                <a:cs typeface="+mn-lt"/>
                <a:hlinkClick r:id="rId3"/>
              </a:rPr>
              <a:t>Data </a:t>
            </a:r>
            <a:r>
              <a:rPr lang="en-GB" sz="7200" dirty="0" err="1">
                <a:solidFill>
                  <a:srgbClr val="009ADE"/>
                </a:solidFill>
                <a:ea typeface="+mn-lt"/>
                <a:cs typeface="+mn-lt"/>
                <a:hlinkClick r:id="rId3"/>
              </a:rPr>
              <a:t>centers</a:t>
            </a:r>
            <a:r>
              <a:rPr lang="en-GB" sz="7200" dirty="0">
                <a:solidFill>
                  <a:srgbClr val="009ADE"/>
                </a:solidFill>
                <a:ea typeface="+mn-lt"/>
                <a:cs typeface="+mn-lt"/>
                <a:hlinkClick r:id="rId3"/>
              </a:rPr>
              <a:t> provide a controlled environment</a:t>
            </a:r>
            <a:r>
              <a:rPr lang="en-GB" sz="7200" dirty="0">
                <a:ea typeface="+mn-lt"/>
                <a:cs typeface="+mn-lt"/>
              </a:rPr>
              <a:t> with power, cooling, and security features to ensure optimal performance and data protection.</a:t>
            </a:r>
            <a:endParaRPr lang="en-GB" sz="7200" dirty="0"/>
          </a:p>
          <a:p>
            <a:pPr>
              <a:buClr>
                <a:srgbClr val="1287C3"/>
              </a:buClr>
            </a:pPr>
            <a:r>
              <a:rPr lang="en-GB" sz="7200" b="1"/>
              <a:t>Security Systems</a:t>
            </a:r>
            <a:r>
              <a:rPr lang="en-GB" sz="7200"/>
              <a:t> : Infrastructure</a:t>
            </a:r>
            <a:r>
              <a:rPr lang="en-GB" sz="7200">
                <a:ea typeface="+mn-lt"/>
                <a:cs typeface="+mn-lt"/>
              </a:rPr>
              <a:t> security measures like firewalls, antivirus software, intrusion detection systems, and encryption technologies protect against unauthorized access, data breaches, and cyber threats.</a:t>
            </a:r>
            <a:endParaRPr lang="en-GB" sz="7200"/>
          </a:p>
          <a:p>
            <a:pPr>
              <a:buClr>
                <a:srgbClr val="1287C3"/>
              </a:buClr>
            </a:pPr>
            <a:r>
              <a:rPr lang="en-GB" sz="7200" b="1"/>
              <a:t>Cloud Services</a:t>
            </a:r>
            <a:r>
              <a:rPr lang="en-GB" sz="7200"/>
              <a:t> : Cloud computing services, including Infrastructure as a Service (IaaS), Platform as a Service (PaaS), and Software as a Service (SaaS), offer scalable and flexible solutions for infrastructure requirements.</a:t>
            </a:r>
          </a:p>
          <a:p>
            <a:pPr>
              <a:buClr>
                <a:srgbClr val="1287C3"/>
              </a:buClr>
            </a:pPr>
            <a:r>
              <a:rPr lang="en-GB" sz="7200" b="1"/>
              <a:t>IT Service Management (ITSM)</a:t>
            </a:r>
            <a:r>
              <a:rPr lang="en-GB" sz="7200">
                <a:ea typeface="+mn-lt"/>
                <a:cs typeface="+mn-lt"/>
              </a:rPr>
              <a:t> : ITSM frameworks and tools enable efficient management of IT services, including incident management, change management, problem management, and service desk support.</a:t>
            </a:r>
            <a:endParaRPr lang="en-GB" sz="7200"/>
          </a:p>
          <a:p>
            <a:pPr>
              <a:buClr>
                <a:srgbClr val="1287C3"/>
              </a:buClr>
            </a:pPr>
            <a:endParaRPr lang="en-GB" sz="7200"/>
          </a:p>
          <a:p>
            <a:pPr>
              <a:buClr>
                <a:srgbClr val="1287C3"/>
              </a:buClr>
            </a:pPr>
            <a:endParaRPr lang="en-GB"/>
          </a:p>
          <a:p>
            <a:pPr>
              <a:buClr>
                <a:srgbClr val="1287C3"/>
              </a:buClr>
            </a:pPr>
            <a:br>
              <a:rPr lang="en-US" dirty="0"/>
            </a:br>
            <a:endParaRPr lang="en-US"/>
          </a:p>
        </p:txBody>
      </p:sp>
    </p:spTree>
    <p:extLst>
      <p:ext uri="{BB962C8B-B14F-4D97-AF65-F5344CB8AC3E}">
        <p14:creationId xmlns:p14="http://schemas.microsoft.com/office/powerpoint/2010/main" val="1641085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418CD-CD62-DF27-6EEA-C7003552FF3C}"/>
              </a:ext>
            </a:extLst>
          </p:cNvPr>
          <p:cNvSpPr>
            <a:spLocks noGrp="1"/>
          </p:cNvSpPr>
          <p:nvPr>
            <p:ph type="title"/>
          </p:nvPr>
        </p:nvSpPr>
        <p:spPr/>
        <p:txBody>
          <a:bodyPr/>
          <a:lstStyle/>
          <a:p>
            <a:r>
              <a:rPr lang="en-GB"/>
              <a:t>COMPUTER HARDWARE</a:t>
            </a:r>
          </a:p>
        </p:txBody>
      </p:sp>
      <p:sp>
        <p:nvSpPr>
          <p:cNvPr id="3" name="Content Placeholder 2">
            <a:extLst>
              <a:ext uri="{FF2B5EF4-FFF2-40B4-BE49-F238E27FC236}">
                <a16:creationId xmlns:a16="http://schemas.microsoft.com/office/drawing/2014/main" id="{515F6874-CB27-8980-B65F-1EC490DABE46}"/>
              </a:ext>
            </a:extLst>
          </p:cNvPr>
          <p:cNvSpPr>
            <a:spLocks noGrp="1"/>
          </p:cNvSpPr>
          <p:nvPr>
            <p:ph idx="1"/>
          </p:nvPr>
        </p:nvSpPr>
        <p:spPr>
          <a:xfrm>
            <a:off x="1484310" y="2666999"/>
            <a:ext cx="10694448" cy="4576314"/>
          </a:xfrm>
        </p:spPr>
        <p:txBody>
          <a:bodyPr>
            <a:normAutofit fontScale="92500" lnSpcReduction="20000"/>
          </a:bodyPr>
          <a:lstStyle/>
          <a:p>
            <a:pPr marL="0" indent="0">
              <a:buNone/>
            </a:pPr>
            <a:r>
              <a:rPr lang="en-GB" b="1">
                <a:ea typeface="+mn-lt"/>
                <a:cs typeface="+mn-lt"/>
              </a:rPr>
              <a:t>Internal Components</a:t>
            </a:r>
            <a:endParaRPr lang="en-GB" b="1" dirty="0">
              <a:ea typeface="+mn-lt"/>
              <a:cs typeface="+mn-lt"/>
            </a:endParaRPr>
          </a:p>
          <a:p>
            <a:pPr>
              <a:buClr>
                <a:srgbClr val="1287C3"/>
              </a:buClr>
            </a:pPr>
            <a:r>
              <a:rPr lang="en-GB" b="1">
                <a:ea typeface="+mn-lt"/>
                <a:cs typeface="+mn-lt"/>
              </a:rPr>
              <a:t>Motherboard:</a:t>
            </a:r>
            <a:r>
              <a:rPr lang="en-GB">
                <a:ea typeface="+mn-lt"/>
                <a:cs typeface="+mn-lt"/>
              </a:rPr>
              <a:t> The main circuit board connecting all components.</a:t>
            </a:r>
            <a:endParaRPr lang="en-GB"/>
          </a:p>
          <a:p>
            <a:pPr>
              <a:buClr>
                <a:srgbClr val="1287C3"/>
              </a:buClr>
            </a:pPr>
            <a:r>
              <a:rPr lang="en-GB" b="1">
                <a:ea typeface="+mn-lt"/>
                <a:cs typeface="+mn-lt"/>
              </a:rPr>
              <a:t>CPU (Central Processing Unit):</a:t>
            </a:r>
            <a:r>
              <a:rPr lang="en-GB">
                <a:ea typeface="+mn-lt"/>
                <a:cs typeface="+mn-lt"/>
              </a:rPr>
              <a:t> The "brain" that processes instructions.</a:t>
            </a:r>
            <a:endParaRPr lang="en-GB"/>
          </a:p>
          <a:p>
            <a:pPr>
              <a:buClr>
                <a:srgbClr val="1287C3"/>
              </a:buClr>
            </a:pPr>
            <a:r>
              <a:rPr lang="en-GB" b="1">
                <a:ea typeface="+mn-lt"/>
                <a:cs typeface="+mn-lt"/>
              </a:rPr>
              <a:t>RAM (Random Access Memory):</a:t>
            </a:r>
            <a:r>
              <a:rPr lang="en-GB">
                <a:ea typeface="+mn-lt"/>
                <a:cs typeface="+mn-lt"/>
              </a:rPr>
              <a:t> Temporary, high-speed memory for active tasks.</a:t>
            </a:r>
            <a:endParaRPr lang="en-GB"/>
          </a:p>
          <a:p>
            <a:pPr>
              <a:buClr>
                <a:srgbClr val="1287C3"/>
              </a:buClr>
            </a:pPr>
            <a:r>
              <a:rPr lang="en-GB" b="1">
                <a:ea typeface="+mn-lt"/>
                <a:cs typeface="+mn-lt"/>
              </a:rPr>
              <a:t>Storage Devices (HDD/SSD):</a:t>
            </a:r>
            <a:r>
              <a:rPr lang="en-GB">
                <a:ea typeface="+mn-lt"/>
                <a:cs typeface="+mn-lt"/>
              </a:rPr>
              <a:t> Permanent data storage (Solid State Drives are faster than Hard Disk Drives).</a:t>
            </a:r>
            <a:endParaRPr lang="en-GB"/>
          </a:p>
          <a:p>
            <a:pPr>
              <a:buClr>
                <a:srgbClr val="1287C3"/>
              </a:buClr>
            </a:pPr>
            <a:r>
              <a:rPr lang="en-GB" b="1">
                <a:ea typeface="+mn-lt"/>
                <a:cs typeface="+mn-lt"/>
              </a:rPr>
              <a:t>Power Supply Unit (PSU):</a:t>
            </a:r>
            <a:r>
              <a:rPr lang="en-GB">
                <a:ea typeface="+mn-lt"/>
                <a:cs typeface="+mn-lt"/>
              </a:rPr>
              <a:t> Converts electricity to power the components.</a:t>
            </a:r>
            <a:endParaRPr lang="en-GB"/>
          </a:p>
          <a:p>
            <a:pPr>
              <a:buClr>
                <a:srgbClr val="1287C3"/>
              </a:buClr>
            </a:pPr>
            <a:r>
              <a:rPr lang="en-GB" b="1">
                <a:ea typeface="+mn-lt"/>
                <a:cs typeface="+mn-lt"/>
              </a:rPr>
              <a:t>Graphics Card (GPU):</a:t>
            </a:r>
            <a:r>
              <a:rPr lang="en-GB">
                <a:ea typeface="+mn-lt"/>
                <a:cs typeface="+mn-lt"/>
              </a:rPr>
              <a:t> Processes images and video for display.</a:t>
            </a:r>
            <a:endParaRPr lang="en-GB"/>
          </a:p>
          <a:p>
            <a:pPr marL="0" indent="0">
              <a:buClr>
                <a:srgbClr val="1287C3"/>
              </a:buClr>
              <a:buNone/>
            </a:pPr>
            <a:r>
              <a:rPr lang="en-GB" b="1">
                <a:ea typeface="+mn-lt"/>
                <a:cs typeface="+mn-lt"/>
              </a:rPr>
              <a:t>External Components</a:t>
            </a:r>
            <a:endParaRPr lang="en-GB" b="1"/>
          </a:p>
          <a:p>
            <a:pPr>
              <a:buClr>
                <a:srgbClr val="1287C3"/>
              </a:buClr>
            </a:pPr>
            <a:r>
              <a:rPr lang="en-GB" b="1">
                <a:ea typeface="+mn-lt"/>
                <a:cs typeface="+mn-lt"/>
              </a:rPr>
              <a:t>Input Devices:</a:t>
            </a:r>
            <a:r>
              <a:rPr lang="en-GB">
                <a:ea typeface="+mn-lt"/>
                <a:cs typeface="+mn-lt"/>
              </a:rPr>
              <a:t> Mouse, keyboard, scanners, microphones.</a:t>
            </a:r>
          </a:p>
          <a:p>
            <a:pPr>
              <a:buClr>
                <a:srgbClr val="1287C3"/>
              </a:buClr>
            </a:pPr>
            <a:r>
              <a:rPr lang="en-GB" b="1">
                <a:ea typeface="+mn-lt"/>
                <a:cs typeface="+mn-lt"/>
              </a:rPr>
              <a:t>Output Devices:</a:t>
            </a:r>
            <a:r>
              <a:rPr lang="en-GB">
                <a:ea typeface="+mn-lt"/>
                <a:cs typeface="+mn-lt"/>
              </a:rPr>
              <a:t> Monitors, printers, speakers</a:t>
            </a:r>
          </a:p>
          <a:p>
            <a:pPr marL="0" indent="0">
              <a:buNone/>
            </a:pPr>
            <a:endParaRPr lang="en-GB" b="1" dirty="0"/>
          </a:p>
          <a:p>
            <a:pPr>
              <a:buClr>
                <a:srgbClr val="1287C3"/>
              </a:buClr>
            </a:pPr>
            <a:endParaRPr lang="en-GB" dirty="0"/>
          </a:p>
        </p:txBody>
      </p:sp>
    </p:spTree>
    <p:extLst>
      <p:ext uri="{BB962C8B-B14F-4D97-AF65-F5344CB8AC3E}">
        <p14:creationId xmlns:p14="http://schemas.microsoft.com/office/powerpoint/2010/main" val="3851797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D81BA-4A6A-EACC-B474-77AF95A3189D}"/>
              </a:ext>
            </a:extLst>
          </p:cNvPr>
          <p:cNvSpPr>
            <a:spLocks noGrp="1"/>
          </p:cNvSpPr>
          <p:nvPr>
            <p:ph type="title"/>
          </p:nvPr>
        </p:nvSpPr>
        <p:spPr>
          <a:xfrm>
            <a:off x="1484311" y="10065"/>
            <a:ext cx="10018713" cy="2198297"/>
          </a:xfrm>
        </p:spPr>
        <p:txBody>
          <a:bodyPr/>
          <a:lstStyle/>
          <a:p>
            <a:r>
              <a:rPr lang="en-GB"/>
              <a:t>COMPUTER - SOFTWARE  TYPE</a:t>
            </a:r>
          </a:p>
        </p:txBody>
      </p:sp>
      <p:sp>
        <p:nvSpPr>
          <p:cNvPr id="3" name="Content Placeholder 2">
            <a:extLst>
              <a:ext uri="{FF2B5EF4-FFF2-40B4-BE49-F238E27FC236}">
                <a16:creationId xmlns:a16="http://schemas.microsoft.com/office/drawing/2014/main" id="{B2A00804-32D3-1CE2-4C0C-A71BCB6625A9}"/>
              </a:ext>
            </a:extLst>
          </p:cNvPr>
          <p:cNvSpPr>
            <a:spLocks noGrp="1"/>
          </p:cNvSpPr>
          <p:nvPr>
            <p:ph idx="1"/>
          </p:nvPr>
        </p:nvSpPr>
        <p:spPr>
          <a:xfrm>
            <a:off x="1484310" y="2710131"/>
            <a:ext cx="10018713" cy="3382994"/>
          </a:xfrm>
        </p:spPr>
        <p:txBody>
          <a:bodyPr vert="horz" lIns="91440" tIns="45720" rIns="91440" bIns="45720" rtlCol="0" anchor="ctr">
            <a:noAutofit/>
          </a:bodyPr>
          <a:lstStyle/>
          <a:p>
            <a:r>
              <a:rPr lang="en-GB">
                <a:latin typeface="Verdana"/>
                <a:ea typeface="Verdana"/>
              </a:rPr>
              <a:t>System Software : </a:t>
            </a:r>
            <a:r>
              <a:rPr lang="en-GB" sz="2000">
                <a:latin typeface="Calibri"/>
                <a:ea typeface="Calibri"/>
                <a:cs typeface="Calibri"/>
              </a:rPr>
              <a:t>System software acts as </a:t>
            </a:r>
            <a:r>
              <a:rPr lang="en-GB" sz="2000" b="1">
                <a:latin typeface="Calibri"/>
                <a:ea typeface="Calibri"/>
                <a:cs typeface="Calibri"/>
              </a:rPr>
              <a:t>interface</a:t>
            </a:r>
            <a:r>
              <a:rPr lang="en-GB" sz="2000">
                <a:latin typeface="Calibri"/>
                <a:ea typeface="Calibri"/>
                <a:cs typeface="Calibri"/>
              </a:rPr>
              <a:t> between hardware and user applications. An interface is needed because hardware devices or machines and humans speak in different languages.</a:t>
            </a:r>
          </a:p>
          <a:p>
            <a:pPr>
              <a:buClr>
                <a:srgbClr val="1287C3"/>
              </a:buClr>
            </a:pPr>
            <a:r>
              <a:rPr lang="en-GB">
                <a:latin typeface="Verdana"/>
                <a:ea typeface="Verdana"/>
              </a:rPr>
              <a:t>Application Software : </a:t>
            </a:r>
            <a:r>
              <a:rPr lang="en-GB" sz="2000">
                <a:latin typeface="Calibri"/>
                <a:ea typeface="Calibri"/>
                <a:cs typeface="Calibri"/>
              </a:rPr>
              <a:t>Application software is a computer program designed to perform specific tasks for users, such as document editing, data management, or web browsing. Examples include Microsoft Word, Google Chrome, Adobe Photoshop, and mobile apps like WhatsApp, distinct from system software that runs the computer.</a:t>
            </a:r>
            <a:endParaRPr lang="en-GB" sz="2000" err="1">
              <a:latin typeface="Calibri"/>
              <a:ea typeface="Calibri"/>
              <a:cs typeface="Calibri"/>
            </a:endParaRPr>
          </a:p>
          <a:p>
            <a:pPr>
              <a:buClr>
                <a:srgbClr val="1287C3"/>
              </a:buClr>
            </a:pPr>
            <a:r>
              <a:rPr lang="en-GB">
                <a:latin typeface="Verdana"/>
                <a:ea typeface="Verdana"/>
              </a:rPr>
              <a:t>Utility Software : </a:t>
            </a:r>
            <a:r>
              <a:rPr lang="en-GB" sz="2000">
                <a:latin typeface="Calibri"/>
                <a:ea typeface="Calibri"/>
                <a:cs typeface="Calibri"/>
              </a:rPr>
              <a:t>Utility software is intended to help users to manage and maintain their computer systems, as well as optimise performance and execute different system-related activities.</a:t>
            </a:r>
            <a:r>
              <a:rPr lang="en-GB" sz="2000" b="1">
                <a:latin typeface="Calibri"/>
                <a:ea typeface="Calibri"/>
                <a:cs typeface="Calibri"/>
              </a:rPr>
              <a:t> </a:t>
            </a:r>
            <a:r>
              <a:rPr lang="en-GB" sz="2000">
                <a:latin typeface="Calibri"/>
                <a:ea typeface="Calibri"/>
                <a:cs typeface="Calibri"/>
              </a:rPr>
              <a:t>Antivirus, Backup Tools, File Management</a:t>
            </a:r>
          </a:p>
          <a:p>
            <a:pPr>
              <a:buClr>
                <a:srgbClr val="1287C3"/>
              </a:buClr>
            </a:pPr>
            <a:r>
              <a:rPr lang="en-GB" err="1">
                <a:latin typeface="Verdana"/>
                <a:ea typeface="Verdana"/>
              </a:rPr>
              <a:t>Open Source</a:t>
            </a:r>
            <a:r>
              <a:rPr lang="en-GB">
                <a:latin typeface="Verdana"/>
                <a:ea typeface="Verdana"/>
              </a:rPr>
              <a:t> Software :</a:t>
            </a:r>
            <a:r>
              <a:rPr lang="en-GB" sz="2000">
                <a:latin typeface="Calibri"/>
                <a:ea typeface="Calibri"/>
                <a:cs typeface="Calibri"/>
              </a:rPr>
              <a:t> Software whose </a:t>
            </a:r>
            <a:r>
              <a:rPr lang="en-GB" sz="2000" b="1">
                <a:latin typeface="Calibri"/>
                <a:ea typeface="Calibri"/>
                <a:cs typeface="Calibri"/>
              </a:rPr>
              <a:t>source code</a:t>
            </a:r>
            <a:r>
              <a:rPr lang="en-GB" sz="2000">
                <a:latin typeface="Calibri"/>
                <a:ea typeface="Calibri"/>
                <a:cs typeface="Calibri"/>
              </a:rPr>
              <a:t> is freely distributed with a license to study, change and further distributed to anyone for any purpose is called </a:t>
            </a:r>
            <a:r>
              <a:rPr lang="en-GB" sz="2000" b="1" err="1">
                <a:latin typeface="Calibri"/>
                <a:ea typeface="Calibri"/>
                <a:cs typeface="Calibri"/>
              </a:rPr>
              <a:t>open source</a:t>
            </a:r>
            <a:r>
              <a:rPr lang="en-GB" sz="2000" b="1">
                <a:latin typeface="Calibri"/>
                <a:ea typeface="Calibri"/>
                <a:cs typeface="Calibri"/>
              </a:rPr>
              <a:t> software</a:t>
            </a:r>
            <a:r>
              <a:rPr lang="en-GB" sz="2000">
                <a:latin typeface="Calibri"/>
                <a:ea typeface="Calibri"/>
                <a:cs typeface="Calibri"/>
              </a:rPr>
              <a:t>. Google Chrome</a:t>
            </a:r>
            <a:endParaRPr lang="en-GB" sz="1100">
              <a:solidFill>
                <a:srgbClr val="374151"/>
              </a:solidFill>
              <a:highlight>
                <a:srgbClr val="FFFFFF"/>
              </a:highlight>
              <a:latin typeface="Verdana"/>
              <a:ea typeface="Verdana"/>
              <a:cs typeface="Calibri"/>
            </a:endParaRPr>
          </a:p>
          <a:p>
            <a:pPr>
              <a:buClr>
                <a:srgbClr val="1287C3"/>
              </a:buClr>
            </a:pPr>
            <a:endParaRPr lang="en-GB"/>
          </a:p>
        </p:txBody>
      </p:sp>
    </p:spTree>
    <p:extLst>
      <p:ext uri="{BB962C8B-B14F-4D97-AF65-F5344CB8AC3E}">
        <p14:creationId xmlns:p14="http://schemas.microsoft.com/office/powerpoint/2010/main" val="3072144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6233-7A28-A46B-41E5-17E097BD32AE}"/>
              </a:ext>
            </a:extLst>
          </p:cNvPr>
          <p:cNvSpPr>
            <a:spLocks noGrp="1"/>
          </p:cNvSpPr>
          <p:nvPr>
            <p:ph type="title"/>
          </p:nvPr>
        </p:nvSpPr>
        <p:spPr/>
        <p:txBody>
          <a:bodyPr/>
          <a:lstStyle/>
          <a:p>
            <a:pPr marL="285750" indent="-285750">
              <a:spcBef>
                <a:spcPct val="20000"/>
              </a:spcBef>
              <a:spcAft>
                <a:spcPts val="600"/>
              </a:spcAft>
            </a:pPr>
            <a:r>
              <a:rPr lang="en-GB" sz="5400">
                <a:latin typeface="Corbel"/>
                <a:ea typeface="Calibri"/>
                <a:cs typeface="Calibri"/>
              </a:rPr>
              <a:t>System Software  </a:t>
            </a:r>
            <a:endParaRPr lang="en-US" sz="5400">
              <a:latin typeface="Corbel"/>
            </a:endParaRPr>
          </a:p>
          <a:p>
            <a:endParaRPr lang="en-GB"/>
          </a:p>
        </p:txBody>
      </p:sp>
      <p:sp>
        <p:nvSpPr>
          <p:cNvPr id="3" name="Content Placeholder 2">
            <a:extLst>
              <a:ext uri="{FF2B5EF4-FFF2-40B4-BE49-F238E27FC236}">
                <a16:creationId xmlns:a16="http://schemas.microsoft.com/office/drawing/2014/main" id="{52A16065-B369-6F96-5FE8-4511225FD5A2}"/>
              </a:ext>
            </a:extLst>
          </p:cNvPr>
          <p:cNvSpPr>
            <a:spLocks noGrp="1"/>
          </p:cNvSpPr>
          <p:nvPr>
            <p:ph idx="1"/>
          </p:nvPr>
        </p:nvSpPr>
        <p:spPr>
          <a:xfrm>
            <a:off x="1484310" y="3443376"/>
            <a:ext cx="10018713" cy="2347824"/>
          </a:xfrm>
        </p:spPr>
        <p:txBody>
          <a:bodyPr vert="horz" lIns="91440" tIns="45720" rIns="91440" bIns="45720" rtlCol="0" anchor="ctr">
            <a:noAutofit/>
          </a:bodyPr>
          <a:lstStyle/>
          <a:p>
            <a:r>
              <a:rPr lang="en-GB" sz="2200">
                <a:latin typeface="Verdana"/>
                <a:ea typeface="Verdana"/>
              </a:rPr>
              <a:t>Operating System : </a:t>
            </a:r>
            <a:r>
              <a:rPr lang="en-GB" sz="2200">
                <a:latin typeface="Calibri"/>
                <a:ea typeface="Calibri"/>
                <a:cs typeface="Calibri"/>
              </a:rPr>
              <a:t>OS manages a computer's basic functions like storing data in memory, retrieving files from storage devices, scheduling tasks based on priority, etc</a:t>
            </a:r>
            <a:r>
              <a:rPr lang="en-GB" sz="2200">
                <a:latin typeface="Verdana"/>
                <a:ea typeface="Verdana"/>
              </a:rPr>
              <a:t>.</a:t>
            </a:r>
            <a:endParaRPr lang="en-GB" sz="2200"/>
          </a:p>
          <a:p>
            <a:pPr>
              <a:buClr>
                <a:srgbClr val="1287C3"/>
              </a:buClr>
            </a:pPr>
            <a:r>
              <a:rPr lang="en-GB" sz="2200">
                <a:latin typeface="Verdana"/>
                <a:ea typeface="Verdana"/>
              </a:rPr>
              <a:t>Language Processor :</a:t>
            </a:r>
            <a:r>
              <a:rPr lang="en-GB" sz="2200">
                <a:latin typeface="Calibri"/>
                <a:ea typeface="Calibri"/>
                <a:cs typeface="Calibri"/>
              </a:rPr>
              <a:t> an important function of system software is to convert all user instructions into machine understandable . System software that converts source code to object code is called language processor.</a:t>
            </a:r>
          </a:p>
          <a:p>
            <a:pPr>
              <a:buClr>
                <a:srgbClr val="1287C3"/>
              </a:buClr>
            </a:pPr>
            <a:r>
              <a:rPr lang="en-GB" sz="2200">
                <a:latin typeface="Verdana"/>
                <a:ea typeface="Verdana"/>
              </a:rPr>
              <a:t>Device Drivers : </a:t>
            </a:r>
            <a:r>
              <a:rPr lang="en-GB" sz="2200">
                <a:latin typeface="Calibri"/>
                <a:ea typeface="Calibri"/>
                <a:cs typeface="Calibri"/>
              </a:rPr>
              <a:t>System software that controls and monitors functioning of a specific device on computer is called device driver. Each device like printer, scanner, microphone, speaker, etc. that needs to be attached externally to the system has a specific driver associated with it. When you attach a new device, you need to install its driver so that the OS knows how it needs to be managed.</a:t>
            </a:r>
          </a:p>
          <a:p>
            <a:pPr>
              <a:buClr>
                <a:srgbClr val="1287C3"/>
              </a:buClr>
            </a:pPr>
            <a:endParaRPr lang="en-GB" sz="2200"/>
          </a:p>
        </p:txBody>
      </p:sp>
    </p:spTree>
    <p:extLst>
      <p:ext uri="{BB962C8B-B14F-4D97-AF65-F5344CB8AC3E}">
        <p14:creationId xmlns:p14="http://schemas.microsoft.com/office/powerpoint/2010/main" val="4177475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69BE-F1E2-7B80-43F5-4059702DE6BE}"/>
              </a:ext>
            </a:extLst>
          </p:cNvPr>
          <p:cNvSpPr>
            <a:spLocks noGrp="1"/>
          </p:cNvSpPr>
          <p:nvPr>
            <p:ph type="title"/>
          </p:nvPr>
        </p:nvSpPr>
        <p:spPr/>
        <p:txBody>
          <a:bodyPr>
            <a:normAutofit/>
          </a:bodyPr>
          <a:lstStyle/>
          <a:p>
            <a:r>
              <a:rPr lang="en-GB" sz="4400">
                <a:latin typeface="Corbel"/>
                <a:ea typeface="Verdana"/>
              </a:rPr>
              <a:t>Language Processor</a:t>
            </a:r>
            <a:endParaRPr lang="en-US" sz="4400">
              <a:latin typeface="Corbel"/>
            </a:endParaRPr>
          </a:p>
        </p:txBody>
      </p:sp>
      <p:sp>
        <p:nvSpPr>
          <p:cNvPr id="3" name="Content Placeholder 2">
            <a:extLst>
              <a:ext uri="{FF2B5EF4-FFF2-40B4-BE49-F238E27FC236}">
                <a16:creationId xmlns:a16="http://schemas.microsoft.com/office/drawing/2014/main" id="{362B9A9A-672A-EE6C-CB3D-3EFA3062EFCA}"/>
              </a:ext>
            </a:extLst>
          </p:cNvPr>
          <p:cNvSpPr>
            <a:spLocks noGrp="1"/>
          </p:cNvSpPr>
          <p:nvPr>
            <p:ph idx="1"/>
          </p:nvPr>
        </p:nvSpPr>
        <p:spPr>
          <a:noFill/>
        </p:spPr>
        <p:txBody>
          <a:bodyPr vert="horz" lIns="91440" tIns="45720" rIns="91440" bIns="45720" rtlCol="0" anchor="ctr">
            <a:noAutofit/>
          </a:bodyPr>
          <a:lstStyle/>
          <a:p>
            <a:pPr marL="0" indent="0">
              <a:buNone/>
            </a:pPr>
            <a:r>
              <a:rPr lang="en-GB">
                <a:latin typeface="Calibri"/>
                <a:ea typeface="Calibri"/>
                <a:cs typeface="Calibri"/>
              </a:rPr>
              <a:t>There are three types of language interpreters −</a:t>
            </a:r>
          </a:p>
          <a:p>
            <a:pPr>
              <a:buClr>
                <a:srgbClr val="1287C3"/>
              </a:buClr>
            </a:pPr>
            <a:r>
              <a:rPr lang="en-GB" b="1">
                <a:latin typeface="Calibri"/>
                <a:ea typeface="Calibri"/>
                <a:cs typeface="Calibri"/>
              </a:rPr>
              <a:t>Assembler</a:t>
            </a:r>
            <a:r>
              <a:rPr lang="en-GB">
                <a:latin typeface="Calibri"/>
                <a:ea typeface="Calibri"/>
                <a:cs typeface="Calibri"/>
              </a:rPr>
              <a:t> − Converts assembly level program into machine level program.</a:t>
            </a:r>
          </a:p>
          <a:p>
            <a:pPr>
              <a:buClr>
                <a:srgbClr val="1287C3"/>
              </a:buClr>
            </a:pPr>
            <a:r>
              <a:rPr lang="en-GB" b="1">
                <a:latin typeface="Calibri"/>
                <a:ea typeface="Calibri"/>
                <a:cs typeface="Calibri"/>
              </a:rPr>
              <a:t>Interpreter</a:t>
            </a:r>
            <a:r>
              <a:rPr lang="en-GB">
                <a:latin typeface="Calibri"/>
                <a:ea typeface="Calibri"/>
                <a:cs typeface="Calibri"/>
              </a:rPr>
              <a:t> − Converts high level programs into machine level program line by line.</a:t>
            </a:r>
          </a:p>
          <a:p>
            <a:pPr>
              <a:buClr>
                <a:srgbClr val="1287C3"/>
              </a:buClr>
            </a:pPr>
            <a:r>
              <a:rPr lang="en-GB" b="1">
                <a:latin typeface="Calibri"/>
                <a:ea typeface="Calibri"/>
                <a:cs typeface="Calibri"/>
              </a:rPr>
              <a:t>Compiler</a:t>
            </a:r>
            <a:r>
              <a:rPr lang="en-GB">
                <a:latin typeface="Calibri"/>
                <a:ea typeface="Calibri"/>
                <a:cs typeface="Calibri"/>
              </a:rPr>
              <a:t> − Converts high level programs into machine level programs at one go rather than line by line.</a:t>
            </a:r>
          </a:p>
          <a:p>
            <a:pPr>
              <a:buClr>
                <a:srgbClr val="1287C3"/>
              </a:buClr>
            </a:pPr>
            <a:endParaRPr lang="en-GB"/>
          </a:p>
        </p:txBody>
      </p:sp>
    </p:spTree>
    <p:extLst>
      <p:ext uri="{BB962C8B-B14F-4D97-AF65-F5344CB8AC3E}">
        <p14:creationId xmlns:p14="http://schemas.microsoft.com/office/powerpoint/2010/main" val="959763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B9C7-9EA2-974F-7592-3742518155A9}"/>
              </a:ext>
            </a:extLst>
          </p:cNvPr>
          <p:cNvSpPr>
            <a:spLocks noGrp="1"/>
          </p:cNvSpPr>
          <p:nvPr>
            <p:ph type="title"/>
          </p:nvPr>
        </p:nvSpPr>
        <p:spPr/>
        <p:txBody>
          <a:bodyPr/>
          <a:lstStyle/>
          <a:p>
            <a:pPr marL="285750" indent="-285750">
              <a:spcBef>
                <a:spcPct val="20000"/>
              </a:spcBef>
              <a:spcAft>
                <a:spcPts val="600"/>
              </a:spcAft>
            </a:pPr>
            <a:r>
              <a:rPr lang="en-GB" sz="4400">
                <a:latin typeface="Corbel"/>
                <a:ea typeface="Verdana"/>
              </a:rPr>
              <a:t>Networks Software</a:t>
            </a:r>
            <a:endParaRPr lang="en-US" sz="4400"/>
          </a:p>
          <a:p>
            <a:endParaRPr lang="en-GB"/>
          </a:p>
        </p:txBody>
      </p:sp>
      <p:sp>
        <p:nvSpPr>
          <p:cNvPr id="3" name="Content Placeholder 2">
            <a:extLst>
              <a:ext uri="{FF2B5EF4-FFF2-40B4-BE49-F238E27FC236}">
                <a16:creationId xmlns:a16="http://schemas.microsoft.com/office/drawing/2014/main" id="{911B9759-61E5-2238-E5FA-388F293FAA07}"/>
              </a:ext>
            </a:extLst>
          </p:cNvPr>
          <p:cNvSpPr>
            <a:spLocks noGrp="1"/>
          </p:cNvSpPr>
          <p:nvPr>
            <p:ph idx="1"/>
          </p:nvPr>
        </p:nvSpPr>
        <p:spPr>
          <a:xfrm>
            <a:off x="1484310" y="3558395"/>
            <a:ext cx="10018713" cy="2232805"/>
          </a:xfrm>
        </p:spPr>
        <p:txBody>
          <a:bodyPr vert="horz" lIns="91440" tIns="45720" rIns="91440" bIns="45720" rtlCol="0" anchor="ctr">
            <a:noAutofit/>
          </a:bodyPr>
          <a:lstStyle/>
          <a:p>
            <a:r>
              <a:rPr lang="en-GB" sz="1800" b="1">
                <a:latin typeface="Calibri"/>
                <a:ea typeface="Calibri"/>
                <a:cs typeface="Calibri"/>
              </a:rPr>
              <a:t>A computer network is a collection of interconnected computing devices</a:t>
            </a:r>
            <a:r>
              <a:rPr lang="en-GB" sz="1800">
                <a:latin typeface="Calibri"/>
                <a:ea typeface="Calibri"/>
                <a:cs typeface="Calibri"/>
              </a:rPr>
              <a:t> that can exchange data and share resources with each other.</a:t>
            </a:r>
          </a:p>
          <a:p>
            <a:pPr>
              <a:buClr>
                <a:srgbClr val="1287C3"/>
              </a:buClr>
            </a:pPr>
            <a:r>
              <a:rPr lang="en-GB" sz="1800">
                <a:latin typeface="Calibri"/>
                <a:ea typeface="Calibri"/>
                <a:cs typeface="Calibri"/>
              </a:rPr>
              <a:t>Type:</a:t>
            </a:r>
          </a:p>
          <a:p>
            <a:pPr marL="0" indent="0">
              <a:buClr>
                <a:srgbClr val="1287C3"/>
              </a:buClr>
              <a:buNone/>
            </a:pPr>
            <a:r>
              <a:rPr lang="en-GB" sz="1800" b="1">
                <a:ea typeface="+mn-lt"/>
                <a:cs typeface="+mn-lt"/>
              </a:rPr>
              <a:t>1. PAN (Personal Area Network)</a:t>
            </a:r>
            <a:r>
              <a:rPr lang="en-GB" sz="1800">
                <a:ea typeface="+mn-lt"/>
                <a:cs typeface="+mn-lt"/>
              </a:rPr>
              <a:t> :Very short </a:t>
            </a:r>
            <a:r>
              <a:rPr lang="en-GB" sz="1800" err="1">
                <a:ea typeface="+mn-lt"/>
                <a:cs typeface="+mn-lt"/>
              </a:rPr>
              <a:t>range,Bluetooth</a:t>
            </a:r>
            <a:endParaRPr lang="en-GB" sz="1800">
              <a:ea typeface="+mn-lt"/>
              <a:cs typeface="+mn-lt"/>
            </a:endParaRPr>
          </a:p>
          <a:p>
            <a:pPr marL="0" indent="0">
              <a:buClr>
                <a:srgbClr val="1287C3"/>
              </a:buClr>
              <a:buNone/>
            </a:pPr>
            <a:r>
              <a:rPr lang="en-GB" sz="1800" b="1">
                <a:ea typeface="+mn-lt"/>
                <a:cs typeface="+mn-lt"/>
              </a:rPr>
              <a:t>2. LAN (Local Area Network)</a:t>
            </a:r>
            <a:r>
              <a:rPr lang="en-GB" sz="1800">
                <a:ea typeface="+mn-lt"/>
                <a:cs typeface="+mn-lt"/>
              </a:rPr>
              <a:t> :Localized (a single room, home, office building, or school)</a:t>
            </a:r>
          </a:p>
          <a:p>
            <a:pPr marL="0" indent="0">
              <a:buClr>
                <a:srgbClr val="1287C3"/>
              </a:buClr>
              <a:buNone/>
            </a:pPr>
            <a:r>
              <a:rPr lang="en-GB" sz="1800">
                <a:ea typeface="+mn-lt"/>
                <a:cs typeface="+mn-lt"/>
              </a:rPr>
              <a:t>3. </a:t>
            </a:r>
            <a:r>
              <a:rPr lang="en-GB" sz="1800" b="1">
                <a:ea typeface="+mn-lt"/>
                <a:cs typeface="+mn-lt"/>
              </a:rPr>
              <a:t>MAN (Metropolitan Area Network):</a:t>
            </a:r>
            <a:r>
              <a:rPr lang="en-GB" sz="1800">
                <a:ea typeface="+mn-lt"/>
                <a:cs typeface="+mn-lt"/>
              </a:rPr>
              <a:t>City or large campus scale</a:t>
            </a:r>
          </a:p>
          <a:p>
            <a:pPr marL="0" indent="0">
              <a:buClr>
                <a:srgbClr val="1287C3"/>
              </a:buClr>
              <a:buNone/>
            </a:pPr>
            <a:r>
              <a:rPr lang="en-GB" sz="1800">
                <a:ea typeface="+mn-lt"/>
                <a:cs typeface="+mn-lt"/>
              </a:rPr>
              <a:t>4. </a:t>
            </a:r>
            <a:r>
              <a:rPr lang="en-GB" sz="1800" b="1">
                <a:ea typeface="+mn-lt"/>
                <a:cs typeface="+mn-lt"/>
              </a:rPr>
              <a:t>WAN (Wide Area Network):</a:t>
            </a:r>
            <a:r>
              <a:rPr lang="en-GB" sz="1800">
                <a:ea typeface="+mn-lt"/>
                <a:cs typeface="+mn-lt"/>
              </a:rPr>
              <a:t>Broad geographical areas (countries, continents, or the entire globe)</a:t>
            </a:r>
          </a:p>
          <a:p>
            <a:pPr marL="0" indent="0">
              <a:buNone/>
            </a:pPr>
            <a:endParaRPr lang="en-GB" sz="1800">
              <a:latin typeface="Corbel"/>
              <a:ea typeface="Calibri"/>
              <a:cs typeface="Calibri"/>
            </a:endParaRPr>
          </a:p>
          <a:p>
            <a:pPr>
              <a:buClr>
                <a:srgbClr val="1287C3"/>
              </a:buClr>
            </a:pPr>
            <a:r>
              <a:rPr lang="en-GB" sz="1800">
                <a:latin typeface="Calibri"/>
                <a:ea typeface="Calibri"/>
                <a:cs typeface="Calibri"/>
              </a:rPr>
              <a:t>A </a:t>
            </a:r>
            <a:r>
              <a:rPr lang="en-GB" sz="1800" b="1">
                <a:latin typeface="Calibri"/>
                <a:ea typeface="Calibri"/>
                <a:cs typeface="Calibri"/>
              </a:rPr>
              <a:t>network</a:t>
            </a:r>
            <a:r>
              <a:rPr lang="en-GB" sz="1800">
                <a:latin typeface="Calibri"/>
                <a:ea typeface="Calibri"/>
                <a:cs typeface="Calibri"/>
              </a:rPr>
              <a:t> is a smaller, localized system of connected devices.</a:t>
            </a:r>
          </a:p>
          <a:p>
            <a:pPr marL="0" indent="0">
              <a:buClr>
                <a:srgbClr val="1287C3"/>
              </a:buClr>
              <a:buNone/>
            </a:pPr>
            <a:r>
              <a:rPr lang="en-GB" sz="1800">
                <a:latin typeface="Calibri"/>
                <a:ea typeface="Calibri"/>
                <a:cs typeface="Calibri"/>
              </a:rPr>
              <a:t>         Device : Router, Switch, Hub, Modem, Access Point</a:t>
            </a:r>
          </a:p>
          <a:p>
            <a:pPr>
              <a:buClr>
                <a:srgbClr val="1287C3"/>
              </a:buClr>
            </a:pPr>
            <a:r>
              <a:rPr lang="en-GB" sz="1800">
                <a:latin typeface="Calibri"/>
                <a:ea typeface="Calibri"/>
                <a:cs typeface="Calibri"/>
              </a:rPr>
              <a:t>The </a:t>
            </a:r>
            <a:r>
              <a:rPr lang="en-GB" sz="1800" b="1">
                <a:latin typeface="Calibri"/>
                <a:ea typeface="Calibri"/>
                <a:cs typeface="Calibri"/>
              </a:rPr>
              <a:t>internet</a:t>
            </a:r>
            <a:r>
              <a:rPr lang="en-GB" sz="1800">
                <a:latin typeface="Calibri"/>
                <a:ea typeface="Calibri"/>
                <a:cs typeface="Calibri"/>
              </a:rPr>
              <a:t> is a vast global network, connecting many networks together.</a:t>
            </a:r>
          </a:p>
          <a:p>
            <a:pPr marL="0" indent="0">
              <a:buClr>
                <a:srgbClr val="1287C3"/>
              </a:buClr>
              <a:buNone/>
            </a:pPr>
            <a:r>
              <a:rPr lang="en-GB" sz="1800">
                <a:latin typeface="Calibri"/>
                <a:ea typeface="Calibri"/>
                <a:cs typeface="Calibri"/>
              </a:rPr>
              <a:t>         Device :</a:t>
            </a:r>
            <a:r>
              <a:rPr lang="en-GB" sz="1800">
                <a:ea typeface="+mn-lt"/>
                <a:cs typeface="+mn-lt"/>
              </a:rPr>
              <a:t> Web browsing, global email systems, and cloud computing</a:t>
            </a:r>
            <a:endParaRPr lang="en-GB" sz="1800">
              <a:latin typeface="Calibri"/>
              <a:ea typeface="Calibri"/>
              <a:cs typeface="Calibri"/>
            </a:endParaRPr>
          </a:p>
          <a:p>
            <a:pPr>
              <a:buClr>
                <a:srgbClr val="1287C3"/>
              </a:buClr>
            </a:pPr>
            <a:endParaRPr lang="en-GB" sz="1800">
              <a:latin typeface="Calibri"/>
              <a:ea typeface="Calibri"/>
              <a:cs typeface="Calibri"/>
            </a:endParaRPr>
          </a:p>
          <a:p>
            <a:pPr marL="0" indent="0">
              <a:buNone/>
            </a:pPr>
            <a:endParaRPr lang="en-GB" sz="1800">
              <a:ea typeface="+mn-lt"/>
              <a:cs typeface="+mn-lt"/>
            </a:endParaRPr>
          </a:p>
        </p:txBody>
      </p:sp>
    </p:spTree>
    <p:extLst>
      <p:ext uri="{BB962C8B-B14F-4D97-AF65-F5344CB8AC3E}">
        <p14:creationId xmlns:p14="http://schemas.microsoft.com/office/powerpoint/2010/main" val="170737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46177-C5EF-6300-F040-93AB6CEAA828}"/>
              </a:ext>
            </a:extLst>
          </p:cNvPr>
          <p:cNvSpPr>
            <a:spLocks noGrp="1"/>
          </p:cNvSpPr>
          <p:nvPr>
            <p:ph type="title"/>
          </p:nvPr>
        </p:nvSpPr>
        <p:spPr/>
        <p:txBody>
          <a:bodyPr>
            <a:normAutofit/>
          </a:bodyPr>
          <a:lstStyle/>
          <a:p>
            <a:r>
              <a:rPr lang="en-GB" sz="4400">
                <a:latin typeface="Corbel"/>
                <a:ea typeface="Verdana"/>
              </a:rPr>
              <a:t>Database Management Systems (DBMS)</a:t>
            </a:r>
          </a:p>
        </p:txBody>
      </p:sp>
      <p:sp>
        <p:nvSpPr>
          <p:cNvPr id="3" name="Content Placeholder 2">
            <a:extLst>
              <a:ext uri="{FF2B5EF4-FFF2-40B4-BE49-F238E27FC236}">
                <a16:creationId xmlns:a16="http://schemas.microsoft.com/office/drawing/2014/main" id="{68C63236-82F2-4A75-6A68-5730A6EFE151}"/>
              </a:ext>
            </a:extLst>
          </p:cNvPr>
          <p:cNvSpPr>
            <a:spLocks noGrp="1"/>
          </p:cNvSpPr>
          <p:nvPr>
            <p:ph idx="1"/>
          </p:nvPr>
        </p:nvSpPr>
        <p:spPr/>
        <p:txBody>
          <a:bodyPr/>
          <a:lstStyle/>
          <a:p>
            <a:r>
              <a:rPr lang="en-GB" sz="3200">
                <a:latin typeface="Calibri"/>
                <a:ea typeface="Calibri"/>
                <a:cs typeface="Calibri"/>
              </a:rPr>
              <a:t>A database management system is a </a:t>
            </a:r>
            <a:r>
              <a:rPr lang="en-GB" sz="3200" b="1">
                <a:latin typeface="Calibri"/>
                <a:ea typeface="Calibri"/>
                <a:cs typeface="Calibri"/>
              </a:rPr>
              <a:t>software that stores data in a structured, accessible way</a:t>
            </a:r>
            <a:r>
              <a:rPr lang="en-GB" sz="3200">
                <a:latin typeface="Calibri"/>
                <a:ea typeface="Calibri"/>
                <a:cs typeface="Calibri"/>
              </a:rPr>
              <a:t>.</a:t>
            </a:r>
          </a:p>
        </p:txBody>
      </p:sp>
    </p:spTree>
    <p:extLst>
      <p:ext uri="{BB962C8B-B14F-4D97-AF65-F5344CB8AC3E}">
        <p14:creationId xmlns:p14="http://schemas.microsoft.com/office/powerpoint/2010/main" val="3499240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1377-3944-9C67-9772-FA2595A66055}"/>
              </a:ext>
            </a:extLst>
          </p:cNvPr>
          <p:cNvSpPr>
            <a:spLocks noGrp="1"/>
          </p:cNvSpPr>
          <p:nvPr>
            <p:ph type="title"/>
          </p:nvPr>
        </p:nvSpPr>
        <p:spPr>
          <a:xfrm>
            <a:off x="1484311" y="211348"/>
            <a:ext cx="10018713" cy="1364411"/>
          </a:xfrm>
        </p:spPr>
        <p:txBody>
          <a:bodyPr/>
          <a:lstStyle/>
          <a:p>
            <a:r>
              <a:rPr lang="en-GB" sz="5400">
                <a:latin typeface="Corbel"/>
                <a:ea typeface="Verdana"/>
              </a:rPr>
              <a:t>Type of DBMS</a:t>
            </a:r>
          </a:p>
        </p:txBody>
      </p:sp>
      <p:sp>
        <p:nvSpPr>
          <p:cNvPr id="3" name="Content Placeholder 2">
            <a:extLst>
              <a:ext uri="{FF2B5EF4-FFF2-40B4-BE49-F238E27FC236}">
                <a16:creationId xmlns:a16="http://schemas.microsoft.com/office/drawing/2014/main" id="{8B57A342-6AC3-BFB2-7FCE-6B2F22723AE6}"/>
              </a:ext>
            </a:extLst>
          </p:cNvPr>
          <p:cNvSpPr>
            <a:spLocks noGrp="1"/>
          </p:cNvSpPr>
          <p:nvPr>
            <p:ph idx="1"/>
          </p:nvPr>
        </p:nvSpPr>
        <p:spPr>
          <a:xfrm>
            <a:off x="1484310" y="2911414"/>
            <a:ext cx="10018713" cy="2879786"/>
          </a:xfrm>
        </p:spPr>
        <p:txBody>
          <a:bodyPr vert="horz" lIns="91440" tIns="45720" rIns="91440" bIns="45720" rtlCol="0" anchor="ctr">
            <a:noAutofit/>
          </a:bodyPr>
          <a:lstStyle/>
          <a:p>
            <a:r>
              <a:rPr lang="en-GB" sz="1600" b="1" dirty="0">
                <a:latin typeface="Calibri"/>
                <a:ea typeface="Calibri"/>
                <a:cs typeface="Calibri"/>
              </a:rPr>
              <a:t>Hierarchical DBMS</a:t>
            </a:r>
            <a:r>
              <a:rPr lang="en-GB" sz="1600" dirty="0">
                <a:latin typeface="Calibri"/>
                <a:ea typeface="Calibri"/>
                <a:cs typeface="Calibri"/>
              </a:rPr>
              <a:t> This DBMS organizes data in a hierarchical or </a:t>
            </a:r>
            <a:r>
              <a:rPr lang="en-GB" sz="1600" b="1" dirty="0">
                <a:latin typeface="Calibri"/>
                <a:ea typeface="Calibri"/>
                <a:cs typeface="Calibri"/>
              </a:rPr>
              <a:t>tree structure</a:t>
            </a:r>
            <a:r>
              <a:rPr lang="en-GB" sz="1600" dirty="0">
                <a:latin typeface="Calibri"/>
                <a:ea typeface="Calibri"/>
                <a:cs typeface="Calibri"/>
              </a:rPr>
              <a:t> . Each record in the database has </a:t>
            </a:r>
            <a:r>
              <a:rPr lang="en-GB" sz="1600" b="1" dirty="0">
                <a:latin typeface="Calibri"/>
                <a:ea typeface="Calibri"/>
                <a:cs typeface="Calibri"/>
              </a:rPr>
              <a:t>a parent-child relationship</a:t>
            </a:r>
            <a:r>
              <a:rPr lang="en-GB" sz="1600" dirty="0">
                <a:latin typeface="Calibri"/>
                <a:ea typeface="Calibri"/>
                <a:cs typeface="Calibri"/>
              </a:rPr>
              <a:t> . This type of DBMS is suitable for data that is well structured and has hierarchical relationships, such as organizational structures. Example : </a:t>
            </a:r>
            <a:r>
              <a:rPr lang="en-GB" sz="1600" dirty="0">
                <a:ea typeface="+mn-lt"/>
                <a:cs typeface="+mn-lt"/>
              </a:rPr>
              <a:t>XML and </a:t>
            </a:r>
            <a:r>
              <a:rPr lang="en-GB" sz="1600" dirty="0" err="1">
                <a:ea typeface="+mn-lt"/>
                <a:cs typeface="+mn-lt"/>
              </a:rPr>
              <a:t>HTML,Computer</a:t>
            </a:r>
            <a:r>
              <a:rPr lang="en-GB" sz="1600" dirty="0">
                <a:ea typeface="+mn-lt"/>
                <a:cs typeface="+mn-lt"/>
              </a:rPr>
              <a:t> File Systems.</a:t>
            </a:r>
          </a:p>
          <a:p>
            <a:r>
              <a:rPr lang="en-GB" sz="1600" b="1" dirty="0">
                <a:latin typeface="Calibri"/>
                <a:ea typeface="Calibri"/>
                <a:cs typeface="Calibri"/>
              </a:rPr>
              <a:t>Network DBMS Network DBMS</a:t>
            </a:r>
            <a:r>
              <a:rPr lang="en-GB" sz="1600" dirty="0">
                <a:latin typeface="Calibri"/>
                <a:ea typeface="Calibri"/>
                <a:cs typeface="Calibri"/>
              </a:rPr>
              <a:t> allows </a:t>
            </a:r>
            <a:r>
              <a:rPr lang="en-GB" sz="1600" b="1" dirty="0">
                <a:latin typeface="Calibri"/>
                <a:ea typeface="Calibri"/>
                <a:cs typeface="Calibri"/>
              </a:rPr>
              <a:t>many-to-many relationships</a:t>
            </a:r>
            <a:r>
              <a:rPr lang="en-GB" sz="1600" dirty="0">
                <a:latin typeface="Calibri"/>
                <a:ea typeface="Calibri"/>
                <a:cs typeface="Calibri"/>
              </a:rPr>
              <a:t> between data records. It is more flexible than </a:t>
            </a:r>
            <a:r>
              <a:rPr lang="en-GB" sz="1600" b="1" dirty="0">
                <a:latin typeface="Calibri"/>
                <a:ea typeface="Calibri"/>
                <a:cs typeface="Calibri"/>
              </a:rPr>
              <a:t>hierarchical DBMS</a:t>
            </a:r>
            <a:r>
              <a:rPr lang="en-GB" sz="1600" dirty="0">
                <a:latin typeface="Calibri"/>
                <a:ea typeface="Calibri"/>
                <a:cs typeface="Calibri"/>
              </a:rPr>
              <a:t> , because one data record can have multiple relationships with other data records. However, its use is more complex because of the more complex data relationships. </a:t>
            </a:r>
            <a:r>
              <a:rPr lang="en-GB" sz="1600" dirty="0" err="1">
                <a:latin typeface="Calibri"/>
                <a:ea typeface="Calibri"/>
                <a:cs typeface="Calibri"/>
              </a:rPr>
              <a:t>Examle</a:t>
            </a:r>
            <a:r>
              <a:rPr lang="en-GB" sz="1600" dirty="0">
                <a:latin typeface="Calibri"/>
                <a:ea typeface="Calibri"/>
                <a:cs typeface="Calibri"/>
              </a:rPr>
              <a:t> : </a:t>
            </a:r>
            <a:r>
              <a:rPr lang="en-GB" sz="1500" dirty="0">
                <a:latin typeface="Calibri"/>
                <a:ea typeface="Calibri"/>
                <a:cs typeface="Calibri"/>
              </a:rPr>
              <a:t>Airline Reservation Systems, Telecommunication </a:t>
            </a:r>
            <a:r>
              <a:rPr lang="en-GB" sz="1500" dirty="0" err="1">
                <a:latin typeface="Calibri"/>
                <a:ea typeface="Calibri"/>
                <a:cs typeface="Calibri"/>
              </a:rPr>
              <a:t>Networks,Library</a:t>
            </a:r>
            <a:r>
              <a:rPr lang="en-GB" sz="1500">
                <a:latin typeface="Calibri"/>
                <a:ea typeface="Calibri"/>
                <a:cs typeface="Calibri"/>
              </a:rPr>
              <a:t> Management Systems</a:t>
            </a:r>
            <a:endParaRPr lang="en-GB" sz="1600">
              <a:latin typeface="Calibri"/>
              <a:ea typeface="Calibri"/>
              <a:cs typeface="Calibri"/>
            </a:endParaRPr>
          </a:p>
          <a:p>
            <a:r>
              <a:rPr lang="en-GB" sz="1600" b="1" dirty="0">
                <a:latin typeface="Calibri"/>
                <a:ea typeface="Calibri"/>
                <a:cs typeface="Calibri"/>
              </a:rPr>
              <a:t>Object-oriented DBMS (OODBMS) OODBMS combines object-oriented programming</a:t>
            </a:r>
            <a:r>
              <a:rPr lang="en-GB" sz="1600" dirty="0">
                <a:latin typeface="Calibri"/>
                <a:ea typeface="Calibri"/>
                <a:cs typeface="Calibri"/>
              </a:rPr>
              <a:t> principles with database systems. Data is stored in the form of </a:t>
            </a:r>
            <a:r>
              <a:rPr lang="en-GB" sz="1600" b="1" dirty="0">
                <a:latin typeface="Calibri"/>
                <a:ea typeface="Calibri"/>
                <a:cs typeface="Calibri"/>
              </a:rPr>
              <a:t>objects</a:t>
            </a:r>
            <a:r>
              <a:rPr lang="en-GB" sz="1600" dirty="0">
                <a:latin typeface="Calibri"/>
                <a:ea typeface="Calibri"/>
                <a:cs typeface="Calibri"/>
              </a:rPr>
              <a:t> , which allows </a:t>
            </a:r>
            <a:r>
              <a:rPr lang="en-GB" sz="1600" b="1" dirty="0">
                <a:latin typeface="Calibri"/>
                <a:ea typeface="Calibri"/>
                <a:cs typeface="Calibri"/>
              </a:rPr>
              <a:t>easy integration with object-oriented</a:t>
            </a:r>
            <a:r>
              <a:rPr lang="en-GB" sz="1600" dirty="0">
                <a:latin typeface="Calibri"/>
                <a:ea typeface="Calibri"/>
                <a:cs typeface="Calibri"/>
              </a:rPr>
              <a:t> applications . This type of DBMS is suitable for applications that require data with more complex structures. Example : 'Employee' and 'Department' are the two objects. Each object encapsulates data and relationships in a single unit. For instance, the employee's attributes, such as Name and </a:t>
            </a:r>
            <a:r>
              <a:rPr lang="en-GB" sz="1600" err="1">
                <a:latin typeface="Calibri"/>
                <a:ea typeface="Calibri"/>
                <a:cs typeface="Calibri"/>
              </a:rPr>
              <a:t>Job_title</a:t>
            </a:r>
            <a:r>
              <a:rPr lang="en-GB" sz="1600" dirty="0">
                <a:latin typeface="Calibri"/>
                <a:ea typeface="Calibri"/>
                <a:cs typeface="Calibri"/>
              </a:rPr>
              <a:t>, are contained within a single object. The two objects are linked via a shared attribute, i.e., </a:t>
            </a:r>
            <a:r>
              <a:rPr lang="en-GB" sz="1600">
                <a:latin typeface="Calibri"/>
                <a:ea typeface="Calibri"/>
                <a:cs typeface="Calibri"/>
              </a:rPr>
              <a:t>Department_id.</a:t>
            </a:r>
          </a:p>
          <a:p>
            <a:pPr>
              <a:buClr>
                <a:srgbClr val="1287C3"/>
              </a:buClr>
            </a:pPr>
            <a:r>
              <a:rPr lang="en-GB" sz="1600" b="1" dirty="0">
                <a:latin typeface="Calibri"/>
                <a:ea typeface="Calibri"/>
                <a:cs typeface="Calibri"/>
              </a:rPr>
              <a:t>Relational DBMS (RDBMS)</a:t>
            </a:r>
            <a:r>
              <a:rPr lang="en-GB" sz="1600" dirty="0">
                <a:latin typeface="Calibri"/>
                <a:ea typeface="Calibri"/>
                <a:cs typeface="Calibri"/>
              </a:rPr>
              <a:t> RDBMS is </a:t>
            </a:r>
            <a:r>
              <a:rPr lang="en-GB" sz="1600" b="1" dirty="0">
                <a:latin typeface="Calibri"/>
                <a:ea typeface="Calibri"/>
                <a:cs typeface="Calibri"/>
              </a:rPr>
              <a:t>the most popular type of DBMS</a:t>
            </a:r>
            <a:r>
              <a:rPr lang="en-GB" sz="1600" dirty="0">
                <a:latin typeface="Calibri"/>
                <a:ea typeface="Calibri"/>
                <a:cs typeface="Calibri"/>
              </a:rPr>
              <a:t> today. This system stores data in the form of </a:t>
            </a:r>
            <a:r>
              <a:rPr lang="en-GB" sz="1600" b="1" dirty="0">
                <a:latin typeface="Calibri"/>
                <a:ea typeface="Calibri"/>
                <a:cs typeface="Calibri"/>
              </a:rPr>
              <a:t>tables</a:t>
            </a:r>
            <a:r>
              <a:rPr lang="en-GB" sz="1600" dirty="0">
                <a:latin typeface="Calibri"/>
                <a:ea typeface="Calibri"/>
                <a:cs typeface="Calibri"/>
              </a:rPr>
              <a:t> consisting of rows and columns. Each table has a unique </a:t>
            </a:r>
            <a:r>
              <a:rPr lang="en-GB" sz="1600" b="1" dirty="0">
                <a:latin typeface="Calibri"/>
                <a:ea typeface="Calibri"/>
                <a:cs typeface="Calibri"/>
              </a:rPr>
              <a:t>primary key</a:t>
            </a:r>
            <a:r>
              <a:rPr lang="en-GB" sz="1600" dirty="0">
                <a:latin typeface="Calibri"/>
                <a:ea typeface="Calibri"/>
                <a:cs typeface="Calibri"/>
              </a:rPr>
              <a:t> , and the tables can be linked to </a:t>
            </a:r>
            <a:r>
              <a:rPr lang="en-GB" sz="1600">
                <a:latin typeface="Calibri"/>
                <a:ea typeface="Calibri"/>
                <a:cs typeface="Calibri"/>
              </a:rPr>
              <a:t>each other</a:t>
            </a:r>
            <a:r>
              <a:rPr lang="en-GB" sz="1600" dirty="0">
                <a:latin typeface="Calibri"/>
                <a:ea typeface="Calibri"/>
                <a:cs typeface="Calibri"/>
              </a:rPr>
              <a:t>. RDBMS supports SQL </a:t>
            </a:r>
            <a:r>
              <a:rPr lang="en-GB" sz="1600" b="1" dirty="0">
                <a:latin typeface="Calibri"/>
                <a:ea typeface="Calibri"/>
                <a:cs typeface="Calibri"/>
              </a:rPr>
              <a:t>(Structured Query Language)</a:t>
            </a:r>
            <a:r>
              <a:rPr lang="en-GB" sz="1600" dirty="0">
                <a:latin typeface="Calibri"/>
                <a:ea typeface="Calibri"/>
                <a:cs typeface="Calibri"/>
              </a:rPr>
              <a:t> , which allows users to </a:t>
            </a:r>
            <a:r>
              <a:rPr lang="en-GB" sz="1600" b="1" dirty="0">
                <a:latin typeface="Calibri"/>
                <a:ea typeface="Calibri"/>
                <a:cs typeface="Calibri"/>
              </a:rPr>
              <a:t>query</a:t>
            </a:r>
            <a:r>
              <a:rPr lang="en-GB" sz="1600" dirty="0">
                <a:latin typeface="Calibri"/>
                <a:ea typeface="Calibri"/>
                <a:cs typeface="Calibri"/>
              </a:rPr>
              <a:t> data easily. Example: </a:t>
            </a:r>
            <a:r>
              <a:rPr lang="en-GB" sz="1600" b="1" dirty="0">
                <a:latin typeface="Calibri"/>
                <a:ea typeface="Calibri"/>
                <a:cs typeface="Calibri"/>
              </a:rPr>
              <a:t>MySQL, PostgreSQL</a:t>
            </a:r>
            <a:r>
              <a:rPr lang="en-GB" sz="1600" dirty="0">
                <a:latin typeface="Calibri"/>
                <a:ea typeface="Calibri"/>
                <a:cs typeface="Calibri"/>
              </a:rPr>
              <a:t> , and </a:t>
            </a:r>
            <a:r>
              <a:rPr lang="en-GB" sz="1600" b="1" dirty="0">
                <a:latin typeface="Calibri"/>
                <a:ea typeface="Calibri"/>
                <a:cs typeface="Calibri"/>
              </a:rPr>
              <a:t>Oracle</a:t>
            </a:r>
            <a:r>
              <a:rPr lang="en-GB" sz="1600" dirty="0">
                <a:latin typeface="Calibri"/>
                <a:ea typeface="Calibri"/>
                <a:cs typeface="Calibri"/>
              </a:rPr>
              <a:t> .</a:t>
            </a:r>
          </a:p>
          <a:p>
            <a:pPr>
              <a:buClr>
                <a:srgbClr val="1287C3"/>
              </a:buClr>
            </a:pPr>
            <a:r>
              <a:rPr lang="en-GB" sz="1600" b="1">
                <a:latin typeface="Calibri"/>
                <a:ea typeface="Calibri"/>
                <a:cs typeface="Calibri"/>
              </a:rPr>
              <a:t>NoSQL DBMS NoSQL</a:t>
            </a:r>
            <a:r>
              <a:rPr lang="en-GB" sz="1600">
                <a:latin typeface="Calibri"/>
                <a:ea typeface="Calibri"/>
                <a:cs typeface="Calibri"/>
              </a:rPr>
              <a:t> is a type of DBMS designed to </a:t>
            </a:r>
            <a:r>
              <a:rPr lang="en-GB" sz="1600" b="1">
                <a:latin typeface="Calibri"/>
                <a:ea typeface="Calibri"/>
                <a:cs typeface="Calibri"/>
              </a:rPr>
              <a:t>manage unstructured</a:t>
            </a:r>
            <a:r>
              <a:rPr lang="en-GB" sz="1600">
                <a:latin typeface="Calibri"/>
                <a:ea typeface="Calibri"/>
                <a:cs typeface="Calibri"/>
              </a:rPr>
              <a:t> and </a:t>
            </a:r>
            <a:r>
              <a:rPr lang="en-GB" sz="1600" b="1">
                <a:latin typeface="Calibri"/>
                <a:ea typeface="Calibri"/>
                <a:cs typeface="Calibri"/>
              </a:rPr>
              <a:t>semi-structured</a:t>
            </a:r>
            <a:r>
              <a:rPr lang="en-GB" sz="1600">
                <a:latin typeface="Calibri"/>
                <a:ea typeface="Calibri"/>
                <a:cs typeface="Calibri"/>
              </a:rPr>
              <a:t> data on a large scale. NoSQL is very suitable for </a:t>
            </a:r>
            <a:r>
              <a:rPr lang="en-GB" sz="1600" b="1">
                <a:latin typeface="Calibri"/>
                <a:ea typeface="Calibri"/>
                <a:cs typeface="Calibri"/>
              </a:rPr>
              <a:t>big data</a:t>
            </a:r>
            <a:r>
              <a:rPr lang="en-GB" sz="1600">
                <a:latin typeface="Calibri"/>
                <a:ea typeface="Calibri"/>
                <a:cs typeface="Calibri"/>
              </a:rPr>
              <a:t> and </a:t>
            </a:r>
            <a:r>
              <a:rPr lang="en-GB" sz="1600" b="1">
                <a:latin typeface="Calibri"/>
                <a:ea typeface="Calibri"/>
                <a:cs typeface="Calibri"/>
              </a:rPr>
              <a:t>web applications</a:t>
            </a:r>
            <a:r>
              <a:rPr lang="en-GB" sz="1600">
                <a:latin typeface="Calibri"/>
                <a:ea typeface="Calibri"/>
                <a:cs typeface="Calibri"/>
              </a:rPr>
              <a:t> that require high speed and </a:t>
            </a:r>
            <a:r>
              <a:rPr lang="en-GB" sz="1600" b="1">
                <a:latin typeface="Calibri"/>
                <a:ea typeface="Calibri"/>
                <a:cs typeface="Calibri"/>
              </a:rPr>
              <a:t>scalability</a:t>
            </a:r>
            <a:r>
              <a:rPr lang="en-GB" sz="1600">
                <a:latin typeface="Calibri"/>
                <a:ea typeface="Calibri"/>
                <a:cs typeface="Calibri"/>
              </a:rPr>
              <a:t> . Example :  </a:t>
            </a:r>
            <a:r>
              <a:rPr lang="en-GB" sz="1600" b="1">
                <a:latin typeface="Calibri"/>
                <a:ea typeface="Calibri"/>
                <a:cs typeface="Calibri"/>
              </a:rPr>
              <a:t>MongoDB, Cassandra</a:t>
            </a:r>
            <a:r>
              <a:rPr lang="en-GB" sz="1600">
                <a:latin typeface="Calibri"/>
                <a:ea typeface="Calibri"/>
                <a:cs typeface="Calibri"/>
              </a:rPr>
              <a:t> , and </a:t>
            </a:r>
            <a:r>
              <a:rPr lang="en-GB" sz="1600" b="1">
                <a:latin typeface="Calibri"/>
                <a:ea typeface="Calibri"/>
                <a:cs typeface="Calibri"/>
              </a:rPr>
              <a:t>CouchDB</a:t>
            </a:r>
            <a:r>
              <a:rPr lang="en-GB" sz="1600">
                <a:latin typeface="Calibri"/>
                <a:ea typeface="Calibri"/>
                <a:cs typeface="Calibri"/>
              </a:rPr>
              <a:t> .</a:t>
            </a:r>
            <a:endParaRPr lang="en-GB"/>
          </a:p>
          <a:p>
            <a:pPr>
              <a:buClr>
                <a:srgbClr val="1287C3"/>
              </a:buClr>
            </a:pPr>
            <a:endParaRPr lang="en-GB" sz="1600">
              <a:latin typeface="Calibri"/>
              <a:ea typeface="Calibri"/>
              <a:cs typeface="Calibri"/>
            </a:endParaRPr>
          </a:p>
        </p:txBody>
      </p:sp>
    </p:spTree>
    <p:extLst>
      <p:ext uri="{BB962C8B-B14F-4D97-AF65-F5344CB8AC3E}">
        <p14:creationId xmlns:p14="http://schemas.microsoft.com/office/powerpoint/2010/main" val="1341163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0D63E-B735-0C10-7E83-4F5DF61B5608}"/>
              </a:ext>
            </a:extLst>
          </p:cNvPr>
          <p:cNvSpPr>
            <a:spLocks noGrp="1"/>
          </p:cNvSpPr>
          <p:nvPr>
            <p:ph type="title"/>
          </p:nvPr>
        </p:nvSpPr>
        <p:spPr/>
        <p:txBody>
          <a:bodyPr/>
          <a:lstStyle/>
          <a:p>
            <a:r>
              <a:rPr lang="en-GB"/>
              <a:t>My SQL vs. SQL</a:t>
            </a:r>
          </a:p>
        </p:txBody>
      </p:sp>
      <p:graphicFrame>
        <p:nvGraphicFramePr>
          <p:cNvPr id="5" name="Content Placeholder 4">
            <a:extLst>
              <a:ext uri="{FF2B5EF4-FFF2-40B4-BE49-F238E27FC236}">
                <a16:creationId xmlns:a16="http://schemas.microsoft.com/office/drawing/2014/main" id="{53FDB8A6-8CE9-ADF8-4C4C-3C5D2D862F4B}"/>
              </a:ext>
            </a:extLst>
          </p:cNvPr>
          <p:cNvGraphicFramePr>
            <a:graphicFrameLocks noGrp="1"/>
          </p:cNvGraphicFramePr>
          <p:nvPr>
            <p:ph idx="1"/>
            <p:extLst>
              <p:ext uri="{D42A27DB-BD31-4B8C-83A1-F6EECF244321}">
                <p14:modId xmlns:p14="http://schemas.microsoft.com/office/powerpoint/2010/main" val="466062129"/>
              </p:ext>
            </p:extLst>
          </p:nvPr>
        </p:nvGraphicFramePr>
        <p:xfrm>
          <a:off x="1484313" y="2667000"/>
          <a:ext cx="10018707" cy="4031370"/>
        </p:xfrm>
        <a:graphic>
          <a:graphicData uri="http://schemas.openxmlformats.org/drawingml/2006/table">
            <a:tbl>
              <a:tblPr bandRow="1">
                <a:tableStyleId>{5C22544A-7EE6-4342-B048-85BDC9FD1C3A}</a:tableStyleId>
              </a:tblPr>
              <a:tblGrid>
                <a:gridCol w="1146110">
                  <a:extLst>
                    <a:ext uri="{9D8B030D-6E8A-4147-A177-3AD203B41FA5}">
                      <a16:colId xmlns:a16="http://schemas.microsoft.com/office/drawing/2014/main" val="2731061272"/>
                    </a:ext>
                  </a:extLst>
                </a:gridCol>
                <a:gridCol w="4088363">
                  <a:extLst>
                    <a:ext uri="{9D8B030D-6E8A-4147-A177-3AD203B41FA5}">
                      <a16:colId xmlns:a16="http://schemas.microsoft.com/office/drawing/2014/main" val="3258009224"/>
                    </a:ext>
                  </a:extLst>
                </a:gridCol>
                <a:gridCol w="4784234">
                  <a:extLst>
                    <a:ext uri="{9D8B030D-6E8A-4147-A177-3AD203B41FA5}">
                      <a16:colId xmlns:a16="http://schemas.microsoft.com/office/drawing/2014/main" val="2674465541"/>
                    </a:ext>
                  </a:extLst>
                </a:gridCol>
              </a:tblGrid>
              <a:tr h="488070">
                <a:tc>
                  <a:txBody>
                    <a:bodyPr/>
                    <a:lstStyle/>
                    <a:p>
                      <a:pPr algn="ctr" fontAlgn="base">
                        <a:buNone/>
                      </a:pPr>
                      <a:r>
                        <a:rPr lang="en-GB" sz="1800" b="0">
                          <a:solidFill>
                            <a:schemeClr val="tx1"/>
                          </a:solidFill>
                          <a:effectLst/>
                          <a:latin typeface="Calibri"/>
                          <a:ea typeface="Calibri"/>
                          <a:cs typeface="Calibri"/>
                        </a:rPr>
                        <a:t>Sr. No.</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spcAft>
                          <a:spcPts val="750"/>
                        </a:spcAft>
                        <a:buNone/>
                      </a:pPr>
                      <a:r>
                        <a:rPr lang="en-GB" sz="1800" b="0">
                          <a:solidFill>
                            <a:schemeClr val="tx1"/>
                          </a:solidFill>
                          <a:effectLst/>
                          <a:latin typeface="Calibri"/>
                          <a:ea typeface="Calibri"/>
                          <a:cs typeface="Calibri"/>
                        </a:rPr>
                        <a:t>SQL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spcAft>
                          <a:spcPts val="750"/>
                        </a:spcAft>
                        <a:buNone/>
                      </a:pPr>
                      <a:r>
                        <a:rPr lang="en-GB" sz="1800" b="0">
                          <a:solidFill>
                            <a:schemeClr val="tx1"/>
                          </a:solidFill>
                          <a:effectLst/>
                          <a:latin typeface="Calibri"/>
                          <a:ea typeface="Calibri"/>
                          <a:cs typeface="Calibri"/>
                        </a:rPr>
                        <a:t>MySQL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938242509"/>
                  </a:ext>
                </a:extLst>
              </a:tr>
              <a:tr h="1220176">
                <a:tc>
                  <a:txBody>
                    <a:bodyPr/>
                    <a:lstStyle/>
                    <a:p>
                      <a:pPr algn="ctr" fontAlgn="base">
                        <a:buNone/>
                      </a:pPr>
                      <a:r>
                        <a:rPr lang="en-GB" sz="1800" b="0">
                          <a:solidFill>
                            <a:schemeClr val="tx1"/>
                          </a:solidFill>
                          <a:effectLst/>
                          <a:latin typeface="Calibri"/>
                          <a:ea typeface="Calibri"/>
                          <a:cs typeface="Calibri"/>
                        </a:rPr>
                        <a:t>1.</a:t>
                      </a:r>
                    </a:p>
                  </a:txBody>
                  <a:tcPr marL="38100" marR="38100" marT="79200" marB="7920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GB" sz="1800" b="0">
                          <a:solidFill>
                            <a:schemeClr val="tx1"/>
                          </a:solidFill>
                          <a:effectLst/>
                          <a:latin typeface="Calibri"/>
                          <a:ea typeface="Calibri"/>
                          <a:cs typeface="Calibri"/>
                        </a:rPr>
                        <a:t>It is a structured query programming language that manages the relational database management system.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GB" sz="1800" b="0">
                          <a:solidFill>
                            <a:schemeClr val="tx1"/>
                          </a:solidFill>
                          <a:effectLst/>
                          <a:latin typeface="Calibri"/>
                          <a:ea typeface="Calibri"/>
                          <a:cs typeface="Calibri"/>
                        </a:rPr>
                        <a:t>It is a relational database management system that uses SQL. It supports all the basic programming languages like C, C++, Perl, PHP, Python, and Ruby.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30335797"/>
                  </a:ext>
                </a:extLst>
              </a:tr>
              <a:tr h="793113">
                <a:tc>
                  <a:txBody>
                    <a:bodyPr/>
                    <a:lstStyle/>
                    <a:p>
                      <a:pPr algn="ctr" fontAlgn="base">
                        <a:buNone/>
                      </a:pPr>
                      <a:r>
                        <a:rPr lang="en-GB" sz="1800" b="0">
                          <a:solidFill>
                            <a:schemeClr val="tx1"/>
                          </a:solidFill>
                          <a:effectLst/>
                          <a:latin typeface="Calibri"/>
                          <a:ea typeface="Calibri"/>
                          <a:cs typeface="Calibri"/>
                        </a:rPr>
                        <a:t>2.</a:t>
                      </a:r>
                    </a:p>
                  </a:txBody>
                  <a:tcPr marL="38100" marR="38100" marT="79200" marB="7920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GB" sz="1800" b="0">
                          <a:solidFill>
                            <a:schemeClr val="tx1"/>
                          </a:solidFill>
                          <a:effectLst/>
                          <a:latin typeface="Calibri"/>
                          <a:ea typeface="Calibri"/>
                          <a:cs typeface="Calibri"/>
                        </a:rPr>
                        <a:t>It is not an open-source language.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GB" sz="1800" b="0">
                          <a:solidFill>
                            <a:schemeClr val="tx1"/>
                          </a:solidFill>
                          <a:effectLst/>
                          <a:latin typeface="Calibri"/>
                          <a:ea typeface="Calibri"/>
                          <a:cs typeface="Calibri"/>
                        </a:rPr>
                        <a:t>MySQL is an open-source platform. It allows access to anyone.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09619244"/>
                  </a:ext>
                </a:extLst>
              </a:tr>
              <a:tr h="1220176">
                <a:tc>
                  <a:txBody>
                    <a:bodyPr/>
                    <a:lstStyle/>
                    <a:p>
                      <a:pPr algn="ctr" fontAlgn="base">
                        <a:buNone/>
                      </a:pPr>
                      <a:r>
                        <a:rPr lang="en-GB" sz="1800" b="0">
                          <a:solidFill>
                            <a:schemeClr val="tx1"/>
                          </a:solidFill>
                          <a:effectLst/>
                          <a:latin typeface="Calibri"/>
                          <a:ea typeface="Calibri"/>
                          <a:cs typeface="Calibri"/>
                        </a:rPr>
                        <a:t>3.</a:t>
                      </a:r>
                    </a:p>
                  </a:txBody>
                  <a:tcPr marL="38100" marR="38100" marT="79200" marB="7920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buNone/>
                      </a:pPr>
                      <a:r>
                        <a:rPr lang="en-GB" sz="1800" b="0">
                          <a:solidFill>
                            <a:schemeClr val="tx1"/>
                          </a:solidFill>
                          <a:effectLst/>
                          <a:latin typeface="Calibri"/>
                          <a:ea typeface="Calibri"/>
                          <a:cs typeface="Calibri"/>
                        </a:rPr>
                        <a:t>In a structured query language syntax and format are fixed and easy to use. It starts with the clause and ends with a semicolon.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GB" sz="1800" b="0">
                          <a:solidFill>
                            <a:schemeClr val="tx1"/>
                          </a:solidFill>
                          <a:effectLst/>
                          <a:latin typeface="Calibri"/>
                          <a:ea typeface="Calibri"/>
                          <a:cs typeface="Calibri"/>
                        </a:rPr>
                        <a:t>It is software hence it does not have any commands or a particular format.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32198982"/>
                  </a:ext>
                </a:extLst>
              </a:tr>
            </a:tbl>
          </a:graphicData>
        </a:graphic>
      </p:graphicFrame>
    </p:spTree>
    <p:extLst>
      <p:ext uri="{BB962C8B-B14F-4D97-AF65-F5344CB8AC3E}">
        <p14:creationId xmlns:p14="http://schemas.microsoft.com/office/powerpoint/2010/main" val="113681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7D882-B748-DC33-A48C-35BF1180F5B1}"/>
              </a:ext>
            </a:extLst>
          </p:cNvPr>
          <p:cNvSpPr>
            <a:spLocks noGrp="1"/>
          </p:cNvSpPr>
          <p:nvPr>
            <p:ph type="title"/>
          </p:nvPr>
        </p:nvSpPr>
        <p:spPr/>
        <p:txBody>
          <a:bodyPr/>
          <a:lstStyle/>
          <a:p>
            <a:r>
              <a:rPr lang="en-GB" sz="5400">
                <a:latin typeface="Calibri"/>
                <a:ea typeface="Calibri"/>
                <a:cs typeface="Calibri"/>
              </a:rPr>
              <a:t>Excel and SQL</a:t>
            </a:r>
            <a:endParaRPr lang="en-US" sz="5400">
              <a:latin typeface="Calibri"/>
              <a:ea typeface="Calibri"/>
              <a:cs typeface="Calibri"/>
            </a:endParaRPr>
          </a:p>
        </p:txBody>
      </p:sp>
      <p:sp>
        <p:nvSpPr>
          <p:cNvPr id="3" name="Content Placeholder 2">
            <a:extLst>
              <a:ext uri="{FF2B5EF4-FFF2-40B4-BE49-F238E27FC236}">
                <a16:creationId xmlns:a16="http://schemas.microsoft.com/office/drawing/2014/main" id="{65C47A0E-EFC0-7E62-0E97-842AAEAFBD61}"/>
              </a:ext>
            </a:extLst>
          </p:cNvPr>
          <p:cNvSpPr>
            <a:spLocks noGrp="1"/>
          </p:cNvSpPr>
          <p:nvPr>
            <p:ph idx="1"/>
          </p:nvPr>
        </p:nvSpPr>
        <p:spPr/>
        <p:txBody>
          <a:bodyPr/>
          <a:lstStyle/>
          <a:p>
            <a:r>
              <a:rPr lang="en-GB" b="1">
                <a:latin typeface="Calibri"/>
                <a:ea typeface="Calibri"/>
                <a:cs typeface="Calibri"/>
              </a:rPr>
              <a:t>Excel</a:t>
            </a:r>
            <a:r>
              <a:rPr lang="en-GB">
                <a:latin typeface="Calibri"/>
                <a:ea typeface="Calibri"/>
                <a:cs typeface="Calibri"/>
              </a:rPr>
              <a:t> is a software application for data visualization and simple analysis,</a:t>
            </a:r>
          </a:p>
          <a:p>
            <a:pPr>
              <a:buClr>
                <a:srgbClr val="1287C3"/>
              </a:buClr>
            </a:pPr>
            <a:r>
              <a:rPr lang="en-GB">
                <a:latin typeface="Calibri"/>
                <a:ea typeface="Calibri"/>
                <a:cs typeface="Calibri"/>
              </a:rPr>
              <a:t> </a:t>
            </a:r>
            <a:r>
              <a:rPr lang="en-GB" b="1">
                <a:latin typeface="Calibri"/>
                <a:ea typeface="Calibri"/>
                <a:cs typeface="Calibri"/>
              </a:rPr>
              <a:t>SQL</a:t>
            </a:r>
            <a:r>
              <a:rPr lang="en-GB">
                <a:latin typeface="Calibri"/>
                <a:ea typeface="Calibri"/>
                <a:cs typeface="Calibri"/>
              </a:rPr>
              <a:t> (Structured Query Language) is a programming language used to communicate with databases for managing massive datasets.</a:t>
            </a:r>
            <a:endParaRPr lang="en-GB" sz="1200"/>
          </a:p>
        </p:txBody>
      </p:sp>
    </p:spTree>
    <p:extLst>
      <p:ext uri="{BB962C8B-B14F-4D97-AF65-F5344CB8AC3E}">
        <p14:creationId xmlns:p14="http://schemas.microsoft.com/office/powerpoint/2010/main" val="4121593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6A30-56DD-7172-5901-BAADADD068F0}"/>
              </a:ext>
            </a:extLst>
          </p:cNvPr>
          <p:cNvSpPr>
            <a:spLocks noGrp="1"/>
          </p:cNvSpPr>
          <p:nvPr>
            <p:ph type="title"/>
          </p:nvPr>
        </p:nvSpPr>
        <p:spPr/>
        <p:txBody>
          <a:bodyPr/>
          <a:lstStyle/>
          <a:p>
            <a:r>
              <a:rPr lang="en-GB" sz="4400">
                <a:solidFill>
                  <a:srgbClr val="111317"/>
                </a:solidFill>
              </a:rPr>
              <a:t>Excel vs. SQL: What’s the Difference?</a:t>
            </a:r>
            <a:endParaRPr lang="en-US" sz="4400"/>
          </a:p>
          <a:p>
            <a:endParaRPr lang="en-GB"/>
          </a:p>
        </p:txBody>
      </p:sp>
      <p:sp>
        <p:nvSpPr>
          <p:cNvPr id="3" name="Content Placeholder 2">
            <a:extLst>
              <a:ext uri="{FF2B5EF4-FFF2-40B4-BE49-F238E27FC236}">
                <a16:creationId xmlns:a16="http://schemas.microsoft.com/office/drawing/2014/main" id="{66CAFF63-9EC7-55B6-330C-063A9B2EB318}"/>
              </a:ext>
            </a:extLst>
          </p:cNvPr>
          <p:cNvSpPr>
            <a:spLocks noGrp="1"/>
          </p:cNvSpPr>
          <p:nvPr>
            <p:ph idx="1"/>
          </p:nvPr>
        </p:nvSpPr>
        <p:spPr/>
        <p:txBody>
          <a:bodyPr vert="horz" lIns="91440" tIns="45720" rIns="91440" bIns="45720" rtlCol="0" anchor="ctr">
            <a:noAutofit/>
          </a:bodyPr>
          <a:lstStyle/>
          <a:p>
            <a:r>
              <a:rPr lang="en-GB" sz="2000" b="1">
                <a:latin typeface="Calibri"/>
                <a:ea typeface="Calibri"/>
                <a:cs typeface="Calibri"/>
              </a:rPr>
              <a:t>Interface:</a:t>
            </a:r>
            <a:r>
              <a:rPr lang="en-GB" sz="2000">
                <a:latin typeface="Calibri"/>
                <a:ea typeface="Calibri"/>
                <a:cs typeface="Calibri"/>
              </a:rPr>
              <a:t> Excel uses a visual, grid-based interface, whereas SQL relies on text-based queries.</a:t>
            </a:r>
          </a:p>
          <a:p>
            <a:pPr>
              <a:buClr>
                <a:srgbClr val="1287C3"/>
              </a:buClr>
            </a:pPr>
            <a:r>
              <a:rPr lang="en-GB" sz="2000" b="1">
                <a:latin typeface="Calibri"/>
                <a:ea typeface="Calibri"/>
                <a:cs typeface="Calibri"/>
              </a:rPr>
              <a:t>Data Size:</a:t>
            </a:r>
            <a:r>
              <a:rPr lang="en-GB" sz="2000">
                <a:latin typeface="Calibri"/>
                <a:ea typeface="Calibri"/>
                <a:cs typeface="Calibri"/>
              </a:rPr>
              <a:t> Excel comfortably handles small to moderate data sets, but SQL databases can manage millions of rows efficiently.</a:t>
            </a:r>
          </a:p>
          <a:p>
            <a:pPr>
              <a:buClr>
                <a:srgbClr val="1287C3"/>
              </a:buClr>
            </a:pPr>
            <a:r>
              <a:rPr lang="en-GB" sz="2000" b="1">
                <a:latin typeface="Calibri"/>
                <a:ea typeface="Calibri"/>
                <a:cs typeface="Calibri"/>
              </a:rPr>
              <a:t>Functionality:</a:t>
            </a:r>
            <a:r>
              <a:rPr lang="en-GB" sz="2000">
                <a:latin typeface="Calibri"/>
                <a:ea typeface="Calibri"/>
                <a:cs typeface="Calibri"/>
              </a:rPr>
              <a:t> Excel excels at quick calculations, charts, and what-if analysis. SQL is designed for complex data retrieval, joining multiple tables, and automating repetitive tasks.</a:t>
            </a:r>
          </a:p>
          <a:p>
            <a:pPr>
              <a:buClr>
                <a:srgbClr val="1287C3"/>
              </a:buClr>
            </a:pPr>
            <a:r>
              <a:rPr lang="en-GB" sz="2000" b="1">
                <a:latin typeface="Calibri"/>
                <a:ea typeface="Calibri"/>
                <a:cs typeface="Calibri"/>
              </a:rPr>
              <a:t>Collaboration:</a:t>
            </a:r>
            <a:r>
              <a:rPr lang="en-GB" sz="2000">
                <a:latin typeface="Calibri"/>
                <a:ea typeface="Calibri"/>
                <a:cs typeface="Calibri"/>
              </a:rPr>
              <a:t> SQL databases often power business-critical systems with multiple users, while Excel is typically used for personal or smaller team projects.</a:t>
            </a:r>
          </a:p>
          <a:p>
            <a:pPr>
              <a:buClr>
                <a:srgbClr val="1287C3"/>
              </a:buClr>
            </a:pPr>
            <a:endParaRPr lang="en-GB" sz="2000">
              <a:latin typeface="Calibri"/>
              <a:ea typeface="Calibri"/>
              <a:cs typeface="Calibri"/>
            </a:endParaRPr>
          </a:p>
        </p:txBody>
      </p:sp>
    </p:spTree>
    <p:extLst>
      <p:ext uri="{BB962C8B-B14F-4D97-AF65-F5344CB8AC3E}">
        <p14:creationId xmlns:p14="http://schemas.microsoft.com/office/powerpoint/2010/main" val="1416588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E66F-99C0-AE65-FBEC-25351C13EDC2}"/>
              </a:ext>
            </a:extLst>
          </p:cNvPr>
          <p:cNvSpPr>
            <a:spLocks noGrp="1"/>
          </p:cNvSpPr>
          <p:nvPr>
            <p:ph type="title"/>
          </p:nvPr>
        </p:nvSpPr>
        <p:spPr/>
        <p:txBody>
          <a:bodyPr>
            <a:normAutofit/>
          </a:bodyPr>
          <a:lstStyle/>
          <a:p>
            <a:r>
              <a:rPr lang="en-GB">
                <a:ea typeface="+mj-lt"/>
                <a:cs typeface="+mj-lt"/>
              </a:rPr>
              <a:t>SQL Command Categories</a:t>
            </a:r>
            <a:br>
              <a:rPr lang="en-GB" dirty="0">
                <a:ea typeface="+mj-lt"/>
                <a:cs typeface="+mj-lt"/>
              </a:rPr>
            </a:br>
            <a:endParaRPr lang="en-US">
              <a:ea typeface="+mj-lt"/>
              <a:cs typeface="+mj-lt"/>
            </a:endParaRPr>
          </a:p>
        </p:txBody>
      </p:sp>
      <p:sp>
        <p:nvSpPr>
          <p:cNvPr id="3" name="Content Placeholder 2">
            <a:extLst>
              <a:ext uri="{FF2B5EF4-FFF2-40B4-BE49-F238E27FC236}">
                <a16:creationId xmlns:a16="http://schemas.microsoft.com/office/drawing/2014/main" id="{E095B75E-05F5-A4FB-6F6E-3C7A019260B7}"/>
              </a:ext>
            </a:extLst>
          </p:cNvPr>
          <p:cNvSpPr>
            <a:spLocks noGrp="1"/>
          </p:cNvSpPr>
          <p:nvPr>
            <p:ph idx="1"/>
          </p:nvPr>
        </p:nvSpPr>
        <p:spPr/>
        <p:txBody>
          <a:bodyPr vert="horz" lIns="91440" tIns="45720" rIns="91440" bIns="45720" rtlCol="0" anchor="ctr">
            <a:noAutofit/>
          </a:bodyPr>
          <a:lstStyle/>
          <a:p>
            <a:r>
              <a:rPr lang="en-GB" b="1" dirty="0">
                <a:ea typeface="+mn-lt"/>
                <a:cs typeface="+mn-lt"/>
              </a:rPr>
              <a:t>Data Definition Language (DDL)</a:t>
            </a:r>
            <a:r>
              <a:rPr lang="en-GB" dirty="0">
                <a:ea typeface="+mn-lt"/>
                <a:cs typeface="+mn-lt"/>
              </a:rPr>
              <a:t>: Structure the Database but the data </a:t>
            </a:r>
            <a:r>
              <a:rPr lang="en-GB">
                <a:ea typeface="+mn-lt"/>
                <a:cs typeface="+mn-lt"/>
              </a:rPr>
              <a:t>itself</a:t>
            </a:r>
            <a:r>
              <a:rPr lang="en-GB" sz="1800">
                <a:latin typeface="Calibri"/>
                <a:ea typeface="Calibri"/>
                <a:cs typeface="Calibri"/>
              </a:rPr>
              <a:t>.</a:t>
            </a:r>
            <a:endParaRPr lang="en-GB" sz="2000">
              <a:latin typeface="Calibri"/>
              <a:ea typeface="Calibri"/>
              <a:cs typeface="Calibri"/>
            </a:endParaRPr>
          </a:p>
          <a:p>
            <a:pPr>
              <a:buClr>
                <a:srgbClr val="1287C3"/>
              </a:buClr>
            </a:pPr>
            <a:r>
              <a:rPr lang="en-GB" b="1">
                <a:ea typeface="+mn-lt"/>
                <a:cs typeface="+mn-lt"/>
              </a:rPr>
              <a:t>Data Manipulation Language (DML)</a:t>
            </a:r>
            <a:r>
              <a:rPr lang="en-GB">
                <a:ea typeface="+mn-lt"/>
                <a:cs typeface="+mn-lt"/>
              </a:rPr>
              <a:t>: Manipulate the data stored in the database</a:t>
            </a:r>
          </a:p>
          <a:p>
            <a:pPr>
              <a:buClr>
                <a:srgbClr val="1287C3"/>
              </a:buClr>
            </a:pPr>
            <a:r>
              <a:rPr lang="en-GB" b="1">
                <a:ea typeface="+mn-lt"/>
                <a:cs typeface="+mn-lt"/>
              </a:rPr>
              <a:t>Data Query Language (DQL)</a:t>
            </a:r>
            <a:r>
              <a:rPr lang="en-GB">
                <a:ea typeface="+mn-lt"/>
                <a:cs typeface="+mn-lt"/>
              </a:rPr>
              <a:t>: Query and retrieve the data in the database</a:t>
            </a:r>
          </a:p>
          <a:p>
            <a:pPr>
              <a:buClr>
                <a:srgbClr val="1287C3"/>
              </a:buClr>
            </a:pPr>
            <a:r>
              <a:rPr lang="en-GB" b="1">
                <a:ea typeface="+mn-lt"/>
                <a:cs typeface="+mn-lt"/>
              </a:rPr>
              <a:t>Data Control Language (DCL)</a:t>
            </a:r>
            <a:r>
              <a:rPr lang="en-GB">
                <a:ea typeface="+mn-lt"/>
                <a:cs typeface="+mn-lt"/>
              </a:rPr>
              <a:t>: Control the access to the data in the database</a:t>
            </a:r>
          </a:p>
          <a:p>
            <a:pPr>
              <a:buClr>
                <a:srgbClr val="1287C3"/>
              </a:buClr>
            </a:pPr>
            <a:r>
              <a:rPr lang="en-GB" b="1">
                <a:ea typeface="+mn-lt"/>
                <a:cs typeface="+mn-lt"/>
              </a:rPr>
              <a:t>Transaction Control Language (TCL)</a:t>
            </a:r>
            <a:r>
              <a:rPr lang="en-GB">
                <a:ea typeface="+mn-lt"/>
                <a:cs typeface="+mn-lt"/>
              </a:rPr>
              <a:t>: Manage the transaction in the database</a:t>
            </a:r>
          </a:p>
          <a:p>
            <a:pPr>
              <a:buClr>
                <a:srgbClr val="1287C3"/>
              </a:buClr>
            </a:pPr>
            <a:endParaRPr lang="en-GB" dirty="0"/>
          </a:p>
        </p:txBody>
      </p:sp>
    </p:spTree>
    <p:extLst>
      <p:ext uri="{BB962C8B-B14F-4D97-AF65-F5344CB8AC3E}">
        <p14:creationId xmlns:p14="http://schemas.microsoft.com/office/powerpoint/2010/main" val="2409234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DEB40-E478-8821-0569-ED37DE3E4262}"/>
              </a:ext>
            </a:extLst>
          </p:cNvPr>
          <p:cNvSpPr>
            <a:spLocks noGrp="1"/>
          </p:cNvSpPr>
          <p:nvPr>
            <p:ph type="title"/>
          </p:nvPr>
        </p:nvSpPr>
        <p:spPr/>
        <p:txBody>
          <a:bodyPr/>
          <a:lstStyle/>
          <a:p>
            <a:pPr algn="l"/>
            <a:r>
              <a:rPr lang="en-GB" b="1">
                <a:ea typeface="+mj-lt"/>
                <a:cs typeface="+mj-lt"/>
              </a:rPr>
              <a:t>Data Definition Language (DDL)</a:t>
            </a:r>
            <a:endParaRPr lang="en-GB">
              <a:ea typeface="+mj-lt"/>
              <a:cs typeface="+mj-lt"/>
            </a:endParaRPr>
          </a:p>
          <a:p>
            <a:endParaRPr lang="en-GB" dirty="0"/>
          </a:p>
        </p:txBody>
      </p:sp>
      <p:sp>
        <p:nvSpPr>
          <p:cNvPr id="3" name="Content Placeholder 2">
            <a:extLst>
              <a:ext uri="{FF2B5EF4-FFF2-40B4-BE49-F238E27FC236}">
                <a16:creationId xmlns:a16="http://schemas.microsoft.com/office/drawing/2014/main" id="{7E598F84-FF4A-BDEF-1B06-EADE09FF4FBE}"/>
              </a:ext>
            </a:extLst>
          </p:cNvPr>
          <p:cNvSpPr>
            <a:spLocks noGrp="1"/>
          </p:cNvSpPr>
          <p:nvPr>
            <p:ph idx="1"/>
          </p:nvPr>
        </p:nvSpPr>
        <p:spPr/>
        <p:txBody>
          <a:bodyPr>
            <a:normAutofit lnSpcReduction="10000"/>
          </a:bodyPr>
          <a:lstStyle/>
          <a:p>
            <a:r>
              <a:rPr lang="en-GB" dirty="0">
                <a:ea typeface="+mn-lt"/>
                <a:cs typeface="+mn-lt"/>
              </a:rPr>
              <a:t>DDL commands are used to define or modify the </a:t>
            </a:r>
            <a:r>
              <a:rPr lang="en-GB" b="1" dirty="0">
                <a:ea typeface="+mn-lt"/>
                <a:cs typeface="+mn-lt"/>
              </a:rPr>
              <a:t>structure</a:t>
            </a:r>
            <a:r>
              <a:rPr lang="en-GB" dirty="0">
                <a:ea typeface="+mn-lt"/>
                <a:cs typeface="+mn-lt"/>
              </a:rPr>
              <a:t> (schema) of the database, such as tables, indexes, and views. </a:t>
            </a:r>
          </a:p>
          <a:p>
            <a:pPr>
              <a:buClr>
                <a:srgbClr val="1287C3"/>
              </a:buClr>
            </a:pPr>
            <a:r>
              <a:rPr lang="en-GB" b="1">
                <a:ea typeface="+mn-lt"/>
                <a:cs typeface="+mn-lt"/>
              </a:rPr>
              <a:t>CREATE</a:t>
            </a:r>
            <a:r>
              <a:rPr lang="en-GB">
                <a:ea typeface="+mn-lt"/>
                <a:cs typeface="+mn-lt"/>
              </a:rPr>
              <a:t>: Used to create new databases or objects like tables.</a:t>
            </a:r>
          </a:p>
          <a:p>
            <a:pPr>
              <a:buClr>
                <a:srgbClr val="1287C3"/>
              </a:buClr>
            </a:pPr>
            <a:r>
              <a:rPr lang="en-GB" b="1" dirty="0">
                <a:ea typeface="+mn-lt"/>
                <a:cs typeface="+mn-lt"/>
              </a:rPr>
              <a:t>ALTER</a:t>
            </a:r>
            <a:r>
              <a:rPr lang="en-GB" dirty="0">
                <a:ea typeface="+mn-lt"/>
                <a:cs typeface="+mn-lt"/>
              </a:rPr>
              <a:t>: Used to modify an existing database structure, such as adding a new column to a table .</a:t>
            </a:r>
          </a:p>
          <a:p>
            <a:pPr>
              <a:buClr>
                <a:srgbClr val="1287C3"/>
              </a:buClr>
            </a:pPr>
            <a:r>
              <a:rPr lang="en-GB" b="1" dirty="0">
                <a:ea typeface="+mn-lt"/>
                <a:cs typeface="+mn-lt"/>
              </a:rPr>
              <a:t>DROP</a:t>
            </a:r>
            <a:r>
              <a:rPr lang="en-GB" dirty="0">
                <a:ea typeface="+mn-lt"/>
                <a:cs typeface="+mn-lt"/>
              </a:rPr>
              <a:t>: Permanently deletes objects from the database.</a:t>
            </a:r>
          </a:p>
          <a:p>
            <a:pPr>
              <a:buClr>
                <a:srgbClr val="1287C3"/>
              </a:buClr>
            </a:pPr>
            <a:r>
              <a:rPr lang="en-GB" b="1">
                <a:ea typeface="+mn-lt"/>
                <a:cs typeface="+mn-lt"/>
              </a:rPr>
              <a:t>TRUNCATE </a:t>
            </a:r>
            <a:r>
              <a:rPr lang="en-GB">
                <a:ea typeface="+mn-lt"/>
                <a:cs typeface="+mn-lt"/>
              </a:rPr>
              <a:t>: Removes all records from a table but keeps its structure intact.</a:t>
            </a:r>
          </a:p>
          <a:p>
            <a:pPr>
              <a:buClr>
                <a:srgbClr val="1287C3"/>
              </a:buClr>
            </a:pPr>
            <a:endParaRPr lang="en-GB"/>
          </a:p>
          <a:p>
            <a:pPr>
              <a:buClr>
                <a:srgbClr val="1287C3"/>
              </a:buClr>
            </a:pPr>
            <a:endParaRPr lang="en-GB" dirty="0"/>
          </a:p>
        </p:txBody>
      </p:sp>
    </p:spTree>
    <p:extLst>
      <p:ext uri="{BB962C8B-B14F-4D97-AF65-F5344CB8AC3E}">
        <p14:creationId xmlns:p14="http://schemas.microsoft.com/office/powerpoint/2010/main" val="4272882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D4B76-7A21-116D-AE9B-EE7F936E2AA4}"/>
              </a:ext>
            </a:extLst>
          </p:cNvPr>
          <p:cNvSpPr>
            <a:spLocks noGrp="1"/>
          </p:cNvSpPr>
          <p:nvPr>
            <p:ph type="title"/>
          </p:nvPr>
        </p:nvSpPr>
        <p:spPr/>
        <p:txBody>
          <a:bodyPr>
            <a:normAutofit/>
          </a:bodyPr>
          <a:lstStyle/>
          <a:p>
            <a:r>
              <a:rPr lang="en-GB" b="1">
                <a:ea typeface="+mj-lt"/>
                <a:cs typeface="+mj-lt"/>
              </a:rPr>
              <a:t>Data Manipulation Language (DML)</a:t>
            </a:r>
            <a:endParaRPr lang="en-US">
              <a:ea typeface="+mj-lt"/>
              <a:cs typeface="+mj-lt"/>
            </a:endParaRPr>
          </a:p>
        </p:txBody>
      </p:sp>
      <p:sp>
        <p:nvSpPr>
          <p:cNvPr id="3" name="Content Placeholder 2">
            <a:extLst>
              <a:ext uri="{FF2B5EF4-FFF2-40B4-BE49-F238E27FC236}">
                <a16:creationId xmlns:a16="http://schemas.microsoft.com/office/drawing/2014/main" id="{F40F93D5-AF05-E51C-BD58-F321A959BF7B}"/>
              </a:ext>
            </a:extLst>
          </p:cNvPr>
          <p:cNvSpPr>
            <a:spLocks noGrp="1"/>
          </p:cNvSpPr>
          <p:nvPr>
            <p:ph idx="1"/>
          </p:nvPr>
        </p:nvSpPr>
        <p:spPr/>
        <p:txBody>
          <a:bodyPr vert="horz" lIns="91440" tIns="45720" rIns="91440" bIns="45720" rtlCol="0" anchor="ctr">
            <a:noAutofit/>
          </a:bodyPr>
          <a:lstStyle/>
          <a:p>
            <a:endParaRPr lang="en-GB" b="1">
              <a:ea typeface="+mn-lt"/>
              <a:cs typeface="+mn-lt"/>
            </a:endParaRPr>
          </a:p>
          <a:p>
            <a:pPr>
              <a:buClr>
                <a:srgbClr val="1287C3"/>
              </a:buClr>
            </a:pPr>
            <a:r>
              <a:rPr lang="en-GB" dirty="0">
                <a:ea typeface="+mn-lt"/>
                <a:cs typeface="+mn-lt"/>
              </a:rPr>
              <a:t>DML commands deal with the </a:t>
            </a:r>
            <a:r>
              <a:rPr lang="en-GB" b="1" dirty="0">
                <a:ea typeface="+mn-lt"/>
                <a:cs typeface="+mn-lt"/>
              </a:rPr>
              <a:t>actual data</a:t>
            </a:r>
            <a:r>
              <a:rPr lang="en-GB" dirty="0">
                <a:ea typeface="+mn-lt"/>
                <a:cs typeface="+mn-lt"/>
              </a:rPr>
              <a:t> stored within those structures. These allow you to perform CRUD (Create, Read, Update, Delete) operations. </a:t>
            </a:r>
          </a:p>
          <a:p>
            <a:pPr>
              <a:buClr>
                <a:srgbClr val="1287C3"/>
              </a:buClr>
            </a:pPr>
            <a:r>
              <a:rPr lang="en-GB" b="1">
                <a:ea typeface="+mn-lt"/>
                <a:cs typeface="+mn-lt"/>
              </a:rPr>
              <a:t>INSERT</a:t>
            </a:r>
            <a:r>
              <a:rPr lang="en-GB">
                <a:ea typeface="+mn-lt"/>
                <a:cs typeface="+mn-lt"/>
              </a:rPr>
              <a:t>: Adds new rows of data into a table.</a:t>
            </a:r>
          </a:p>
          <a:p>
            <a:pPr>
              <a:buClr>
                <a:srgbClr val="1287C3"/>
              </a:buClr>
            </a:pPr>
            <a:r>
              <a:rPr lang="en-GB" b="1" dirty="0">
                <a:ea typeface="+mn-lt"/>
                <a:cs typeface="+mn-lt"/>
              </a:rPr>
              <a:t>UPDATE</a:t>
            </a:r>
            <a:r>
              <a:rPr lang="en-GB" dirty="0">
                <a:ea typeface="+mn-lt"/>
                <a:cs typeface="+mn-lt"/>
              </a:rPr>
              <a:t>: Modifies existing data within a table.</a:t>
            </a:r>
          </a:p>
          <a:p>
            <a:pPr>
              <a:buClr>
                <a:srgbClr val="1287C3"/>
              </a:buClr>
            </a:pPr>
            <a:r>
              <a:rPr lang="en-GB" b="1">
                <a:ea typeface="+mn-lt"/>
                <a:cs typeface="+mn-lt"/>
              </a:rPr>
              <a:t>DELETE</a:t>
            </a:r>
            <a:r>
              <a:rPr lang="en-GB">
                <a:ea typeface="+mn-lt"/>
                <a:cs typeface="+mn-lt"/>
              </a:rPr>
              <a:t>: Removes specific records or all records from a table (unlike TRUNCATE, this can often be rolled back) </a:t>
            </a:r>
          </a:p>
          <a:p>
            <a:pPr>
              <a:buClr>
                <a:srgbClr val="1287C3"/>
              </a:buClr>
            </a:pPr>
            <a:endParaRPr lang="en-GB" dirty="0"/>
          </a:p>
        </p:txBody>
      </p:sp>
    </p:spTree>
    <p:extLst>
      <p:ext uri="{BB962C8B-B14F-4D97-AF65-F5344CB8AC3E}">
        <p14:creationId xmlns:p14="http://schemas.microsoft.com/office/powerpoint/2010/main" val="2016433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48F31-C4AC-AA6C-B60D-814CE93C16B9}"/>
              </a:ext>
            </a:extLst>
          </p:cNvPr>
          <p:cNvSpPr>
            <a:spLocks noGrp="1"/>
          </p:cNvSpPr>
          <p:nvPr>
            <p:ph type="title"/>
          </p:nvPr>
        </p:nvSpPr>
        <p:spPr/>
        <p:txBody>
          <a:bodyPr>
            <a:normAutofit/>
          </a:bodyPr>
          <a:lstStyle/>
          <a:p>
            <a:r>
              <a:rPr lang="en-GB" b="1">
                <a:ea typeface="+mj-lt"/>
                <a:cs typeface="+mj-lt"/>
              </a:rPr>
              <a:t>Data Control Language (DCL)</a:t>
            </a:r>
            <a:endParaRPr lang="en-US">
              <a:ea typeface="+mj-lt"/>
              <a:cs typeface="+mj-lt"/>
            </a:endParaRPr>
          </a:p>
        </p:txBody>
      </p:sp>
      <p:sp>
        <p:nvSpPr>
          <p:cNvPr id="3" name="Content Placeholder 2">
            <a:extLst>
              <a:ext uri="{FF2B5EF4-FFF2-40B4-BE49-F238E27FC236}">
                <a16:creationId xmlns:a16="http://schemas.microsoft.com/office/drawing/2014/main" id="{284E13E9-6B3B-2666-932E-564138E51869}"/>
              </a:ext>
            </a:extLst>
          </p:cNvPr>
          <p:cNvSpPr>
            <a:spLocks noGrp="1"/>
          </p:cNvSpPr>
          <p:nvPr>
            <p:ph idx="1"/>
          </p:nvPr>
        </p:nvSpPr>
        <p:spPr/>
        <p:txBody>
          <a:bodyPr/>
          <a:lstStyle/>
          <a:p>
            <a:endParaRPr lang="en-GB" b="1" dirty="0">
              <a:ea typeface="+mn-lt"/>
              <a:cs typeface="+mn-lt"/>
            </a:endParaRPr>
          </a:p>
          <a:p>
            <a:pPr>
              <a:buClr>
                <a:srgbClr val="1287C3"/>
              </a:buClr>
            </a:pPr>
            <a:r>
              <a:rPr lang="en-GB" dirty="0">
                <a:ea typeface="+mn-lt"/>
                <a:cs typeface="+mn-lt"/>
              </a:rPr>
              <a:t>DCL commands manage </a:t>
            </a:r>
            <a:r>
              <a:rPr lang="en-GB" b="1" dirty="0">
                <a:ea typeface="+mn-lt"/>
                <a:cs typeface="+mn-lt"/>
              </a:rPr>
              <a:t>security and access</a:t>
            </a:r>
            <a:r>
              <a:rPr lang="en-GB" dirty="0">
                <a:ea typeface="+mn-lt"/>
                <a:cs typeface="+mn-lt"/>
              </a:rPr>
              <a:t> levels for the database, determining which users can view or edit data. </a:t>
            </a:r>
          </a:p>
          <a:p>
            <a:pPr>
              <a:buClr>
                <a:srgbClr val="1287C3"/>
              </a:buClr>
            </a:pPr>
            <a:r>
              <a:rPr lang="en-GB" b="1">
                <a:ea typeface="+mn-lt"/>
                <a:cs typeface="+mn-lt"/>
              </a:rPr>
              <a:t>GRANT</a:t>
            </a:r>
            <a:r>
              <a:rPr lang="en-GB">
                <a:ea typeface="+mn-lt"/>
                <a:cs typeface="+mn-lt"/>
              </a:rPr>
              <a:t>: Gives specific permissions or privileges to users.</a:t>
            </a:r>
          </a:p>
          <a:p>
            <a:pPr>
              <a:buClr>
                <a:srgbClr val="1287C3"/>
              </a:buClr>
            </a:pPr>
            <a:r>
              <a:rPr lang="en-GB" b="1">
                <a:ea typeface="+mn-lt"/>
                <a:cs typeface="+mn-lt"/>
              </a:rPr>
              <a:t>REVOKE</a:t>
            </a:r>
            <a:r>
              <a:rPr lang="en-GB">
                <a:ea typeface="+mn-lt"/>
                <a:cs typeface="+mn-lt"/>
              </a:rPr>
              <a:t>: Withdraws or takes away previously granted permissions</a:t>
            </a:r>
          </a:p>
          <a:p>
            <a:pPr>
              <a:buClr>
                <a:srgbClr val="1287C3"/>
              </a:buClr>
            </a:pPr>
            <a:endParaRPr lang="en-GB" dirty="0"/>
          </a:p>
        </p:txBody>
      </p:sp>
    </p:spTree>
    <p:extLst>
      <p:ext uri="{BB962C8B-B14F-4D97-AF65-F5344CB8AC3E}">
        <p14:creationId xmlns:p14="http://schemas.microsoft.com/office/powerpoint/2010/main" val="997258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CFAA-9543-8864-E4B8-C0B451147D37}"/>
              </a:ext>
            </a:extLst>
          </p:cNvPr>
          <p:cNvSpPr>
            <a:spLocks noGrp="1"/>
          </p:cNvSpPr>
          <p:nvPr>
            <p:ph type="title"/>
          </p:nvPr>
        </p:nvSpPr>
        <p:spPr/>
        <p:txBody>
          <a:bodyPr/>
          <a:lstStyle/>
          <a:p>
            <a:pPr marL="285750" indent="-285750" algn="l">
              <a:spcBef>
                <a:spcPct val="20000"/>
              </a:spcBef>
              <a:spcAft>
                <a:spcPts val="600"/>
              </a:spcAft>
            </a:pPr>
            <a:r>
              <a:rPr lang="en-GB" b="1">
                <a:ea typeface="+mj-lt"/>
                <a:cs typeface="+mj-lt"/>
              </a:rPr>
              <a:t>Transaction Control Language (TCL)</a:t>
            </a:r>
            <a:endParaRPr lang="en-GB">
              <a:ea typeface="+mj-lt"/>
              <a:cs typeface="+mj-lt"/>
            </a:endParaRPr>
          </a:p>
          <a:p>
            <a:endParaRPr lang="en-GB" dirty="0"/>
          </a:p>
        </p:txBody>
      </p:sp>
      <p:sp>
        <p:nvSpPr>
          <p:cNvPr id="3" name="Content Placeholder 2">
            <a:extLst>
              <a:ext uri="{FF2B5EF4-FFF2-40B4-BE49-F238E27FC236}">
                <a16:creationId xmlns:a16="http://schemas.microsoft.com/office/drawing/2014/main" id="{F5F1F2C7-F5D9-91FF-1E2A-F3CC3E8F88E1}"/>
              </a:ext>
            </a:extLst>
          </p:cNvPr>
          <p:cNvSpPr>
            <a:spLocks noGrp="1"/>
          </p:cNvSpPr>
          <p:nvPr>
            <p:ph idx="1"/>
          </p:nvPr>
        </p:nvSpPr>
        <p:spPr>
          <a:xfrm>
            <a:off x="1484310" y="3012055"/>
            <a:ext cx="10018713" cy="2779145"/>
          </a:xfrm>
        </p:spPr>
        <p:txBody>
          <a:bodyPr vert="horz" lIns="91440" tIns="45720" rIns="91440" bIns="45720" rtlCol="0" anchor="ctr">
            <a:noAutofit/>
          </a:bodyPr>
          <a:lstStyle/>
          <a:p>
            <a:pPr>
              <a:buClr>
                <a:srgbClr val="1287C3"/>
              </a:buClr>
            </a:pPr>
            <a:r>
              <a:rPr lang="en-GB">
                <a:ea typeface="+mn-lt"/>
                <a:cs typeface="+mn-lt"/>
              </a:rPr>
              <a:t>TCL commands manage the </a:t>
            </a:r>
            <a:r>
              <a:rPr lang="en-GB" b="1">
                <a:ea typeface="+mn-lt"/>
                <a:cs typeface="+mn-lt"/>
              </a:rPr>
              <a:t>execution and state</a:t>
            </a:r>
            <a:r>
              <a:rPr lang="en-GB">
                <a:ea typeface="+mn-lt"/>
                <a:cs typeface="+mn-lt"/>
              </a:rPr>
              <a:t> of transactions (groups of DML operations) to ensure data consistency. </a:t>
            </a:r>
            <a:endParaRPr lang="en-US"/>
          </a:p>
          <a:p>
            <a:pPr>
              <a:buClr>
                <a:srgbClr val="1287C3"/>
              </a:buClr>
            </a:pPr>
            <a:r>
              <a:rPr lang="en-GB" b="1">
                <a:ea typeface="+mn-lt"/>
                <a:cs typeface="+mn-lt"/>
              </a:rPr>
              <a:t>COMMIT</a:t>
            </a:r>
            <a:r>
              <a:rPr lang="en-GB">
                <a:ea typeface="+mn-lt"/>
                <a:cs typeface="+mn-lt"/>
              </a:rPr>
              <a:t>: Saves all changes made during the current transaction permanently to the database.</a:t>
            </a:r>
          </a:p>
          <a:p>
            <a:pPr>
              <a:buClr>
                <a:srgbClr val="1287C3"/>
              </a:buClr>
            </a:pPr>
            <a:r>
              <a:rPr lang="en-GB" b="1">
                <a:ea typeface="+mn-lt"/>
                <a:cs typeface="+mn-lt"/>
              </a:rPr>
              <a:t>ROLLBACK</a:t>
            </a:r>
            <a:r>
              <a:rPr lang="en-GB">
                <a:ea typeface="+mn-lt"/>
                <a:cs typeface="+mn-lt"/>
              </a:rPr>
              <a:t>: Undoes changes that have not yet been saved, restoring the database to its last committed state.</a:t>
            </a:r>
          </a:p>
          <a:p>
            <a:pPr>
              <a:buClr>
                <a:srgbClr val="1287C3"/>
              </a:buClr>
            </a:pPr>
            <a:r>
              <a:rPr lang="en-GB" b="1">
                <a:ea typeface="+mn-lt"/>
                <a:cs typeface="+mn-lt"/>
              </a:rPr>
              <a:t>SAVEPOINT</a:t>
            </a:r>
            <a:r>
              <a:rPr lang="en-GB">
                <a:ea typeface="+mn-lt"/>
                <a:cs typeface="+mn-lt"/>
              </a:rPr>
              <a:t>: Sets a checkpoint within a transaction so you can roll back to that specific point instead of the entire transaction</a:t>
            </a:r>
          </a:p>
          <a:p>
            <a:pPr>
              <a:buClr>
                <a:srgbClr val="1287C3"/>
              </a:buClr>
            </a:pPr>
            <a:endParaRPr lang="en-GB" dirty="0"/>
          </a:p>
        </p:txBody>
      </p:sp>
    </p:spTree>
    <p:extLst>
      <p:ext uri="{BB962C8B-B14F-4D97-AF65-F5344CB8AC3E}">
        <p14:creationId xmlns:p14="http://schemas.microsoft.com/office/powerpoint/2010/main" val="1619475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C94D-9F3A-AD0B-8692-F2CE59C46831}"/>
              </a:ext>
            </a:extLst>
          </p:cNvPr>
          <p:cNvSpPr>
            <a:spLocks noGrp="1"/>
          </p:cNvSpPr>
          <p:nvPr>
            <p:ph type="title"/>
          </p:nvPr>
        </p:nvSpPr>
        <p:spPr/>
        <p:txBody>
          <a:bodyPr>
            <a:normAutofit/>
          </a:bodyPr>
          <a:lstStyle/>
          <a:p>
            <a:r>
              <a:rPr lang="en-GB" b="1">
                <a:ea typeface="+mj-lt"/>
                <a:cs typeface="+mj-lt"/>
              </a:rPr>
              <a:t>Security Systems</a:t>
            </a:r>
            <a:endParaRPr lang="en-US">
              <a:ea typeface="+mj-lt"/>
              <a:cs typeface="+mj-lt"/>
            </a:endParaRPr>
          </a:p>
        </p:txBody>
      </p:sp>
      <p:sp>
        <p:nvSpPr>
          <p:cNvPr id="3" name="Content Placeholder 2">
            <a:extLst>
              <a:ext uri="{FF2B5EF4-FFF2-40B4-BE49-F238E27FC236}">
                <a16:creationId xmlns:a16="http://schemas.microsoft.com/office/drawing/2014/main" id="{01C935D4-5826-C573-A9E6-94A9B08CB7EA}"/>
              </a:ext>
            </a:extLst>
          </p:cNvPr>
          <p:cNvSpPr>
            <a:spLocks noGrp="1"/>
          </p:cNvSpPr>
          <p:nvPr>
            <p:ph idx="1"/>
          </p:nvPr>
        </p:nvSpPr>
        <p:spPr>
          <a:xfrm>
            <a:off x="1484310" y="2451339"/>
            <a:ext cx="10018713" cy="4058728"/>
          </a:xfrm>
        </p:spPr>
        <p:txBody>
          <a:bodyPr>
            <a:normAutofit fontScale="92500" lnSpcReduction="20000"/>
          </a:bodyPr>
          <a:lstStyle/>
          <a:p>
            <a:r>
              <a:rPr lang="en-GB">
                <a:ea typeface="+mn-lt"/>
                <a:cs typeface="+mn-lt"/>
              </a:rPr>
              <a:t>Information and cybersecurity systems protect digital assets, networks, and data from unauthorized access or damage.</a:t>
            </a:r>
          </a:p>
          <a:p>
            <a:pPr>
              <a:buClr>
                <a:srgbClr val="1287C3"/>
              </a:buClr>
            </a:pPr>
            <a:r>
              <a:rPr lang="en-GB"/>
              <a:t>Threats : 1. Phishing Attacks,2. Ransomware, 3. Malware,4. Man-in-the-middle attacks (MitM)</a:t>
            </a:r>
            <a:endParaRPr lang="en-US"/>
          </a:p>
          <a:p>
            <a:pPr>
              <a:buClr>
                <a:srgbClr val="1287C3"/>
              </a:buClr>
            </a:pPr>
            <a:r>
              <a:rPr lang="en-GB"/>
              <a:t>Tools for Information System Security : Authentication, Access Control,Encryption,Backups</a:t>
            </a:r>
          </a:p>
          <a:p>
            <a:pPr marL="0" indent="0">
              <a:buClr>
                <a:srgbClr val="1287C3"/>
              </a:buClr>
              <a:buNone/>
            </a:pPr>
            <a:r>
              <a:rPr lang="en-GB" dirty="0"/>
              <a:t>            </a:t>
            </a:r>
            <a:r>
              <a:rPr lang="en-GB" dirty="0" err="1"/>
              <a:t>Firewalls,Intrusion</a:t>
            </a:r>
            <a:r>
              <a:rPr lang="en-GB" dirty="0"/>
              <a:t> Detection Systems (IDS),Physical </a:t>
            </a:r>
            <a:r>
              <a:rPr lang="en-GB" dirty="0" err="1"/>
              <a:t>Security,Security</a:t>
            </a:r>
            <a:r>
              <a:rPr lang="en-GB" dirty="0"/>
              <a:t> Policies</a:t>
            </a:r>
          </a:p>
          <a:p>
            <a:pPr>
              <a:buClr>
                <a:srgbClr val="1287C3"/>
              </a:buClr>
            </a:pPr>
            <a:r>
              <a:rPr lang="en-US" dirty="0"/>
              <a:t>Steps to form an Information System Security </a:t>
            </a:r>
            <a:r>
              <a:rPr lang="en-US"/>
              <a:t>Framework : </a:t>
            </a:r>
            <a:endParaRPr lang="en-US" dirty="0"/>
          </a:p>
          <a:p>
            <a:pPr marL="0" indent="0">
              <a:buClr>
                <a:srgbClr val="1287C3"/>
              </a:buClr>
              <a:buNone/>
            </a:pPr>
            <a:r>
              <a:rPr lang="en-US" dirty="0"/>
              <a:t>               Identify -&gt; Protect -&gt; Detect -&gt;Respond -&gt;Recover</a:t>
            </a:r>
          </a:p>
          <a:p>
            <a:pPr>
              <a:buClr>
                <a:srgbClr val="1287C3"/>
              </a:buClr>
            </a:pPr>
            <a:r>
              <a:rPr lang="en-US"/>
              <a:t>Procedure :</a:t>
            </a:r>
            <a:r>
              <a:rPr lang="en-US" dirty="0">
                <a:ea typeface="+mn-lt"/>
                <a:cs typeface="+mn-lt"/>
              </a:rPr>
              <a:t> </a:t>
            </a:r>
            <a:r>
              <a:rPr lang="en-US">
                <a:ea typeface="+mn-lt"/>
                <a:cs typeface="+mn-lt"/>
              </a:rPr>
              <a:t>Educate and train </a:t>
            </a:r>
            <a:r>
              <a:rPr lang="en-US" err="1">
                <a:ea typeface="+mn-lt"/>
                <a:cs typeface="+mn-lt"/>
              </a:rPr>
              <a:t>employees,Data</a:t>
            </a:r>
            <a:r>
              <a:rPr lang="en-US" dirty="0">
                <a:ea typeface="+mn-lt"/>
                <a:cs typeface="+mn-lt"/>
              </a:rPr>
              <a:t> </a:t>
            </a:r>
            <a:r>
              <a:rPr lang="en-US" err="1">
                <a:ea typeface="+mn-lt"/>
                <a:cs typeface="+mn-lt"/>
              </a:rPr>
              <a:t>encryption,Network</a:t>
            </a:r>
            <a:r>
              <a:rPr lang="en-US" dirty="0">
                <a:ea typeface="+mn-lt"/>
                <a:cs typeface="+mn-lt"/>
              </a:rPr>
              <a:t> security and monitoring</a:t>
            </a:r>
            <a:endParaRPr lang="en-US" dirty="0"/>
          </a:p>
        </p:txBody>
      </p:sp>
    </p:spTree>
    <p:extLst>
      <p:ext uri="{BB962C8B-B14F-4D97-AF65-F5344CB8AC3E}">
        <p14:creationId xmlns:p14="http://schemas.microsoft.com/office/powerpoint/2010/main" val="3628310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8C762-3748-658C-4F12-C13580506127}"/>
              </a:ext>
            </a:extLst>
          </p:cNvPr>
          <p:cNvSpPr>
            <a:spLocks noGrp="1"/>
          </p:cNvSpPr>
          <p:nvPr>
            <p:ph type="title"/>
          </p:nvPr>
        </p:nvSpPr>
        <p:spPr/>
        <p:txBody>
          <a:bodyPr/>
          <a:lstStyle/>
          <a:p>
            <a:r>
              <a:rPr lang="en-GB"/>
              <a:t>Cloud Computing</a:t>
            </a:r>
            <a:endParaRPr lang="en-GB" dirty="0"/>
          </a:p>
        </p:txBody>
      </p:sp>
      <p:sp>
        <p:nvSpPr>
          <p:cNvPr id="3" name="Content Placeholder 2">
            <a:extLst>
              <a:ext uri="{FF2B5EF4-FFF2-40B4-BE49-F238E27FC236}">
                <a16:creationId xmlns:a16="http://schemas.microsoft.com/office/drawing/2014/main" id="{1D1F8567-8319-70F1-3CFE-789C6A6CBDB2}"/>
              </a:ext>
            </a:extLst>
          </p:cNvPr>
          <p:cNvSpPr>
            <a:spLocks noGrp="1"/>
          </p:cNvSpPr>
          <p:nvPr>
            <p:ph idx="1"/>
          </p:nvPr>
        </p:nvSpPr>
        <p:spPr>
          <a:xfrm>
            <a:off x="1484310" y="2436962"/>
            <a:ext cx="10018713" cy="4101860"/>
          </a:xfrm>
        </p:spPr>
        <p:txBody>
          <a:bodyPr>
            <a:normAutofit/>
          </a:bodyPr>
          <a:lstStyle/>
          <a:p>
            <a:r>
              <a:rPr lang="en-GB" b="1">
                <a:latin typeface="Calibri"/>
                <a:ea typeface="Calibri"/>
                <a:cs typeface="Calibri"/>
              </a:rPr>
              <a:t>Cloud computing</a:t>
            </a:r>
            <a:r>
              <a:rPr lang="en-GB">
                <a:latin typeface="Calibri"/>
                <a:ea typeface="Calibri"/>
                <a:cs typeface="Calibri"/>
              </a:rPr>
              <a:t> is the delivery of computing services—including servers, storage, databases, networking, software, analytics, and intelligence—over the internet (“the cloud”) to offer faster innovation, flexible resources, and economies of scale.</a:t>
            </a:r>
            <a:endParaRPr lang="en-GB" dirty="0">
              <a:latin typeface="Calibri"/>
              <a:ea typeface="Calibri"/>
              <a:cs typeface="Calibri"/>
            </a:endParaRPr>
          </a:p>
          <a:p>
            <a:pPr>
              <a:buClr>
                <a:srgbClr val="1287C3"/>
              </a:buClr>
            </a:pPr>
            <a:r>
              <a:rPr lang="en-GB">
                <a:latin typeface="Calibri"/>
                <a:ea typeface="Calibri"/>
                <a:cs typeface="Calibri"/>
              </a:rPr>
              <a:t>Types of cloud services : IaaS, PaaS, serverless, and SaaS</a:t>
            </a:r>
            <a:endParaRPr lang="en-GB" dirty="0">
              <a:latin typeface="Calibri"/>
              <a:ea typeface="Calibri"/>
              <a:cs typeface="Calibri"/>
            </a:endParaRPr>
          </a:p>
          <a:p>
            <a:pPr>
              <a:buClr>
                <a:srgbClr val="1287C3"/>
              </a:buClr>
            </a:pPr>
            <a:r>
              <a:rPr lang="en-GB" dirty="0">
                <a:latin typeface="Calibri"/>
                <a:ea typeface="Calibri"/>
                <a:cs typeface="Calibri"/>
              </a:rPr>
              <a:t>Benefits : Cost-efficiency, Speed, </a:t>
            </a:r>
            <a:r>
              <a:rPr lang="en-GB">
                <a:latin typeface="Calibri"/>
                <a:ea typeface="Calibri"/>
                <a:cs typeface="Calibri"/>
              </a:rPr>
              <a:t>Productivity ,Security</a:t>
            </a:r>
            <a:endParaRPr lang="en-GB" dirty="0">
              <a:latin typeface="Calibri"/>
              <a:ea typeface="Calibri"/>
              <a:cs typeface="Calibri"/>
            </a:endParaRPr>
          </a:p>
          <a:p>
            <a:pPr>
              <a:buClr>
                <a:srgbClr val="1287C3"/>
              </a:buClr>
            </a:pPr>
            <a:r>
              <a:rPr lang="en-GB">
                <a:latin typeface="Calibri"/>
                <a:ea typeface="Calibri"/>
                <a:cs typeface="Calibri"/>
              </a:rPr>
              <a:t>Provider: Amazon Web Services (AWS), Microsoft Azure, and Google Cloud Platform (GCP)</a:t>
            </a:r>
            <a:endParaRPr lang="en-GB" dirty="0">
              <a:latin typeface="Calibri"/>
              <a:ea typeface="Calibri"/>
              <a:cs typeface="Calibri"/>
            </a:endParaRPr>
          </a:p>
          <a:p>
            <a:pPr>
              <a:buClr>
                <a:srgbClr val="1287C3"/>
              </a:buClr>
            </a:pPr>
            <a:endParaRPr lang="en-GB" dirty="0">
              <a:latin typeface="Calibri"/>
              <a:ea typeface="Calibri"/>
              <a:cs typeface="Calibri"/>
            </a:endParaRPr>
          </a:p>
          <a:p>
            <a:pPr>
              <a:buClr>
                <a:srgbClr val="1287C3"/>
              </a:buClr>
            </a:pPr>
            <a:endParaRPr lang="en-GB" dirty="0">
              <a:latin typeface="Calibri"/>
              <a:ea typeface="Calibri"/>
              <a:cs typeface="Calibri"/>
            </a:endParaRPr>
          </a:p>
        </p:txBody>
      </p:sp>
    </p:spTree>
    <p:extLst>
      <p:ext uri="{BB962C8B-B14F-4D97-AF65-F5344CB8AC3E}">
        <p14:creationId xmlns:p14="http://schemas.microsoft.com/office/powerpoint/2010/main" val="4174448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ECAC-35DA-E1C1-EE2A-6A511C7B25C3}"/>
              </a:ext>
            </a:extLst>
          </p:cNvPr>
          <p:cNvSpPr>
            <a:spLocks noGrp="1"/>
          </p:cNvSpPr>
          <p:nvPr>
            <p:ph type="title"/>
          </p:nvPr>
        </p:nvSpPr>
        <p:spPr/>
        <p:txBody>
          <a:bodyPr>
            <a:normAutofit/>
          </a:bodyPr>
          <a:lstStyle/>
          <a:p>
            <a:r>
              <a:rPr lang="en-GB">
                <a:ea typeface="+mj-lt"/>
                <a:cs typeface="+mj-lt"/>
              </a:rPr>
              <a:t>Emerging technologies</a:t>
            </a:r>
            <a:endParaRPr lang="en-US">
              <a:ea typeface="+mj-lt"/>
              <a:cs typeface="+mj-lt"/>
            </a:endParaRPr>
          </a:p>
        </p:txBody>
      </p:sp>
      <p:sp>
        <p:nvSpPr>
          <p:cNvPr id="3" name="Content Placeholder 2">
            <a:extLst>
              <a:ext uri="{FF2B5EF4-FFF2-40B4-BE49-F238E27FC236}">
                <a16:creationId xmlns:a16="http://schemas.microsoft.com/office/drawing/2014/main" id="{9CD00A0F-15AE-92E9-B441-FF5BCDC755A2}"/>
              </a:ext>
            </a:extLst>
          </p:cNvPr>
          <p:cNvSpPr>
            <a:spLocks noGrp="1"/>
          </p:cNvSpPr>
          <p:nvPr>
            <p:ph idx="1"/>
          </p:nvPr>
        </p:nvSpPr>
        <p:spPr>
          <a:xfrm>
            <a:off x="1484310" y="2666999"/>
            <a:ext cx="10018713" cy="4188125"/>
          </a:xfrm>
        </p:spPr>
        <p:txBody>
          <a:bodyPr>
            <a:normAutofit fontScale="92500" lnSpcReduction="10000"/>
          </a:bodyPr>
          <a:lstStyle/>
          <a:p>
            <a:r>
              <a:rPr lang="en-GB">
                <a:ea typeface="+mn-lt"/>
                <a:cs typeface="+mn-lt"/>
              </a:rPr>
              <a:t>Emerging technologies are radical, fast-growing innovations.</a:t>
            </a:r>
          </a:p>
          <a:p>
            <a:pPr>
              <a:buClr>
                <a:srgbClr val="1287C3"/>
              </a:buClr>
            </a:pPr>
            <a:endParaRPr lang="en-GB" dirty="0"/>
          </a:p>
          <a:p>
            <a:pPr>
              <a:buClr>
                <a:srgbClr val="1287C3"/>
              </a:buClr>
            </a:pPr>
            <a:r>
              <a:rPr lang="en-GB" b="1">
                <a:ea typeface="+mn-lt"/>
                <a:cs typeface="+mn-lt"/>
              </a:rPr>
              <a:t>Artificial Intelligence &amp; Machine Learning (AI/ML):</a:t>
            </a:r>
            <a:r>
              <a:rPr lang="en-GB">
                <a:ea typeface="+mn-lt"/>
                <a:cs typeface="+mn-lt"/>
              </a:rPr>
              <a:t> Systems designed to simulate human intelligence for tasks like language processing and predictive analytics.</a:t>
            </a:r>
            <a:endParaRPr lang="en-GB" dirty="0">
              <a:ea typeface="+mn-lt"/>
              <a:cs typeface="+mn-lt"/>
            </a:endParaRPr>
          </a:p>
          <a:p>
            <a:pPr>
              <a:buClr>
                <a:srgbClr val="1287C3"/>
              </a:buClr>
            </a:pPr>
            <a:r>
              <a:rPr lang="en-GB" b="1" dirty="0">
                <a:ea typeface="+mn-lt"/>
                <a:cs typeface="+mn-lt"/>
              </a:rPr>
              <a:t>Internet of Things (IoT) &amp; </a:t>
            </a:r>
            <a:r>
              <a:rPr lang="en-GB" b="1" dirty="0" err="1">
                <a:ea typeface="+mn-lt"/>
                <a:cs typeface="+mn-lt"/>
              </a:rPr>
              <a:t>IIoT</a:t>
            </a:r>
            <a:r>
              <a:rPr lang="en-GB" b="1" dirty="0">
                <a:ea typeface="+mn-lt"/>
                <a:cs typeface="+mn-lt"/>
              </a:rPr>
              <a:t>:</a:t>
            </a:r>
            <a:r>
              <a:rPr lang="en-GB" dirty="0">
                <a:ea typeface="+mn-lt"/>
                <a:cs typeface="+mn-lt"/>
              </a:rPr>
              <a:t> Connected devices that collect and share data, commonly used in smart homes and industrial automation.</a:t>
            </a:r>
          </a:p>
          <a:p>
            <a:pPr>
              <a:buClr>
                <a:srgbClr val="1287C3"/>
              </a:buClr>
            </a:pPr>
            <a:r>
              <a:rPr lang="en-GB" b="1">
                <a:ea typeface="+mn-lt"/>
                <a:cs typeface="+mn-lt"/>
              </a:rPr>
              <a:t>Blockchain Technology:</a:t>
            </a:r>
            <a:r>
              <a:rPr lang="en-GB">
                <a:ea typeface="+mn-lt"/>
                <a:cs typeface="+mn-lt"/>
              </a:rPr>
              <a:t> Decentralized digital ledgers, ensuring secure and transparent transactions.</a:t>
            </a:r>
          </a:p>
          <a:p>
            <a:pPr>
              <a:buClr>
                <a:srgbClr val="1287C3"/>
              </a:buClr>
            </a:pPr>
            <a:r>
              <a:rPr lang="en-GB" b="1">
                <a:ea typeface="+mn-lt"/>
                <a:cs typeface="+mn-lt"/>
              </a:rPr>
              <a:t>Robotics &amp; Autonomous Vehicles:</a:t>
            </a:r>
            <a:r>
              <a:rPr lang="en-GB">
                <a:ea typeface="+mn-lt"/>
                <a:cs typeface="+mn-lt"/>
              </a:rPr>
              <a:t> Intelligent robots and vehicles capable of operating without human intervention.</a:t>
            </a:r>
            <a:endParaRPr lang="en-GB" dirty="0">
              <a:ea typeface="+mn-lt"/>
              <a:cs typeface="+mn-lt"/>
            </a:endParaRPr>
          </a:p>
          <a:p>
            <a:pPr>
              <a:buClr>
                <a:srgbClr val="1287C3"/>
              </a:buClr>
            </a:pPr>
            <a:endParaRPr lang="en-GB" dirty="0"/>
          </a:p>
        </p:txBody>
      </p:sp>
    </p:spTree>
    <p:extLst>
      <p:ext uri="{BB962C8B-B14F-4D97-AF65-F5344CB8AC3E}">
        <p14:creationId xmlns:p14="http://schemas.microsoft.com/office/powerpoint/2010/main" val="3261168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D039-38D1-A295-EBFF-A42C934195CD}"/>
              </a:ext>
            </a:extLst>
          </p:cNvPr>
          <p:cNvSpPr>
            <a:spLocks noGrp="1"/>
          </p:cNvSpPr>
          <p:nvPr>
            <p:ph type="title" idx="4294967295"/>
          </p:nvPr>
        </p:nvSpPr>
        <p:spPr>
          <a:xfrm>
            <a:off x="2173288" y="685800"/>
            <a:ext cx="10018712" cy="1752600"/>
          </a:xfrm>
        </p:spPr>
        <p:txBody>
          <a:bodyPr/>
          <a:lstStyle/>
          <a:p>
            <a:r>
              <a:rPr lang="en-GB" dirty="0"/>
              <a:t>Application of IT in </a:t>
            </a:r>
            <a:r>
              <a:rPr lang="en-GB"/>
              <a:t>Business</a:t>
            </a:r>
            <a:endParaRPr lang="en-GB" dirty="0"/>
          </a:p>
        </p:txBody>
      </p:sp>
      <p:sp>
        <p:nvSpPr>
          <p:cNvPr id="3" name="Content Placeholder 2">
            <a:extLst>
              <a:ext uri="{FF2B5EF4-FFF2-40B4-BE49-F238E27FC236}">
                <a16:creationId xmlns:a16="http://schemas.microsoft.com/office/drawing/2014/main" id="{C7F4A5D0-5235-E943-2ED9-083927775ED3}"/>
              </a:ext>
            </a:extLst>
          </p:cNvPr>
          <p:cNvSpPr>
            <a:spLocks noGrp="1"/>
          </p:cNvSpPr>
          <p:nvPr>
            <p:ph idx="4294967295"/>
          </p:nvPr>
        </p:nvSpPr>
        <p:spPr>
          <a:xfrm>
            <a:off x="2173288" y="2667000"/>
            <a:ext cx="10018712" cy="3828690"/>
          </a:xfrm>
        </p:spPr>
        <p:txBody>
          <a:bodyPr>
            <a:normAutofit fontScale="92500" lnSpcReduction="20000"/>
          </a:bodyPr>
          <a:lstStyle/>
          <a:p>
            <a:pPr marL="0" indent="0">
              <a:buNone/>
            </a:pPr>
            <a:r>
              <a:rPr lang="en-GB">
                <a:ea typeface="+mn-lt"/>
                <a:cs typeface="+mn-lt"/>
              </a:rPr>
              <a:t>The essential applications of IT in business can be categorized as follows:</a:t>
            </a:r>
            <a:endParaRPr lang="en-US"/>
          </a:p>
          <a:p>
            <a:pPr marL="0" indent="0">
              <a:buNone/>
            </a:pPr>
            <a:endParaRPr lang="en-GB" dirty="0">
              <a:ea typeface="+mn-lt"/>
              <a:cs typeface="+mn-lt"/>
            </a:endParaRPr>
          </a:p>
          <a:p>
            <a:pPr>
              <a:buClr>
                <a:srgbClr val="1287C3"/>
              </a:buClr>
            </a:pPr>
            <a:r>
              <a:rPr lang="en-GB" b="1">
                <a:ea typeface="+mn-lt"/>
                <a:cs typeface="+mn-lt"/>
              </a:rPr>
              <a:t>Customer Relationship Management (CRM):</a:t>
            </a:r>
            <a:r>
              <a:rPr lang="en-GB">
                <a:ea typeface="+mn-lt"/>
                <a:cs typeface="+mn-lt"/>
              </a:rPr>
              <a:t> Businesses use tools like Salesforce or HubSpot to track interactions, manage sales pipelines, and deliver personalized customer service.</a:t>
            </a:r>
          </a:p>
          <a:p>
            <a:pPr>
              <a:buClr>
                <a:srgbClr val="1287C3"/>
              </a:buClr>
            </a:pPr>
            <a:r>
              <a:rPr lang="en-GB" b="1">
                <a:ea typeface="+mn-lt"/>
                <a:cs typeface="+mn-lt"/>
              </a:rPr>
              <a:t>Enterprise Resource Planning (ERP):</a:t>
            </a:r>
            <a:r>
              <a:rPr lang="en-GB">
                <a:ea typeface="+mn-lt"/>
                <a:cs typeface="+mn-lt"/>
              </a:rPr>
              <a:t> Centralized systems like Oracle NetSuite or SAP integrate core business functions—including finance, human resources, and supply chain—into a single, unified dashboard.</a:t>
            </a:r>
          </a:p>
          <a:p>
            <a:pPr>
              <a:spcBef>
                <a:spcPts val="0"/>
              </a:spcBef>
              <a:spcAft>
                <a:spcPts val="0"/>
              </a:spcAft>
              <a:buClr>
                <a:srgbClr val="1287C3"/>
              </a:buClr>
            </a:pPr>
            <a:r>
              <a:rPr lang="en-US" b="1" dirty="0">
                <a:ea typeface="+mn-lt"/>
                <a:cs typeface="+mn-lt"/>
              </a:rPr>
              <a:t>Data Management &amp; Business Intelligence:</a:t>
            </a:r>
            <a:r>
              <a:rPr lang="en-US" dirty="0">
                <a:ea typeface="+mn-lt"/>
                <a:cs typeface="+mn-lt"/>
              </a:rPr>
              <a:t> Advanced analytics software helps managers </a:t>
            </a:r>
            <a:r>
              <a:rPr lang="en-US" dirty="0" err="1">
                <a:ea typeface="+mn-lt"/>
                <a:cs typeface="+mn-lt"/>
              </a:rPr>
              <a:t>extractactionable</a:t>
            </a:r>
            <a:r>
              <a:rPr lang="en-US" dirty="0">
                <a:ea typeface="+mn-lt"/>
                <a:cs typeface="+mn-lt"/>
              </a:rPr>
              <a:t> insights from vast datasets, enabling well-informed, strategy-driven choices instead </a:t>
            </a:r>
            <a:r>
              <a:rPr lang="en-US" dirty="0" err="1">
                <a:ea typeface="+mn-lt"/>
                <a:cs typeface="+mn-lt"/>
              </a:rPr>
              <a:t>ofguesswork</a:t>
            </a:r>
            <a:r>
              <a:rPr lang="en-US" dirty="0">
                <a:ea typeface="+mn-lt"/>
                <a:cs typeface="+mn-lt"/>
              </a:rPr>
              <a:t>.</a:t>
            </a:r>
          </a:p>
          <a:p>
            <a:pPr>
              <a:buClr>
                <a:srgbClr val="1287C3"/>
              </a:buClr>
            </a:pPr>
            <a:endParaRPr lang="en-GB" dirty="0"/>
          </a:p>
          <a:p>
            <a:pPr>
              <a:buClr>
                <a:srgbClr val="1287C3"/>
              </a:buClr>
            </a:pPr>
            <a:endParaRPr lang="en-GB" dirty="0"/>
          </a:p>
        </p:txBody>
      </p:sp>
    </p:spTree>
    <p:extLst>
      <p:ext uri="{BB962C8B-B14F-4D97-AF65-F5344CB8AC3E}">
        <p14:creationId xmlns:p14="http://schemas.microsoft.com/office/powerpoint/2010/main" val="170701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8B3B94-5B41-ED38-441B-682703658D88}"/>
              </a:ext>
            </a:extLst>
          </p:cNvPr>
          <p:cNvSpPr txBox="1"/>
          <p:nvPr/>
        </p:nvSpPr>
        <p:spPr>
          <a:xfrm>
            <a:off x="1581511" y="1482206"/>
            <a:ext cx="10437960" cy="541686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buFont typeface=""/>
              <a:buChar char="•"/>
            </a:pPr>
            <a:r>
              <a:rPr lang="en-US" sz="2400" b="1" u="none" strike="noStrike">
                <a:latin typeface="Calibri"/>
                <a:ea typeface="Calibri"/>
                <a:cs typeface="Calibri"/>
              </a:rPr>
              <a:t>E-Commerce &amp; Marketing:</a:t>
            </a:r>
            <a:r>
              <a:rPr lang="en-US" sz="2400" b="0" u="none" strike="noStrike">
                <a:latin typeface="Calibri"/>
                <a:ea typeface="Calibri"/>
                <a:cs typeface="Calibri"/>
              </a:rPr>
              <a:t> Platforms like Shopify allow businesses to sell products globally 24/7, while digital marketing tools track ROI and target audiences precisely.</a:t>
            </a:r>
            <a:endParaRPr lang="en-US" sz="2400" b="0" u="none" strike="noStrike" dirty="0">
              <a:latin typeface="Calibri"/>
              <a:ea typeface="Calibri"/>
              <a:cs typeface="Calibri"/>
            </a:endParaRPr>
          </a:p>
          <a:p>
            <a:pPr>
              <a:buFont typeface=""/>
              <a:buChar char="•"/>
            </a:pPr>
            <a:r>
              <a:rPr lang="en-US" sz="2400" b="1" u="none" strike="noStrike">
                <a:latin typeface="Calibri"/>
                <a:ea typeface="Calibri"/>
                <a:cs typeface="Calibri"/>
              </a:rPr>
              <a:t>Communication &amp; Collaboration:</a:t>
            </a:r>
            <a:r>
              <a:rPr lang="en-US" sz="2400" b="0" u="none" strike="noStrike">
                <a:latin typeface="Calibri"/>
                <a:ea typeface="Calibri"/>
                <a:cs typeface="Calibri"/>
              </a:rPr>
              <a:t> Cloud-based workspaces like Google Workspace and </a:t>
            </a:r>
            <a:r>
              <a:rPr lang="en-US" sz="2400" b="0" strike="noStrike">
                <a:latin typeface="Calibri"/>
                <a:ea typeface="Calibri"/>
                <a:cs typeface="Calibri"/>
              </a:rPr>
              <a:t>Microsoft</a:t>
            </a:r>
            <a:r>
              <a:rPr lang="en-US" sz="2400">
                <a:latin typeface="Calibri"/>
                <a:ea typeface="Calibri"/>
                <a:cs typeface="Calibri"/>
              </a:rPr>
              <a:t> Team</a:t>
            </a:r>
            <a:r>
              <a:rPr lang="en-US" sz="2400" b="0" u="none" strike="noStrike">
                <a:latin typeface="Calibri"/>
                <a:ea typeface="Calibri"/>
                <a:cs typeface="Calibri"/>
              </a:rPr>
              <a:t> enable seamless, real-time collaboration for remote and global teams.</a:t>
            </a:r>
            <a:endParaRPr lang="en-US" sz="2400" b="0" u="none" strike="noStrike" dirty="0">
              <a:latin typeface="Calibri"/>
              <a:ea typeface="Calibri"/>
              <a:cs typeface="Calibri"/>
            </a:endParaRPr>
          </a:p>
          <a:p>
            <a:pPr>
              <a:buFont typeface=""/>
              <a:buChar char="•"/>
            </a:pPr>
            <a:r>
              <a:rPr lang="en-US" sz="2400" b="1" u="none" strike="noStrike" dirty="0">
                <a:latin typeface="Calibri"/>
                <a:ea typeface="Calibri"/>
                <a:cs typeface="Calibri"/>
              </a:rPr>
              <a:t>Process Automation:</a:t>
            </a:r>
            <a:r>
              <a:rPr lang="en-US" sz="2400" b="0" u="none" strike="noStrike" dirty="0">
                <a:latin typeface="Calibri"/>
                <a:ea typeface="Calibri"/>
                <a:cs typeface="Calibri"/>
              </a:rPr>
              <a:t> Routine, repetitive tasks—such as payroll processing, scheduling, and bookkeeping—are automated to save time, eliminate human error, and reduce costs.</a:t>
            </a:r>
          </a:p>
          <a:p>
            <a:pPr>
              <a:buFont typeface=""/>
              <a:buChar char="•"/>
            </a:pPr>
            <a:r>
              <a:rPr lang="en-US" sz="2400" b="1" u="none" strike="noStrike">
                <a:latin typeface="Calibri"/>
                <a:ea typeface="Calibri"/>
                <a:cs typeface="Calibri"/>
              </a:rPr>
              <a:t>Cybersecurity &amp; Data Protection:</a:t>
            </a:r>
            <a:r>
              <a:rPr lang="en-US" sz="2400" b="0" u="none" strike="noStrike">
                <a:latin typeface="Calibri"/>
                <a:ea typeface="Calibri"/>
                <a:cs typeface="Calibri"/>
              </a:rPr>
              <a:t> With increased reliance on digital storage, businesses implement firewalls, data encryption, and multi-factor authentication to safeguard sensitive corporate and customer information.</a:t>
            </a:r>
            <a:endParaRPr lang="en-US" sz="2400" b="0" u="none" strike="noStrike" dirty="0">
              <a:latin typeface="Calibri"/>
              <a:ea typeface="Calibri"/>
              <a:cs typeface="Calibri"/>
            </a:endParaRPr>
          </a:p>
          <a:p>
            <a:endParaRPr lang="en-US" sz="2000" dirty="0"/>
          </a:p>
          <a:p>
            <a:pPr>
              <a:buFont typeface=""/>
              <a:buChar char="•"/>
            </a:pPr>
            <a:endParaRPr lang="en-US" sz="2000" dirty="0">
              <a:latin typeface="Calibri"/>
              <a:ea typeface="Calibri"/>
              <a:cs typeface="Calibri"/>
            </a:endParaRPr>
          </a:p>
          <a:p>
            <a:endParaRPr lang="en-GB"/>
          </a:p>
        </p:txBody>
      </p:sp>
    </p:spTree>
    <p:extLst>
      <p:ext uri="{BB962C8B-B14F-4D97-AF65-F5344CB8AC3E}">
        <p14:creationId xmlns:p14="http://schemas.microsoft.com/office/powerpoint/2010/main" val="2456856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F4A627-C668-5EB3-3CA7-6C14E0CDE6F1}"/>
              </a:ext>
            </a:extLst>
          </p:cNvPr>
          <p:cNvSpPr txBox="1"/>
          <p:nvPr/>
        </p:nvSpPr>
        <p:spPr>
          <a:xfrm>
            <a:off x="1595887" y="1329906"/>
            <a:ext cx="1042358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algn="l" rtl="0">
              <a:buFont typeface=""/>
              <a:buChar char="•"/>
            </a:pPr>
            <a:r>
              <a:rPr lang="en-US" sz="2400" b="1" i="0" u="none" strike="noStrike" baseline="0">
                <a:solidFill>
                  <a:srgbClr val="000000"/>
                </a:solidFill>
                <a:latin typeface="Corbel"/>
                <a:ea typeface="Arial"/>
                <a:cs typeface="Arial"/>
              </a:rPr>
              <a:t>Cloud Computing:</a:t>
            </a:r>
            <a:r>
              <a:rPr lang="en-US" sz="2400" b="0" i="0" u="none" strike="noStrike" baseline="0">
                <a:solidFill>
                  <a:srgbClr val="000000"/>
                </a:solidFill>
                <a:latin typeface="Corbel"/>
                <a:ea typeface="Arial"/>
                <a:cs typeface="Arial"/>
              </a:rPr>
              <a:t> By storing data on remote third-party servers,companies can scalecomputing resources on-demand without the heavyoverhead of maintaining physicalinfrastructure.</a:t>
            </a:r>
            <a:r>
              <a:rPr lang="en-US" sz="2400" b="0" i="0">
                <a:solidFill>
                  <a:srgbClr val="000000"/>
                </a:solidFill>
                <a:latin typeface="Corbel"/>
                <a:ea typeface="Arial"/>
                <a:cs typeface="Arial"/>
              </a:rPr>
              <a:t>​</a:t>
            </a:r>
          </a:p>
          <a:p>
            <a:pPr marL="228600" lvl="0" indent="-228600" algn="l" rtl="0">
              <a:buFont typeface=""/>
              <a:buChar char="•"/>
            </a:pPr>
            <a:r>
              <a:rPr lang="en-US" sz="2400" b="1" i="0" u="none" strike="noStrike" baseline="0">
                <a:solidFill>
                  <a:srgbClr val="000000"/>
                </a:solidFill>
                <a:latin typeface="Corbel"/>
                <a:ea typeface="Arial"/>
                <a:cs typeface="Arial"/>
              </a:rPr>
              <a:t>Human Resource Management (HRM):</a:t>
            </a:r>
            <a:r>
              <a:rPr lang="en-US" sz="2400" b="0" i="0" u="none" strike="noStrike" baseline="0">
                <a:solidFill>
                  <a:srgbClr val="000000"/>
                </a:solidFill>
                <a:latin typeface="Corbel"/>
                <a:ea typeface="Arial"/>
                <a:cs typeface="Arial"/>
              </a:rPr>
              <a:t> Platforms like Workday streamlinerecruitment (viaapplicant tracking), employee onboarding, performancetracking, and payroll administration.</a:t>
            </a:r>
            <a:r>
              <a:rPr lang="en-US" sz="2400" b="0" i="0">
                <a:solidFill>
                  <a:srgbClr val="000000"/>
                </a:solidFill>
                <a:latin typeface="Corbel"/>
                <a:ea typeface="Arial"/>
                <a:cs typeface="Arial"/>
              </a:rPr>
              <a:t>​</a:t>
            </a:r>
          </a:p>
          <a:p>
            <a:pPr marL="228600" lvl="0" indent="-228600" algn="l" rtl="0">
              <a:buFont typeface=""/>
              <a:buChar char="•"/>
            </a:pPr>
            <a:r>
              <a:rPr lang="en-US" sz="2400" b="1" i="0" u="none" strike="noStrike" baseline="0">
                <a:solidFill>
                  <a:srgbClr val="000000"/>
                </a:solidFill>
                <a:latin typeface="Corbel"/>
                <a:ea typeface="Arial"/>
                <a:cs typeface="Arial"/>
              </a:rPr>
              <a:t>Supply Chain Management:</a:t>
            </a:r>
            <a:r>
              <a:rPr lang="en-US" sz="2400" b="0" i="0" u="none" strike="noStrike" baseline="0">
                <a:solidFill>
                  <a:srgbClr val="000000"/>
                </a:solidFill>
                <a:latin typeface="Corbel"/>
                <a:ea typeface="Arial"/>
                <a:cs typeface="Arial"/>
              </a:rPr>
              <a:t> IoT sensors and management systems trackinventory levels in realtime, helping to prevent stockouts, optimize logistics,and ensure prompt order fulfillment.</a:t>
            </a:r>
            <a:r>
              <a:rPr lang="en-GB" sz="2400" b="0" i="0">
                <a:solidFill>
                  <a:srgbClr val="000000"/>
                </a:solidFill>
                <a:latin typeface="Corbel"/>
                <a:ea typeface="Arial"/>
                <a:cs typeface="Arial"/>
              </a:rPr>
              <a:t>​</a:t>
            </a:r>
          </a:p>
          <a:p>
            <a:pPr algn="ctr"/>
            <a:endParaRPr lang="en-GB"/>
          </a:p>
        </p:txBody>
      </p:sp>
    </p:spTree>
    <p:extLst>
      <p:ext uri="{BB962C8B-B14F-4D97-AF65-F5344CB8AC3E}">
        <p14:creationId xmlns:p14="http://schemas.microsoft.com/office/powerpoint/2010/main" val="595137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D6B13-5EEA-B95C-72E1-E783705F33A2}"/>
              </a:ext>
            </a:extLst>
          </p:cNvPr>
          <p:cNvSpPr>
            <a:spLocks noGrp="1"/>
          </p:cNvSpPr>
          <p:nvPr>
            <p:ph type="title"/>
          </p:nvPr>
        </p:nvSpPr>
        <p:spPr/>
        <p:txBody>
          <a:bodyPr/>
          <a:lstStyle/>
          <a:p>
            <a:r>
              <a:rPr lang="en-GB">
                <a:ea typeface="+mj-lt"/>
                <a:cs typeface="+mj-lt"/>
              </a:rPr>
              <a:t>IT Impact on Education</a:t>
            </a:r>
            <a:endParaRPr lang="en-US">
              <a:ea typeface="+mj-lt"/>
              <a:cs typeface="+mj-lt"/>
            </a:endParaRPr>
          </a:p>
        </p:txBody>
      </p:sp>
      <p:sp>
        <p:nvSpPr>
          <p:cNvPr id="3" name="Content Placeholder 2">
            <a:extLst>
              <a:ext uri="{FF2B5EF4-FFF2-40B4-BE49-F238E27FC236}">
                <a16:creationId xmlns:a16="http://schemas.microsoft.com/office/drawing/2014/main" id="{3C0DC6D5-F012-AAF7-2019-ED4A6DD315BC}"/>
              </a:ext>
            </a:extLst>
          </p:cNvPr>
          <p:cNvSpPr>
            <a:spLocks noGrp="1"/>
          </p:cNvSpPr>
          <p:nvPr>
            <p:ph idx="1"/>
          </p:nvPr>
        </p:nvSpPr>
        <p:spPr/>
        <p:txBody>
          <a:bodyPr>
            <a:normAutofit lnSpcReduction="10000"/>
          </a:bodyPr>
          <a:lstStyle/>
          <a:p>
            <a:pPr>
              <a:buClr>
                <a:srgbClr val="1287C3"/>
              </a:buClr>
            </a:pPr>
            <a:r>
              <a:rPr lang="en-GB">
                <a:ea typeface="+mn-lt"/>
                <a:cs typeface="+mn-lt"/>
              </a:rPr>
              <a:t>  IT transforms classrooms and remote learning environments, making education far more dynamic. </a:t>
            </a:r>
            <a:endParaRPr lang="en-US"/>
          </a:p>
          <a:p>
            <a:pPr>
              <a:buClr>
                <a:srgbClr val="1287C3"/>
              </a:buClr>
            </a:pPr>
            <a:r>
              <a:rPr lang="en-GB" b="1">
                <a:ea typeface="+mn-lt"/>
                <a:cs typeface="+mn-lt"/>
              </a:rPr>
              <a:t>Global Access:</a:t>
            </a:r>
            <a:r>
              <a:rPr lang="en-GB">
                <a:ea typeface="+mn-lt"/>
                <a:cs typeface="+mn-lt"/>
              </a:rPr>
              <a:t> Digital libraries, MOOCs (Massive Open Online Courses), and virtual tools empower learners to access quality education regardless of location.</a:t>
            </a:r>
            <a:endParaRPr lang="en-GB" dirty="0">
              <a:ea typeface="+mn-lt"/>
              <a:cs typeface="+mn-lt"/>
            </a:endParaRPr>
          </a:p>
          <a:p>
            <a:pPr>
              <a:buClr>
                <a:srgbClr val="1287C3"/>
              </a:buClr>
            </a:pPr>
            <a:r>
              <a:rPr lang="en-GB" b="1">
                <a:ea typeface="+mn-lt"/>
                <a:cs typeface="+mn-lt"/>
              </a:rPr>
              <a:t>Enhanced Collaboration:</a:t>
            </a:r>
            <a:r>
              <a:rPr lang="en-GB">
                <a:ea typeface="+mn-lt"/>
                <a:cs typeface="+mn-lt"/>
              </a:rPr>
              <a:t> Platforms like Google Workspace and Microsoft Education allow real-time group collaboration and seamless teacher-student communication.</a:t>
            </a:r>
          </a:p>
          <a:p>
            <a:pPr>
              <a:buClr>
                <a:srgbClr val="1287C3"/>
              </a:buClr>
            </a:pPr>
            <a:endParaRPr lang="en-GB" dirty="0">
              <a:ea typeface="+mn-lt"/>
              <a:cs typeface="+mn-lt"/>
            </a:endParaRPr>
          </a:p>
          <a:p>
            <a:pPr>
              <a:buClr>
                <a:srgbClr val="1287C3"/>
              </a:buClr>
            </a:pPr>
            <a:endParaRPr lang="en-GB" dirty="0">
              <a:ea typeface="+mn-lt"/>
              <a:cs typeface="+mn-lt"/>
            </a:endParaRPr>
          </a:p>
        </p:txBody>
      </p:sp>
    </p:spTree>
    <p:extLst>
      <p:ext uri="{BB962C8B-B14F-4D97-AF65-F5344CB8AC3E}">
        <p14:creationId xmlns:p14="http://schemas.microsoft.com/office/powerpoint/2010/main" val="2667211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C6760-1524-FC36-F3CE-954B38DCEC16}"/>
              </a:ext>
            </a:extLst>
          </p:cNvPr>
          <p:cNvSpPr>
            <a:spLocks noGrp="1"/>
          </p:cNvSpPr>
          <p:nvPr>
            <p:ph type="title"/>
          </p:nvPr>
        </p:nvSpPr>
        <p:spPr/>
        <p:txBody>
          <a:bodyPr/>
          <a:lstStyle/>
          <a:p>
            <a:r>
              <a:rPr lang="en-GB">
                <a:ea typeface="+mj-lt"/>
                <a:cs typeface="+mj-lt"/>
              </a:rPr>
              <a:t>IT Impact on Society</a:t>
            </a:r>
            <a:endParaRPr lang="en-US"/>
          </a:p>
        </p:txBody>
      </p:sp>
      <p:sp>
        <p:nvSpPr>
          <p:cNvPr id="3" name="Content Placeholder 2">
            <a:extLst>
              <a:ext uri="{FF2B5EF4-FFF2-40B4-BE49-F238E27FC236}">
                <a16:creationId xmlns:a16="http://schemas.microsoft.com/office/drawing/2014/main" id="{4D145A81-8D7E-E0AD-B948-7C0F88C3EF9A}"/>
              </a:ext>
            </a:extLst>
          </p:cNvPr>
          <p:cNvSpPr>
            <a:spLocks noGrp="1"/>
          </p:cNvSpPr>
          <p:nvPr>
            <p:ph idx="1"/>
          </p:nvPr>
        </p:nvSpPr>
        <p:spPr/>
        <p:txBody>
          <a:bodyPr>
            <a:normAutofit fontScale="92500" lnSpcReduction="20000"/>
          </a:bodyPr>
          <a:lstStyle/>
          <a:p>
            <a:r>
              <a:rPr lang="en-GB">
                <a:ea typeface="+mn-lt"/>
                <a:cs typeface="+mn-lt"/>
              </a:rPr>
              <a:t>The integration of IT extends far beyond academic, fundamentally shaping modern social structures. </a:t>
            </a:r>
          </a:p>
          <a:p>
            <a:pPr>
              <a:buClr>
                <a:srgbClr val="1287C3"/>
              </a:buClr>
            </a:pPr>
            <a:r>
              <a:rPr lang="en-GB" b="1">
                <a:ea typeface="+mn-lt"/>
                <a:cs typeface="+mn-lt"/>
              </a:rPr>
              <a:t>Workforce Preparedness:</a:t>
            </a:r>
            <a:r>
              <a:rPr lang="en-GB">
                <a:ea typeface="+mn-lt"/>
                <a:cs typeface="+mn-lt"/>
              </a:rPr>
              <a:t> Digital fluency is now a baseline requirement for most modern careers.</a:t>
            </a:r>
            <a:endParaRPr lang="en-GB" dirty="0">
              <a:ea typeface="+mn-lt"/>
              <a:cs typeface="+mn-lt"/>
            </a:endParaRPr>
          </a:p>
          <a:p>
            <a:pPr>
              <a:buClr>
                <a:srgbClr val="1287C3"/>
              </a:buClr>
            </a:pPr>
            <a:r>
              <a:rPr lang="en-GB" b="1" dirty="0">
                <a:ea typeface="+mn-lt"/>
                <a:cs typeface="+mn-lt"/>
              </a:rPr>
              <a:t>Community Connection:</a:t>
            </a:r>
            <a:r>
              <a:rPr lang="en-GB" dirty="0">
                <a:ea typeface="+mn-lt"/>
                <a:cs typeface="+mn-lt"/>
              </a:rPr>
              <a:t> Social networks and communication technologies help maintain relationships and organize community initiatives on a global scale.</a:t>
            </a:r>
          </a:p>
          <a:p>
            <a:pPr>
              <a:buClr>
                <a:srgbClr val="1287C3"/>
              </a:buClr>
            </a:pPr>
            <a:r>
              <a:rPr lang="en-GB" b="1" dirty="0">
                <a:ea typeface="+mn-lt"/>
                <a:cs typeface="+mn-lt"/>
              </a:rPr>
              <a:t>Smart Cities &amp; Inclusion:</a:t>
            </a:r>
            <a:r>
              <a:rPr lang="en-GB" dirty="0">
                <a:ea typeface="+mn-lt"/>
                <a:cs typeface="+mn-lt"/>
              </a:rPr>
              <a:t> Municipalities leverage IT to improve public infrastructure, healthcare access, and civic engagement, though equitable access remains a societal goal. </a:t>
            </a:r>
          </a:p>
          <a:p>
            <a:pPr>
              <a:buClr>
                <a:srgbClr val="1287C3"/>
              </a:buClr>
            </a:pPr>
            <a:endParaRPr lang="en-GB" dirty="0">
              <a:ea typeface="+mn-lt"/>
              <a:cs typeface="+mn-lt"/>
            </a:endParaRPr>
          </a:p>
        </p:txBody>
      </p:sp>
    </p:spTree>
    <p:extLst>
      <p:ext uri="{BB962C8B-B14F-4D97-AF65-F5344CB8AC3E}">
        <p14:creationId xmlns:p14="http://schemas.microsoft.com/office/powerpoint/2010/main" val="1085378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262FB-5254-DE87-32CA-A7143E648575}"/>
              </a:ext>
            </a:extLst>
          </p:cNvPr>
          <p:cNvSpPr>
            <a:spLocks noGrp="1"/>
          </p:cNvSpPr>
          <p:nvPr>
            <p:ph type="title"/>
          </p:nvPr>
        </p:nvSpPr>
        <p:spPr/>
        <p:txBody>
          <a:bodyPr/>
          <a:lstStyle/>
          <a:p>
            <a:r>
              <a:rPr lang="en-GB"/>
              <a:t>The role of Information Technology in Modern Business</a:t>
            </a:r>
          </a:p>
        </p:txBody>
      </p:sp>
      <p:sp>
        <p:nvSpPr>
          <p:cNvPr id="3" name="Content Placeholder 2">
            <a:extLst>
              <a:ext uri="{FF2B5EF4-FFF2-40B4-BE49-F238E27FC236}">
                <a16:creationId xmlns:a16="http://schemas.microsoft.com/office/drawing/2014/main" id="{0BA25540-E658-56CC-4F6D-5F5340DC5B24}"/>
              </a:ext>
            </a:extLst>
          </p:cNvPr>
          <p:cNvSpPr>
            <a:spLocks noGrp="1"/>
          </p:cNvSpPr>
          <p:nvPr>
            <p:ph idx="1"/>
          </p:nvPr>
        </p:nvSpPr>
        <p:spPr/>
        <p:txBody>
          <a:bodyPr vert="horz" lIns="91440" tIns="45720" rIns="91440" bIns="45720" rtlCol="0" anchor="ctr">
            <a:noAutofit/>
          </a:bodyPr>
          <a:lstStyle/>
          <a:p>
            <a:endParaRPr lang="en-GB" dirty="0"/>
          </a:p>
          <a:p>
            <a:pPr>
              <a:buClr>
                <a:srgbClr val="1287C3"/>
              </a:buClr>
            </a:pPr>
            <a:endParaRPr lang="en-GB" dirty="0"/>
          </a:p>
          <a:p>
            <a:pPr>
              <a:buClr>
                <a:srgbClr val="1287C3"/>
              </a:buClr>
            </a:pPr>
            <a:r>
              <a:rPr lang="en-GB">
                <a:ea typeface="+mn-lt"/>
                <a:cs typeface="+mn-lt"/>
              </a:rPr>
              <a:t>Information Technology is the backbone of modern business. It drives efficiency, enables global connectivity, and transforms raw data into actionable strategies. Rather than just a support function, IT acts as a primary catalyst for growth, innovation, and competitive advantage across all industries</a:t>
            </a:r>
            <a:endParaRPr lang="en-GB" dirty="0">
              <a:ea typeface="+mn-lt"/>
              <a:cs typeface="+mn-lt"/>
            </a:endParaRPr>
          </a:p>
          <a:p>
            <a:pPr>
              <a:buClr>
                <a:srgbClr val="1287C3"/>
              </a:buClr>
            </a:pPr>
            <a:endParaRPr lang="en-GB" dirty="0"/>
          </a:p>
        </p:txBody>
      </p:sp>
    </p:spTree>
    <p:extLst>
      <p:ext uri="{BB962C8B-B14F-4D97-AF65-F5344CB8AC3E}">
        <p14:creationId xmlns:p14="http://schemas.microsoft.com/office/powerpoint/2010/main" val="2018626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A698-4165-7909-BFE2-2681EDAB2E3F}"/>
              </a:ext>
            </a:extLst>
          </p:cNvPr>
          <p:cNvSpPr>
            <a:spLocks noGrp="1"/>
          </p:cNvSpPr>
          <p:nvPr>
            <p:ph type="title"/>
          </p:nvPr>
        </p:nvSpPr>
        <p:spPr/>
        <p:txBody>
          <a:bodyPr/>
          <a:lstStyle/>
          <a:p>
            <a:r>
              <a:rPr lang="en-GB" dirty="0"/>
              <a:t>Key role of IT in modern bu</a:t>
            </a:r>
            <a:r>
              <a:rPr lang="en-GB"/>
              <a:t>siness </a:t>
            </a:r>
          </a:p>
        </p:txBody>
      </p:sp>
      <p:sp>
        <p:nvSpPr>
          <p:cNvPr id="3" name="Content Placeholder 2">
            <a:extLst>
              <a:ext uri="{FF2B5EF4-FFF2-40B4-BE49-F238E27FC236}">
                <a16:creationId xmlns:a16="http://schemas.microsoft.com/office/drawing/2014/main" id="{8BAADF31-5753-D8D5-EBF7-50945D113763}"/>
              </a:ext>
            </a:extLst>
          </p:cNvPr>
          <p:cNvSpPr>
            <a:spLocks noGrp="1"/>
          </p:cNvSpPr>
          <p:nvPr>
            <p:ph idx="1"/>
          </p:nvPr>
        </p:nvSpPr>
        <p:spPr/>
        <p:txBody>
          <a:bodyPr>
            <a:normAutofit fontScale="92500" lnSpcReduction="10000"/>
          </a:bodyPr>
          <a:lstStyle/>
          <a:p>
            <a:r>
              <a:rPr lang="en-GB" b="1" dirty="0"/>
              <a:t>Strategic Decision Making:</a:t>
            </a:r>
            <a:r>
              <a:rPr lang="en-GB" dirty="0"/>
              <a:t> IT systems gather and </a:t>
            </a:r>
            <a:r>
              <a:rPr lang="en-GB" dirty="0" err="1"/>
              <a:t>analyze</a:t>
            </a:r>
            <a:r>
              <a:rPr lang="en-GB" dirty="0"/>
              <a:t> data to </a:t>
            </a:r>
            <a:r>
              <a:rPr lang="en-GB" dirty="0" err="1"/>
              <a:t>provideactionable</a:t>
            </a:r>
            <a:r>
              <a:rPr lang="en-GB" dirty="0"/>
              <a:t> business intelligence, forecasting market shifts.</a:t>
            </a:r>
            <a:endParaRPr lang="en-US" dirty="0"/>
          </a:p>
          <a:p>
            <a:pPr>
              <a:buClr>
                <a:srgbClr val="1287C3"/>
              </a:buClr>
            </a:pPr>
            <a:r>
              <a:rPr lang="en-GB" b="1" dirty="0"/>
              <a:t>Operational Efficiency:</a:t>
            </a:r>
            <a:r>
              <a:rPr lang="en-GB" dirty="0"/>
              <a:t> Automation replaces manual tasks, </a:t>
            </a:r>
            <a:r>
              <a:rPr lang="en-GB" dirty="0" err="1"/>
              <a:t>reducinghuman</a:t>
            </a:r>
            <a:r>
              <a:rPr lang="en-GB" dirty="0"/>
              <a:t> error, speeding up workflows, and lowering overhead costs.</a:t>
            </a:r>
            <a:endParaRPr lang="en-US" dirty="0"/>
          </a:p>
          <a:p>
            <a:pPr>
              <a:buClr>
                <a:srgbClr val="1287C3"/>
              </a:buClr>
            </a:pPr>
            <a:r>
              <a:rPr lang="en-GB" b="1" dirty="0"/>
              <a:t>Security and Risk Management:</a:t>
            </a:r>
            <a:r>
              <a:rPr lang="en-GB" dirty="0"/>
              <a:t> IT frameworks protect sensitive </a:t>
            </a:r>
            <a:r>
              <a:rPr lang="en-GB" dirty="0" err="1"/>
              <a:t>corporateand</a:t>
            </a:r>
            <a:r>
              <a:rPr lang="en-GB" dirty="0"/>
              <a:t> customer data from cyber threats to maintain brand trust.</a:t>
            </a:r>
            <a:endParaRPr lang="en-US" dirty="0"/>
          </a:p>
          <a:p>
            <a:pPr>
              <a:buClr>
                <a:srgbClr val="1287C3"/>
              </a:buClr>
            </a:pPr>
            <a:r>
              <a:rPr lang="en-GB" b="1" dirty="0"/>
              <a:t>Global Connectivity:</a:t>
            </a:r>
            <a:r>
              <a:rPr lang="en-GB" dirty="0"/>
              <a:t> It breaks down geographical barriers, allowing </a:t>
            </a:r>
            <a:r>
              <a:rPr lang="en-GB" dirty="0" err="1"/>
              <a:t>teamsto</a:t>
            </a:r>
            <a:r>
              <a:rPr lang="en-GB" dirty="0"/>
              <a:t> collaborate remotely and access global markets.</a:t>
            </a:r>
          </a:p>
        </p:txBody>
      </p:sp>
    </p:spTree>
    <p:extLst>
      <p:ext uri="{BB962C8B-B14F-4D97-AF65-F5344CB8AC3E}">
        <p14:creationId xmlns:p14="http://schemas.microsoft.com/office/powerpoint/2010/main" val="2127311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5FC9-F3C3-781B-E431-03B884EAE326}"/>
              </a:ext>
            </a:extLst>
          </p:cNvPr>
          <p:cNvSpPr>
            <a:spLocks noGrp="1"/>
          </p:cNvSpPr>
          <p:nvPr>
            <p:ph type="title"/>
          </p:nvPr>
        </p:nvSpPr>
        <p:spPr/>
        <p:txBody>
          <a:bodyPr>
            <a:normAutofit/>
          </a:bodyPr>
          <a:lstStyle/>
          <a:p>
            <a:pPr marL="285750" indent="-285750">
              <a:spcBef>
                <a:spcPct val="20000"/>
              </a:spcBef>
              <a:spcAft>
                <a:spcPts val="600"/>
              </a:spcAft>
            </a:pPr>
            <a:r>
              <a:rPr lang="en-GB">
                <a:ea typeface="+mj-lt"/>
                <a:cs typeface="+mj-lt"/>
              </a:rPr>
              <a:t>      Importance of information </a:t>
            </a:r>
            <a:r>
              <a:rPr lang="en-GB" dirty="0">
                <a:ea typeface="+mj-lt"/>
                <a:cs typeface="+mj-lt"/>
              </a:rPr>
              <a:t>systems for businesses.</a:t>
            </a:r>
            <a:endParaRPr lang="en-US" dirty="0">
              <a:ea typeface="+mj-lt"/>
              <a:cs typeface="+mj-lt"/>
            </a:endParaRPr>
          </a:p>
        </p:txBody>
      </p:sp>
      <p:sp>
        <p:nvSpPr>
          <p:cNvPr id="3" name="Content Placeholder 2">
            <a:extLst>
              <a:ext uri="{FF2B5EF4-FFF2-40B4-BE49-F238E27FC236}">
                <a16:creationId xmlns:a16="http://schemas.microsoft.com/office/drawing/2014/main" id="{4A690C55-644B-6745-851D-B53BFACC13DC}"/>
              </a:ext>
            </a:extLst>
          </p:cNvPr>
          <p:cNvSpPr>
            <a:spLocks noGrp="1"/>
          </p:cNvSpPr>
          <p:nvPr>
            <p:ph idx="1"/>
          </p:nvPr>
        </p:nvSpPr>
        <p:spPr>
          <a:xfrm>
            <a:off x="1484310" y="3055188"/>
            <a:ext cx="10018713" cy="3124201"/>
          </a:xfrm>
        </p:spPr>
        <p:txBody>
          <a:bodyPr vert="horz" lIns="91440" tIns="45720" rIns="91440" bIns="45720" rtlCol="0" anchor="ctr">
            <a:noAutofit/>
          </a:bodyPr>
          <a:lstStyle/>
          <a:p>
            <a:r>
              <a:rPr lang="en-GB" sz="2000">
                <a:ea typeface="+mn-lt"/>
                <a:cs typeface="+mn-lt"/>
              </a:rPr>
              <a:t>1) operational excellence, </a:t>
            </a:r>
            <a:endParaRPr lang="en-US" sz="2000"/>
          </a:p>
          <a:p>
            <a:pPr>
              <a:buClr>
                <a:srgbClr val="1287C3"/>
              </a:buClr>
            </a:pPr>
            <a:r>
              <a:rPr lang="en-GB" sz="2000" dirty="0">
                <a:ea typeface="+mn-lt"/>
                <a:cs typeface="+mn-lt"/>
              </a:rPr>
              <a:t>2) new products/services/business models, </a:t>
            </a:r>
          </a:p>
          <a:p>
            <a:pPr>
              <a:buClr>
                <a:srgbClr val="1287C3"/>
              </a:buClr>
            </a:pPr>
            <a:r>
              <a:rPr lang="en-GB" sz="2000" dirty="0">
                <a:ea typeface="+mn-lt"/>
                <a:cs typeface="+mn-lt"/>
              </a:rPr>
              <a:t>3) customer/supplier intimacy, </a:t>
            </a:r>
          </a:p>
          <a:p>
            <a:pPr>
              <a:buClr>
                <a:srgbClr val="1287C3"/>
              </a:buClr>
            </a:pPr>
            <a:r>
              <a:rPr lang="en-GB" sz="2000">
                <a:ea typeface="+mn-lt"/>
                <a:cs typeface="+mn-lt"/>
              </a:rPr>
              <a:t>4) </a:t>
            </a:r>
            <a:r>
              <a:rPr lang="en-GB" sz="2000" dirty="0">
                <a:ea typeface="+mn-lt"/>
                <a:cs typeface="+mn-lt"/>
              </a:rPr>
              <a:t>improved decision making, </a:t>
            </a:r>
          </a:p>
          <a:p>
            <a:pPr>
              <a:buClr>
                <a:srgbClr val="1287C3"/>
              </a:buClr>
            </a:pPr>
            <a:r>
              <a:rPr lang="en-GB" sz="2000">
                <a:ea typeface="+mn-lt"/>
                <a:cs typeface="+mn-lt"/>
              </a:rPr>
              <a:t>5) competitive advantage, </a:t>
            </a:r>
            <a:endParaRPr lang="en-GB" sz="2000" dirty="0">
              <a:ea typeface="+mn-lt"/>
              <a:cs typeface="+mn-lt"/>
            </a:endParaRPr>
          </a:p>
          <a:p>
            <a:pPr>
              <a:buClr>
                <a:srgbClr val="1287C3"/>
              </a:buClr>
            </a:pPr>
            <a:r>
              <a:rPr lang="en-GB" sz="2000">
                <a:ea typeface="+mn-lt"/>
                <a:cs typeface="+mn-lt"/>
              </a:rPr>
              <a:t>6) data governance,      and </a:t>
            </a:r>
            <a:endParaRPr lang="en-GB" sz="2000" dirty="0">
              <a:ea typeface="+mn-lt"/>
              <a:cs typeface="+mn-lt"/>
            </a:endParaRPr>
          </a:p>
          <a:p>
            <a:pPr>
              <a:buClr>
                <a:srgbClr val="1287C3"/>
              </a:buClr>
            </a:pPr>
            <a:r>
              <a:rPr lang="en-GB" sz="2000" dirty="0">
                <a:ea typeface="+mn-lt"/>
                <a:cs typeface="+mn-lt"/>
              </a:rPr>
              <a:t>7) survival.     It argues that information systems allow businesses to run more efficiently, develop new opportunities, better serve customers and suppliers, make more informed decisions, gain competitive edges, effectively manage data, and remain viable in today's digital business environment</a:t>
            </a:r>
            <a:endParaRPr lang="en-GB" sz="2000"/>
          </a:p>
        </p:txBody>
      </p:sp>
    </p:spTree>
    <p:extLst>
      <p:ext uri="{BB962C8B-B14F-4D97-AF65-F5344CB8AC3E}">
        <p14:creationId xmlns:p14="http://schemas.microsoft.com/office/powerpoint/2010/main" val="4015218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D31E-44F0-F01E-0D33-1E78ACCCCA60}"/>
              </a:ext>
            </a:extLst>
          </p:cNvPr>
          <p:cNvSpPr>
            <a:spLocks noGrp="1"/>
          </p:cNvSpPr>
          <p:nvPr>
            <p:ph type="title"/>
          </p:nvPr>
        </p:nvSpPr>
        <p:spPr/>
        <p:txBody>
          <a:bodyPr/>
          <a:lstStyle/>
          <a:p>
            <a:r>
              <a:rPr lang="en-GB" dirty="0"/>
              <a:t>Enterprise </a:t>
            </a:r>
            <a:r>
              <a:rPr lang="en-GB"/>
              <a:t>Resource Planning</a:t>
            </a:r>
            <a:endParaRPr lang="en-GB" dirty="0"/>
          </a:p>
        </p:txBody>
      </p:sp>
      <p:sp>
        <p:nvSpPr>
          <p:cNvPr id="3" name="Content Placeholder 2">
            <a:extLst>
              <a:ext uri="{FF2B5EF4-FFF2-40B4-BE49-F238E27FC236}">
                <a16:creationId xmlns:a16="http://schemas.microsoft.com/office/drawing/2014/main" id="{7C39DF55-58FE-CA4B-E6D8-CE9D11441A82}"/>
              </a:ext>
            </a:extLst>
          </p:cNvPr>
          <p:cNvSpPr>
            <a:spLocks noGrp="1"/>
          </p:cNvSpPr>
          <p:nvPr>
            <p:ph idx="1"/>
          </p:nvPr>
        </p:nvSpPr>
        <p:spPr/>
        <p:txBody>
          <a:bodyPr>
            <a:normAutofit/>
          </a:bodyPr>
          <a:lstStyle/>
          <a:p>
            <a:r>
              <a:rPr lang="en-GB">
                <a:ea typeface="+mn-lt"/>
                <a:cs typeface="+mn-lt"/>
              </a:rPr>
              <a:t>An ERP system is a type of business management software that organizations use to integrate and automate core business processes, resulting in improved efficiency and decision-making. Cloud-based ERP solutions provide additional benefits by using AI to streamline operations and generate real-time insights. By connecting data across departments and centralizing workflows, ERP systems deliver the agility and scalability your business needs to drive growth and innovation.</a:t>
            </a:r>
            <a:endParaRPr lang="en-GB" dirty="0">
              <a:ea typeface="+mn-lt"/>
              <a:cs typeface="+mn-lt"/>
            </a:endParaRPr>
          </a:p>
        </p:txBody>
      </p:sp>
    </p:spTree>
    <p:extLst>
      <p:ext uri="{BB962C8B-B14F-4D97-AF65-F5344CB8AC3E}">
        <p14:creationId xmlns:p14="http://schemas.microsoft.com/office/powerpoint/2010/main" val="1358147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B1B9-51CD-BA6A-A2E6-3072E1BB924D}"/>
              </a:ext>
            </a:extLst>
          </p:cNvPr>
          <p:cNvSpPr>
            <a:spLocks noGrp="1"/>
          </p:cNvSpPr>
          <p:nvPr>
            <p:ph type="title"/>
          </p:nvPr>
        </p:nvSpPr>
        <p:spPr/>
        <p:txBody>
          <a:bodyPr/>
          <a:lstStyle/>
          <a:p>
            <a:r>
              <a:rPr lang="en-GB"/>
              <a:t>Key Features of  ERP Systems</a:t>
            </a:r>
          </a:p>
        </p:txBody>
      </p:sp>
      <p:sp>
        <p:nvSpPr>
          <p:cNvPr id="3" name="Content Placeholder 2">
            <a:extLst>
              <a:ext uri="{FF2B5EF4-FFF2-40B4-BE49-F238E27FC236}">
                <a16:creationId xmlns:a16="http://schemas.microsoft.com/office/drawing/2014/main" id="{F3AF105C-A087-11AB-5DAE-DCD4B14E324A}"/>
              </a:ext>
            </a:extLst>
          </p:cNvPr>
          <p:cNvSpPr>
            <a:spLocks noGrp="1"/>
          </p:cNvSpPr>
          <p:nvPr>
            <p:ph idx="1"/>
          </p:nvPr>
        </p:nvSpPr>
        <p:spPr>
          <a:xfrm>
            <a:off x="1484310" y="2666999"/>
            <a:ext cx="10018713" cy="4346275"/>
          </a:xfrm>
        </p:spPr>
        <p:txBody>
          <a:bodyPr>
            <a:normAutofit fontScale="92500" lnSpcReduction="20000"/>
          </a:bodyPr>
          <a:lstStyle/>
          <a:p>
            <a:r>
              <a:rPr lang="en-GB" b="1" dirty="0">
                <a:ea typeface="+mn-lt"/>
                <a:cs typeface="+mn-lt"/>
              </a:rPr>
              <a:t>Integrated System:</a:t>
            </a:r>
            <a:r>
              <a:rPr lang="en-GB" dirty="0">
                <a:ea typeface="+mn-lt"/>
                <a:cs typeface="+mn-lt"/>
              </a:rPr>
              <a:t> Connects various departments (e.g., HR, Finance, Supply Chain) to share information instantly, creating a "single source of truth" and eliminating data silos.</a:t>
            </a:r>
            <a:endParaRPr lang="en-GB" dirty="0"/>
          </a:p>
          <a:p>
            <a:pPr>
              <a:buClr>
                <a:srgbClr val="1287C3"/>
              </a:buClr>
            </a:pPr>
            <a:r>
              <a:rPr lang="en-GB" b="1">
                <a:ea typeface="+mn-lt"/>
                <a:cs typeface="+mn-lt"/>
              </a:rPr>
              <a:t>Modular Structure:</a:t>
            </a:r>
            <a:r>
              <a:rPr lang="en-GB">
                <a:ea typeface="+mn-lt"/>
                <a:cs typeface="+mn-lt"/>
              </a:rPr>
              <a:t> Composed of separate modules (e.g., finance, inventory) that can be implemented as needed, allowing for flexibility and scalability as businesses grow.</a:t>
            </a:r>
            <a:endParaRPr lang="en-GB"/>
          </a:p>
          <a:p>
            <a:pPr>
              <a:buClr>
                <a:srgbClr val="1287C3"/>
              </a:buClr>
            </a:pPr>
            <a:r>
              <a:rPr lang="en-GB" b="1">
                <a:ea typeface="+mn-lt"/>
                <a:cs typeface="+mn-lt"/>
              </a:rPr>
              <a:t>Real-time Data Access:</a:t>
            </a:r>
            <a:r>
              <a:rPr lang="en-GB">
                <a:ea typeface="+mn-lt"/>
                <a:cs typeface="+mn-lt"/>
              </a:rPr>
              <a:t> Provides instantaneous updates and reporting across the organization, enabling faster, data-driven decisions and better forecasting.</a:t>
            </a:r>
            <a:endParaRPr lang="en-GB" dirty="0"/>
          </a:p>
          <a:p>
            <a:pPr>
              <a:buClr>
                <a:srgbClr val="1287C3"/>
              </a:buClr>
            </a:pPr>
            <a:r>
              <a:rPr lang="en-GB" b="1">
                <a:ea typeface="+mn-lt"/>
                <a:cs typeface="+mn-lt"/>
              </a:rPr>
              <a:t>Automation of Processes:</a:t>
            </a:r>
            <a:r>
              <a:rPr lang="en-GB">
                <a:ea typeface="+mn-lt"/>
                <a:cs typeface="+mn-lt"/>
              </a:rPr>
              <a:t> Streamlines routine, manual tasks such as invoicing, inventory tracking, and payroll, which increases productivity and reduces human error.</a:t>
            </a:r>
            <a:endParaRPr lang="en-GB"/>
          </a:p>
          <a:p>
            <a:pPr>
              <a:buClr>
                <a:srgbClr val="1287C3"/>
              </a:buClr>
            </a:pPr>
            <a:r>
              <a:rPr lang="en-GB" b="1">
                <a:ea typeface="+mn-lt"/>
                <a:cs typeface="+mn-lt"/>
              </a:rPr>
              <a:t>Centralized Database:</a:t>
            </a:r>
            <a:r>
              <a:rPr lang="en-GB">
                <a:ea typeface="+mn-lt"/>
                <a:cs typeface="+mn-lt"/>
              </a:rPr>
              <a:t> Stores all organizational data in one place, ensuring data consistency and security.</a:t>
            </a:r>
            <a:endParaRPr lang="en-GB"/>
          </a:p>
          <a:p>
            <a:pPr>
              <a:buClr>
                <a:srgbClr val="1287C3"/>
              </a:buClr>
            </a:pPr>
            <a:endParaRPr lang="en-GB" dirty="0"/>
          </a:p>
        </p:txBody>
      </p:sp>
    </p:spTree>
    <p:extLst>
      <p:ext uri="{BB962C8B-B14F-4D97-AF65-F5344CB8AC3E}">
        <p14:creationId xmlns:p14="http://schemas.microsoft.com/office/powerpoint/2010/main" val="1587457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4548-73E0-48E4-C52E-5E899A7D4BA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DE162F3-E798-BD68-C62B-F53BBA3BB87C}"/>
              </a:ext>
            </a:extLst>
          </p:cNvPr>
          <p:cNvSpPr>
            <a:spLocks noGrp="1"/>
          </p:cNvSpPr>
          <p:nvPr>
            <p:ph idx="1"/>
          </p:nvPr>
        </p:nvSpPr>
        <p:spPr/>
        <p:txBody>
          <a:bodyPr>
            <a:normAutofit lnSpcReduction="10000"/>
          </a:bodyPr>
          <a:lstStyle/>
          <a:p>
            <a:r>
              <a:rPr lang="en-GB" b="1">
                <a:ea typeface="+mn-lt"/>
                <a:cs typeface="+mn-lt"/>
              </a:rPr>
              <a:t>Standardization of Business Processes:</a:t>
            </a:r>
            <a:r>
              <a:rPr lang="en-GB">
                <a:ea typeface="+mn-lt"/>
                <a:cs typeface="+mn-lt"/>
              </a:rPr>
              <a:t> Implements uniform best practices and workflows across different departments and locations, improving consistency and reducing operational inefficiencies.</a:t>
            </a:r>
            <a:endParaRPr lang="en-GB"/>
          </a:p>
          <a:p>
            <a:pPr>
              <a:buClr>
                <a:srgbClr val="1287C3"/>
              </a:buClr>
            </a:pPr>
            <a:r>
              <a:rPr lang="en-GB" b="1">
                <a:ea typeface="+mn-lt"/>
                <a:cs typeface="+mn-lt"/>
              </a:rPr>
              <a:t>Customization and Flexibility:</a:t>
            </a:r>
            <a:r>
              <a:rPr lang="en-GB">
                <a:ea typeface="+mn-lt"/>
                <a:cs typeface="+mn-lt"/>
              </a:rPr>
              <a:t> Allows for tailoring the software to meet specific business needs, such as adapting to different languages, currencies, or specialized industry requirements.</a:t>
            </a:r>
            <a:endParaRPr lang="en-GB"/>
          </a:p>
          <a:p>
            <a:pPr>
              <a:buClr>
                <a:srgbClr val="1287C3"/>
              </a:buClr>
            </a:pPr>
            <a:r>
              <a:rPr lang="en-GB" b="1" dirty="0">
                <a:ea typeface="+mn-lt"/>
                <a:cs typeface="+mn-lt"/>
              </a:rPr>
              <a:t>Robust Security and Compliance:</a:t>
            </a:r>
            <a:r>
              <a:rPr lang="en-GB" dirty="0">
                <a:ea typeface="+mn-lt"/>
                <a:cs typeface="+mn-lt"/>
              </a:rPr>
              <a:t> Offers advanced data security controls and assists with regulatory compliance</a:t>
            </a:r>
            <a:endParaRPr lang="en-GB" dirty="0"/>
          </a:p>
          <a:p>
            <a:pPr>
              <a:buClr>
                <a:srgbClr val="1287C3"/>
              </a:buClr>
            </a:pPr>
            <a:endParaRPr lang="en-GB" dirty="0"/>
          </a:p>
        </p:txBody>
      </p:sp>
    </p:spTree>
    <p:extLst>
      <p:ext uri="{BB962C8B-B14F-4D97-AF65-F5344CB8AC3E}">
        <p14:creationId xmlns:p14="http://schemas.microsoft.com/office/powerpoint/2010/main" val="3558900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4F081-60E5-EE1F-AB46-D0B9789D1C51}"/>
              </a:ext>
            </a:extLst>
          </p:cNvPr>
          <p:cNvSpPr>
            <a:spLocks noGrp="1"/>
          </p:cNvSpPr>
          <p:nvPr>
            <p:ph type="title"/>
          </p:nvPr>
        </p:nvSpPr>
        <p:spPr/>
        <p:txBody>
          <a:bodyPr/>
          <a:lstStyle/>
          <a:p>
            <a:r>
              <a:rPr lang="en-GB"/>
              <a:t>Core Modules in ERP</a:t>
            </a:r>
          </a:p>
        </p:txBody>
      </p:sp>
      <p:sp>
        <p:nvSpPr>
          <p:cNvPr id="3" name="Content Placeholder 2">
            <a:extLst>
              <a:ext uri="{FF2B5EF4-FFF2-40B4-BE49-F238E27FC236}">
                <a16:creationId xmlns:a16="http://schemas.microsoft.com/office/drawing/2014/main" id="{3B044047-171A-54FF-4CBC-AC236425EECD}"/>
              </a:ext>
            </a:extLst>
          </p:cNvPr>
          <p:cNvSpPr>
            <a:spLocks noGrp="1"/>
          </p:cNvSpPr>
          <p:nvPr>
            <p:ph idx="1"/>
          </p:nvPr>
        </p:nvSpPr>
        <p:spPr/>
        <p:txBody>
          <a:bodyPr>
            <a:normAutofit fontScale="92500" lnSpcReduction="10000"/>
          </a:bodyPr>
          <a:lstStyle/>
          <a:p>
            <a:r>
              <a:rPr lang="en-GB">
                <a:ea typeface="+mn-lt"/>
                <a:cs typeface="+mn-lt"/>
              </a:rPr>
              <a:t>Financial Management</a:t>
            </a:r>
          </a:p>
          <a:p>
            <a:pPr>
              <a:buClr>
                <a:srgbClr val="1287C3"/>
              </a:buClr>
            </a:pPr>
            <a:r>
              <a:rPr lang="en-GB">
                <a:ea typeface="+mn-lt"/>
                <a:cs typeface="+mn-lt"/>
              </a:rPr>
              <a:t>Human Resources Management (HCM/HRM)</a:t>
            </a:r>
          </a:p>
          <a:p>
            <a:pPr>
              <a:buClr>
                <a:srgbClr val="1287C3"/>
              </a:buClr>
            </a:pPr>
            <a:r>
              <a:rPr lang="en-GB">
                <a:ea typeface="+mn-lt"/>
                <a:cs typeface="+mn-lt"/>
              </a:rPr>
              <a:t>Supply Chain Management (SCM)</a:t>
            </a:r>
          </a:p>
          <a:p>
            <a:pPr>
              <a:buClr>
                <a:srgbClr val="1287C3"/>
              </a:buClr>
            </a:pPr>
            <a:r>
              <a:rPr lang="en-GB">
                <a:ea typeface="+mn-lt"/>
                <a:cs typeface="+mn-lt"/>
              </a:rPr>
              <a:t>Manufacturing/Production</a:t>
            </a:r>
          </a:p>
          <a:p>
            <a:pPr>
              <a:buClr>
                <a:srgbClr val="1287C3"/>
              </a:buClr>
            </a:pPr>
            <a:r>
              <a:rPr lang="en-GB">
                <a:ea typeface="+mn-lt"/>
                <a:cs typeface="+mn-lt"/>
              </a:rPr>
              <a:t>Inventory and Warehouse Management</a:t>
            </a:r>
          </a:p>
          <a:p>
            <a:pPr>
              <a:buClr>
                <a:srgbClr val="1287C3"/>
              </a:buClr>
            </a:pPr>
            <a:r>
              <a:rPr lang="en-GB">
                <a:ea typeface="+mn-lt"/>
                <a:cs typeface="+mn-lt"/>
              </a:rPr>
              <a:t>Sales and Customer Relationship Management (CRM)</a:t>
            </a:r>
          </a:p>
          <a:p>
            <a:pPr>
              <a:buClr>
                <a:srgbClr val="1287C3"/>
              </a:buClr>
            </a:pPr>
            <a:r>
              <a:rPr lang="en-GB">
                <a:ea typeface="+mn-lt"/>
                <a:cs typeface="+mn-lt"/>
              </a:rPr>
              <a:t>Procurement/Supplier Management</a:t>
            </a:r>
            <a:endParaRPr lang="en-GB" dirty="0">
              <a:ea typeface="+mn-lt"/>
              <a:cs typeface="+mn-lt"/>
            </a:endParaRPr>
          </a:p>
        </p:txBody>
      </p:sp>
    </p:spTree>
    <p:extLst>
      <p:ext uri="{BB962C8B-B14F-4D97-AF65-F5344CB8AC3E}">
        <p14:creationId xmlns:p14="http://schemas.microsoft.com/office/powerpoint/2010/main" val="3783105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0867-C967-DA36-4133-8AFCAB50C5DF}"/>
              </a:ext>
            </a:extLst>
          </p:cNvPr>
          <p:cNvSpPr>
            <a:spLocks noGrp="1"/>
          </p:cNvSpPr>
          <p:nvPr>
            <p:ph type="title"/>
          </p:nvPr>
        </p:nvSpPr>
        <p:spPr/>
        <p:txBody>
          <a:bodyPr/>
          <a:lstStyle/>
          <a:p>
            <a:r>
              <a:rPr lang="en-GB"/>
              <a:t>Benefits of ERP</a:t>
            </a:r>
            <a:endParaRPr lang="en-US"/>
          </a:p>
          <a:p>
            <a:endParaRPr lang="en-GB" dirty="0"/>
          </a:p>
        </p:txBody>
      </p:sp>
      <p:sp>
        <p:nvSpPr>
          <p:cNvPr id="3" name="Content Placeholder 2">
            <a:extLst>
              <a:ext uri="{FF2B5EF4-FFF2-40B4-BE49-F238E27FC236}">
                <a16:creationId xmlns:a16="http://schemas.microsoft.com/office/drawing/2014/main" id="{BC5A2C39-312F-9F1D-6C0D-CF36A6721BE3}"/>
              </a:ext>
            </a:extLst>
          </p:cNvPr>
          <p:cNvSpPr>
            <a:spLocks noGrp="1"/>
          </p:cNvSpPr>
          <p:nvPr>
            <p:ph idx="1"/>
          </p:nvPr>
        </p:nvSpPr>
        <p:spPr>
          <a:xfrm>
            <a:off x="1484310" y="2666999"/>
            <a:ext cx="10018713" cy="4173748"/>
          </a:xfrm>
        </p:spPr>
        <p:txBody>
          <a:bodyPr>
            <a:normAutofit fontScale="92500" lnSpcReduction="20000"/>
          </a:bodyPr>
          <a:lstStyle/>
          <a:p>
            <a:r>
              <a:rPr lang="en-GB" b="1">
                <a:ea typeface="+mn-lt"/>
                <a:cs typeface="+mn-lt"/>
              </a:rPr>
              <a:t>Higher productivity:</a:t>
            </a:r>
            <a:r>
              <a:rPr lang="en-GB">
                <a:ea typeface="+mn-lt"/>
                <a:cs typeface="+mn-lt"/>
              </a:rPr>
              <a:t> Streamline and automate core business processes so people throughout the organization can do more with fewer resources</a:t>
            </a:r>
            <a:endParaRPr lang="en-GB"/>
          </a:p>
          <a:p>
            <a:r>
              <a:rPr lang="en-GB" b="1" dirty="0">
                <a:ea typeface="+mn-lt"/>
                <a:cs typeface="+mn-lt"/>
              </a:rPr>
              <a:t>Deeper insights:</a:t>
            </a:r>
            <a:r>
              <a:rPr lang="en-GB" dirty="0">
                <a:ea typeface="+mn-lt"/>
                <a:cs typeface="+mn-lt"/>
              </a:rPr>
              <a:t> Eliminate information silos, gain a single source of truth, and get fast answers to mission-critical business questions</a:t>
            </a:r>
            <a:endParaRPr lang="en-GB" dirty="0"/>
          </a:p>
          <a:p>
            <a:r>
              <a:rPr lang="en-GB" b="1">
                <a:ea typeface="+mn-lt"/>
                <a:cs typeface="+mn-lt"/>
              </a:rPr>
              <a:t>Accelerated reporting:</a:t>
            </a:r>
            <a:r>
              <a:rPr lang="en-GB">
                <a:ea typeface="+mn-lt"/>
                <a:cs typeface="+mn-lt"/>
              </a:rPr>
              <a:t> Fast-track business and financial reporting and easily share results to act on insights and improve performance in real time</a:t>
            </a:r>
            <a:endParaRPr lang="en-GB"/>
          </a:p>
          <a:p>
            <a:r>
              <a:rPr lang="en-GB" b="1">
                <a:ea typeface="+mn-lt"/>
                <a:cs typeface="+mn-lt"/>
              </a:rPr>
              <a:t>Lower risk:</a:t>
            </a:r>
            <a:r>
              <a:rPr lang="en-GB">
                <a:ea typeface="+mn-lt"/>
                <a:cs typeface="+mn-lt"/>
              </a:rPr>
              <a:t> Maximize business visibility and control, ensure compliance with regulatory requirements, and predict and prevent risk</a:t>
            </a:r>
            <a:endParaRPr lang="en-GB"/>
          </a:p>
          <a:p>
            <a:r>
              <a:rPr lang="en-GB" b="1">
                <a:ea typeface="+mn-lt"/>
                <a:cs typeface="+mn-lt"/>
              </a:rPr>
              <a:t>Simpler IT:</a:t>
            </a:r>
            <a:r>
              <a:rPr lang="en-GB">
                <a:ea typeface="+mn-lt"/>
                <a:cs typeface="+mn-lt"/>
              </a:rPr>
              <a:t> Use integrated ERP applications that share a database to simplify IT and give everyone an easier way to work</a:t>
            </a:r>
            <a:endParaRPr lang="en-GB"/>
          </a:p>
          <a:p>
            <a:r>
              <a:rPr lang="en-GB" b="1" dirty="0">
                <a:ea typeface="+mn-lt"/>
                <a:cs typeface="+mn-lt"/>
              </a:rPr>
              <a:t>Improved agility:</a:t>
            </a:r>
            <a:r>
              <a:rPr lang="en-GB" dirty="0">
                <a:ea typeface="+mn-lt"/>
                <a:cs typeface="+mn-lt"/>
              </a:rPr>
              <a:t> Identify and react to new opportunities with efficient operations and ready access to real-time data</a:t>
            </a:r>
            <a:endParaRPr lang="en-GB" dirty="0"/>
          </a:p>
          <a:p>
            <a:pPr>
              <a:buClr>
                <a:srgbClr val="1287C3"/>
              </a:buClr>
            </a:pPr>
            <a:endParaRPr lang="en-GB" dirty="0"/>
          </a:p>
        </p:txBody>
      </p:sp>
    </p:spTree>
    <p:extLst>
      <p:ext uri="{BB962C8B-B14F-4D97-AF65-F5344CB8AC3E}">
        <p14:creationId xmlns:p14="http://schemas.microsoft.com/office/powerpoint/2010/main" val="4095038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0604-EB55-E03B-3600-7E39BDA34564}"/>
              </a:ext>
            </a:extLst>
          </p:cNvPr>
          <p:cNvSpPr>
            <a:spLocks noGrp="1"/>
          </p:cNvSpPr>
          <p:nvPr>
            <p:ph type="title"/>
          </p:nvPr>
        </p:nvSpPr>
        <p:spPr/>
        <p:txBody>
          <a:bodyPr/>
          <a:lstStyle/>
          <a:p>
            <a:r>
              <a:rPr lang="en-GB" b="1"/>
              <a:t>Popular ERP systems</a:t>
            </a:r>
            <a:endParaRPr lang="en-US"/>
          </a:p>
          <a:p>
            <a:endParaRPr lang="en-GB" dirty="0"/>
          </a:p>
        </p:txBody>
      </p:sp>
      <p:sp>
        <p:nvSpPr>
          <p:cNvPr id="3" name="Content Placeholder 2">
            <a:extLst>
              <a:ext uri="{FF2B5EF4-FFF2-40B4-BE49-F238E27FC236}">
                <a16:creationId xmlns:a16="http://schemas.microsoft.com/office/drawing/2014/main" id="{05B2B0E8-4E27-6A0E-3C33-2F4C0DAF52A5}"/>
              </a:ext>
            </a:extLst>
          </p:cNvPr>
          <p:cNvSpPr>
            <a:spLocks noGrp="1"/>
          </p:cNvSpPr>
          <p:nvPr>
            <p:ph idx="1"/>
          </p:nvPr>
        </p:nvSpPr>
        <p:spPr>
          <a:xfrm>
            <a:off x="1728725" y="2120659"/>
            <a:ext cx="10018713" cy="5050767"/>
          </a:xfrm>
        </p:spPr>
        <p:txBody>
          <a:bodyPr>
            <a:normAutofit fontScale="85000" lnSpcReduction="20000"/>
          </a:bodyPr>
          <a:lstStyle/>
          <a:p>
            <a:r>
              <a:rPr lang="en-GB" b="1">
                <a:ea typeface="+mn-lt"/>
                <a:cs typeface="+mn-lt"/>
              </a:rPr>
              <a:t>SAP ERP:</a:t>
            </a:r>
            <a:r>
              <a:rPr lang="en-GB">
                <a:ea typeface="+mn-lt"/>
                <a:cs typeface="+mn-lt"/>
              </a:rPr>
              <a:t> Enterprise suite for finance, HR, manufacturing, and supply chain with strong analytics and compliance features.</a:t>
            </a:r>
            <a:endParaRPr lang="en-GB"/>
          </a:p>
          <a:p>
            <a:pPr>
              <a:buClr>
                <a:srgbClr val="1287C3"/>
              </a:buClr>
            </a:pPr>
            <a:r>
              <a:rPr lang="en-GB" b="1">
                <a:ea typeface="+mn-lt"/>
                <a:cs typeface="+mn-lt"/>
              </a:rPr>
              <a:t>Oracle ERP Cloud:</a:t>
            </a:r>
            <a:r>
              <a:rPr lang="en-GB">
                <a:ea typeface="+mn-lt"/>
                <a:cs typeface="+mn-lt"/>
              </a:rPr>
              <a:t> Comprehensive suite for finance, procurement, projects, and automation with embedded analytics.</a:t>
            </a:r>
            <a:endParaRPr lang="en-GB" dirty="0"/>
          </a:p>
          <a:p>
            <a:pPr>
              <a:buClr>
                <a:srgbClr val="1287C3"/>
              </a:buClr>
            </a:pPr>
            <a:r>
              <a:rPr lang="en-GB" b="1">
                <a:ea typeface="+mn-lt"/>
                <a:cs typeface="+mn-lt"/>
              </a:rPr>
              <a:t>Microsoft Dynamics 365:</a:t>
            </a:r>
            <a:r>
              <a:rPr lang="en-GB">
                <a:ea typeface="+mn-lt"/>
                <a:cs typeface="+mn-lt"/>
              </a:rPr>
              <a:t> Modular cloud applications for finance, supply chain, sales, and customer service integrated with Microsoft 365.</a:t>
            </a:r>
            <a:endParaRPr lang="en-GB" dirty="0"/>
          </a:p>
          <a:p>
            <a:pPr>
              <a:buClr>
                <a:srgbClr val="1287C3"/>
              </a:buClr>
            </a:pPr>
            <a:r>
              <a:rPr lang="en-GB" b="1">
                <a:ea typeface="+mn-lt"/>
                <a:cs typeface="+mn-lt"/>
              </a:rPr>
              <a:t>Odoo:</a:t>
            </a:r>
            <a:r>
              <a:rPr lang="en-GB">
                <a:ea typeface="+mn-lt"/>
                <a:cs typeface="+mn-lt"/>
              </a:rPr>
              <a:t> Open-source suite spanning ERP, CRM, eCommerce, and more with modular apps and deep customization options</a:t>
            </a:r>
          </a:p>
          <a:p>
            <a:pPr>
              <a:buClr>
                <a:srgbClr val="1287C3"/>
              </a:buClr>
            </a:pPr>
            <a:r>
              <a:rPr lang="en-GB" b="1">
                <a:ea typeface="+mn-lt"/>
                <a:cs typeface="+mn-lt"/>
              </a:rPr>
              <a:t>Oracle NetSuite:</a:t>
            </a:r>
            <a:r>
              <a:rPr lang="en-GB">
                <a:ea typeface="+mn-lt"/>
                <a:cs typeface="+mn-lt"/>
              </a:rPr>
              <a:t> Cloud enterprise resource planning platform that unifies finance, supply chain, commerce, and human resources (HR) with real-time dashboards and strong scalability.</a:t>
            </a:r>
            <a:endParaRPr lang="en-GB" dirty="0">
              <a:ea typeface="+mn-lt"/>
              <a:cs typeface="+mn-lt"/>
            </a:endParaRPr>
          </a:p>
          <a:p>
            <a:pPr>
              <a:buClr>
                <a:srgbClr val="1287C3"/>
              </a:buClr>
            </a:pPr>
            <a:r>
              <a:rPr lang="en-GB" b="1">
                <a:ea typeface="+mn-lt"/>
                <a:cs typeface="+mn-lt"/>
              </a:rPr>
              <a:t>Sage Intacct:</a:t>
            </a:r>
            <a:r>
              <a:rPr lang="en-GB">
                <a:ea typeface="+mn-lt"/>
                <a:cs typeface="+mn-lt"/>
              </a:rPr>
              <a:t> Finance-first ERP with multi-dimensional reporting, automated accounts payable (AP), and strong integrations such as Salesforce.</a:t>
            </a:r>
            <a:endParaRPr lang="en-GB" dirty="0">
              <a:ea typeface="+mn-lt"/>
              <a:cs typeface="+mn-lt"/>
            </a:endParaRPr>
          </a:p>
          <a:p>
            <a:pPr>
              <a:buClr>
                <a:srgbClr val="1287C3"/>
              </a:buClr>
            </a:pPr>
            <a:r>
              <a:rPr lang="en-GB" b="1" dirty="0" err="1">
                <a:ea typeface="+mn-lt"/>
                <a:cs typeface="+mn-lt"/>
              </a:rPr>
              <a:t>Deltek</a:t>
            </a:r>
            <a:r>
              <a:rPr lang="en-GB" b="1" dirty="0">
                <a:ea typeface="+mn-lt"/>
                <a:cs typeface="+mn-lt"/>
              </a:rPr>
              <a:t>:</a:t>
            </a:r>
            <a:r>
              <a:rPr lang="en-GB" dirty="0">
                <a:ea typeface="+mn-lt"/>
                <a:cs typeface="+mn-lt"/>
              </a:rPr>
              <a:t> Project-based ERP for architecture and engineering firms with project accounting, resource management, and business intelligence (BI) tools.</a:t>
            </a:r>
          </a:p>
          <a:p>
            <a:pPr>
              <a:buClr>
                <a:srgbClr val="1287C3"/>
              </a:buClr>
            </a:pPr>
            <a:endParaRPr lang="en-GB" dirty="0">
              <a:ea typeface="+mn-lt"/>
              <a:cs typeface="+mn-lt"/>
            </a:endParaRPr>
          </a:p>
        </p:txBody>
      </p:sp>
    </p:spTree>
    <p:extLst>
      <p:ext uri="{BB962C8B-B14F-4D97-AF65-F5344CB8AC3E}">
        <p14:creationId xmlns:p14="http://schemas.microsoft.com/office/powerpoint/2010/main" val="3979630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B1BE0-CEA4-0304-D66E-E28EF3A350D4}"/>
              </a:ext>
            </a:extLst>
          </p:cNvPr>
          <p:cNvSpPr>
            <a:spLocks noGrp="1"/>
          </p:cNvSpPr>
          <p:nvPr>
            <p:ph type="title"/>
          </p:nvPr>
        </p:nvSpPr>
        <p:spPr/>
        <p:txBody>
          <a:bodyPr/>
          <a:lstStyle/>
          <a:p>
            <a:r>
              <a:rPr lang="en-GB" dirty="0"/>
              <a:t>How Enterprise Resource </a:t>
            </a:r>
            <a:r>
              <a:rPr lang="en-GB"/>
              <a:t>Planning</a:t>
            </a:r>
            <a:r>
              <a:rPr lang="en-GB" dirty="0"/>
              <a:t> Platforms Work</a:t>
            </a:r>
          </a:p>
        </p:txBody>
      </p:sp>
      <p:sp>
        <p:nvSpPr>
          <p:cNvPr id="3" name="Content Placeholder 2">
            <a:extLst>
              <a:ext uri="{FF2B5EF4-FFF2-40B4-BE49-F238E27FC236}">
                <a16:creationId xmlns:a16="http://schemas.microsoft.com/office/drawing/2014/main" id="{6F8F079C-2EF2-FC99-CF9C-7B5480E1A2FE}"/>
              </a:ext>
            </a:extLst>
          </p:cNvPr>
          <p:cNvSpPr>
            <a:spLocks noGrp="1"/>
          </p:cNvSpPr>
          <p:nvPr>
            <p:ph idx="1"/>
          </p:nvPr>
        </p:nvSpPr>
        <p:spPr/>
        <p:txBody>
          <a:bodyPr/>
          <a:lstStyle/>
          <a:p>
            <a:r>
              <a:rPr lang="en-GB" dirty="0">
                <a:ea typeface="+mn-lt"/>
                <a:cs typeface="+mn-lt"/>
              </a:rPr>
              <a:t>Enterprise Resource Planning (ERP) platforms integrate core business processes—like finance, HR, and supply chain—into a single system. By sharing a centralized database, they provide a "single source of truth". This eliminates data silos, automates repetitive tasks, and delivers real-time analytics to improve overall efficiency and decision-making.</a:t>
            </a:r>
          </a:p>
        </p:txBody>
      </p:sp>
    </p:spTree>
    <p:extLst>
      <p:ext uri="{BB962C8B-B14F-4D97-AF65-F5344CB8AC3E}">
        <p14:creationId xmlns:p14="http://schemas.microsoft.com/office/powerpoint/2010/main" val="3142120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F8E9-B6E9-B636-3CF3-0BB2B257710E}"/>
              </a:ext>
            </a:extLst>
          </p:cNvPr>
          <p:cNvSpPr>
            <a:spLocks noGrp="1"/>
          </p:cNvSpPr>
          <p:nvPr>
            <p:ph type="title"/>
          </p:nvPr>
        </p:nvSpPr>
        <p:spPr/>
        <p:txBody>
          <a:bodyPr vert="horz" lIns="91440" tIns="45720" rIns="91440" bIns="45720" rtlCol="0" anchor="ctr">
            <a:noAutofit/>
          </a:bodyPr>
          <a:lstStyle/>
          <a:p>
            <a:pPr algn="l"/>
            <a:r>
              <a:rPr lang="en-GB"/>
              <a:t>Comprehensive integration of core business functions...</a:t>
            </a:r>
            <a:endParaRPr lang="en-US"/>
          </a:p>
          <a:p>
            <a:br>
              <a:rPr lang="en-US" dirty="0"/>
            </a:br>
            <a:endParaRPr lang="en-US" dirty="0"/>
          </a:p>
        </p:txBody>
      </p:sp>
      <p:sp>
        <p:nvSpPr>
          <p:cNvPr id="3" name="Content Placeholder 2">
            <a:extLst>
              <a:ext uri="{FF2B5EF4-FFF2-40B4-BE49-F238E27FC236}">
                <a16:creationId xmlns:a16="http://schemas.microsoft.com/office/drawing/2014/main" id="{7653A799-4A76-99DB-C42C-526EE9D09EEA}"/>
              </a:ext>
            </a:extLst>
          </p:cNvPr>
          <p:cNvSpPr>
            <a:spLocks noGrp="1"/>
          </p:cNvSpPr>
          <p:nvPr>
            <p:ph idx="1"/>
          </p:nvPr>
        </p:nvSpPr>
        <p:spPr/>
        <p:txBody>
          <a:bodyPr>
            <a:normAutofit/>
          </a:bodyPr>
          <a:lstStyle/>
          <a:p>
            <a:r>
              <a:rPr lang="en-GB" dirty="0">
                <a:solidFill>
                  <a:srgbClr val="17253D"/>
                </a:solidFill>
                <a:latin typeface="Calibri"/>
                <a:ea typeface="Calibri"/>
                <a:cs typeface="Calibri"/>
              </a:rPr>
              <a:t>ERP software connects essential business processes on a single platform, eliminating silos and supporting a steady flow of information across business functions. Departments that can benefit from an ERP system include finance, manufacturing, and HR</a:t>
            </a:r>
          </a:p>
        </p:txBody>
      </p:sp>
    </p:spTree>
    <p:extLst>
      <p:ext uri="{BB962C8B-B14F-4D97-AF65-F5344CB8AC3E}">
        <p14:creationId xmlns:p14="http://schemas.microsoft.com/office/powerpoint/2010/main" val="2225600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2CE0-73A6-5D9E-07AD-F06E59BB59C0}"/>
              </a:ext>
            </a:extLst>
          </p:cNvPr>
          <p:cNvSpPr>
            <a:spLocks noGrp="1"/>
          </p:cNvSpPr>
          <p:nvPr>
            <p:ph type="title"/>
          </p:nvPr>
        </p:nvSpPr>
        <p:spPr/>
        <p:txBody>
          <a:bodyPr vert="horz" lIns="91440" tIns="45720" rIns="91440" bIns="45720" rtlCol="0" anchor="ctr">
            <a:noAutofit/>
          </a:bodyPr>
          <a:lstStyle/>
          <a:p>
            <a:pPr algn="l"/>
            <a:r>
              <a:rPr lang="en-GB"/>
              <a:t>                        A centralized database</a:t>
            </a:r>
            <a:endParaRPr lang="en-US"/>
          </a:p>
          <a:p>
            <a:br>
              <a:rPr lang="en-US" dirty="0"/>
            </a:br>
            <a:endParaRPr lang="en-US" dirty="0"/>
          </a:p>
        </p:txBody>
      </p:sp>
      <p:sp>
        <p:nvSpPr>
          <p:cNvPr id="3" name="Content Placeholder 2">
            <a:extLst>
              <a:ext uri="{FF2B5EF4-FFF2-40B4-BE49-F238E27FC236}">
                <a16:creationId xmlns:a16="http://schemas.microsoft.com/office/drawing/2014/main" id="{0F8061C8-E7D0-B3DC-5968-13BB79E53A92}"/>
              </a:ext>
            </a:extLst>
          </p:cNvPr>
          <p:cNvSpPr>
            <a:spLocks noGrp="1"/>
          </p:cNvSpPr>
          <p:nvPr>
            <p:ph idx="1"/>
          </p:nvPr>
        </p:nvSpPr>
        <p:spPr/>
        <p:txBody>
          <a:bodyPr/>
          <a:lstStyle/>
          <a:p>
            <a:r>
              <a:rPr lang="en-GB" dirty="0">
                <a:ea typeface="+mn-lt"/>
                <a:cs typeface="+mn-lt"/>
              </a:rPr>
              <a:t>ERP systems create a single source of truth by storing all transactional and operational data in a central database. By giving employees access to consistent, accurate information, your business can reduce errors, eliminate duplicated efforts, and improve decision-making and reporting.</a:t>
            </a:r>
          </a:p>
          <a:p>
            <a:pPr marL="0" indent="0">
              <a:buClr>
                <a:srgbClr val="1287C3"/>
              </a:buClr>
              <a:buNone/>
            </a:pPr>
            <a:endParaRPr lang="en-US" dirty="0"/>
          </a:p>
        </p:txBody>
      </p:sp>
    </p:spTree>
    <p:extLst>
      <p:ext uri="{BB962C8B-B14F-4D97-AF65-F5344CB8AC3E}">
        <p14:creationId xmlns:p14="http://schemas.microsoft.com/office/powerpoint/2010/main" val="3691031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92802-A1CA-7B54-491A-6FA773F1B866}"/>
              </a:ext>
            </a:extLst>
          </p:cNvPr>
          <p:cNvSpPr>
            <a:spLocks noGrp="1"/>
          </p:cNvSpPr>
          <p:nvPr>
            <p:ph type="title"/>
          </p:nvPr>
        </p:nvSpPr>
        <p:spPr/>
        <p:txBody>
          <a:bodyPr vert="horz" lIns="91440" tIns="45720" rIns="91440" bIns="45720" rtlCol="0" anchor="ctr">
            <a:noAutofit/>
          </a:bodyPr>
          <a:lstStyle/>
          <a:p>
            <a:r>
              <a:rPr lang="en-GB"/>
              <a:t>Automation of routine tasks</a:t>
            </a:r>
            <a:endParaRPr lang="en-US"/>
          </a:p>
          <a:p>
            <a:br>
              <a:rPr lang="en-US" dirty="0"/>
            </a:br>
            <a:endParaRPr lang="en-US" dirty="0"/>
          </a:p>
        </p:txBody>
      </p:sp>
      <p:sp>
        <p:nvSpPr>
          <p:cNvPr id="3" name="Content Placeholder 2">
            <a:extLst>
              <a:ext uri="{FF2B5EF4-FFF2-40B4-BE49-F238E27FC236}">
                <a16:creationId xmlns:a16="http://schemas.microsoft.com/office/drawing/2014/main" id="{5F85A1B1-3849-FB36-3115-A093917F9537}"/>
              </a:ext>
            </a:extLst>
          </p:cNvPr>
          <p:cNvSpPr>
            <a:spLocks noGrp="1"/>
          </p:cNvSpPr>
          <p:nvPr>
            <p:ph idx="1"/>
          </p:nvPr>
        </p:nvSpPr>
        <p:spPr/>
        <p:txBody>
          <a:bodyPr/>
          <a:lstStyle/>
          <a:p>
            <a:r>
              <a:rPr lang="en-GB">
                <a:ea typeface="+mn-lt"/>
                <a:cs typeface="+mn-lt"/>
              </a:rPr>
              <a:t>ERP software reduces errors and improves process efficiency by automating mundane tasks such as invoicing, order processing, and payroll. In addition, automation minimizes the time that employees spend on manual work, freeing them to focus on higher-value activities.</a:t>
            </a:r>
          </a:p>
          <a:p>
            <a:pPr marL="0" indent="0">
              <a:buClr>
                <a:srgbClr val="1287C3"/>
              </a:buClr>
              <a:buNone/>
            </a:pPr>
            <a:endParaRPr lang="en-US" dirty="0"/>
          </a:p>
        </p:txBody>
      </p:sp>
    </p:spTree>
    <p:extLst>
      <p:ext uri="{BB962C8B-B14F-4D97-AF65-F5344CB8AC3E}">
        <p14:creationId xmlns:p14="http://schemas.microsoft.com/office/powerpoint/2010/main" val="3778727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26CD-D932-B5DF-3C6A-ACB74E3A1B3D}"/>
              </a:ext>
            </a:extLst>
          </p:cNvPr>
          <p:cNvSpPr>
            <a:spLocks noGrp="1"/>
          </p:cNvSpPr>
          <p:nvPr>
            <p:ph type="title"/>
          </p:nvPr>
        </p:nvSpPr>
        <p:spPr/>
        <p:txBody>
          <a:bodyPr vert="horz" lIns="91440" tIns="45720" rIns="91440" bIns="45720" rtlCol="0" anchor="ctr">
            <a:noAutofit/>
          </a:bodyPr>
          <a:lstStyle/>
          <a:p>
            <a:r>
              <a:rPr lang="en-GB"/>
              <a:t>Real-time analytics and reporting</a:t>
            </a:r>
            <a:endParaRPr lang="en-US"/>
          </a:p>
          <a:p>
            <a:br>
              <a:rPr lang="en-US" dirty="0"/>
            </a:br>
            <a:endParaRPr lang="en-US" dirty="0"/>
          </a:p>
        </p:txBody>
      </p:sp>
      <p:sp>
        <p:nvSpPr>
          <p:cNvPr id="3" name="Content Placeholder 2">
            <a:extLst>
              <a:ext uri="{FF2B5EF4-FFF2-40B4-BE49-F238E27FC236}">
                <a16:creationId xmlns:a16="http://schemas.microsoft.com/office/drawing/2014/main" id="{DFA1CAD4-A7C5-C460-1DC9-920A0375DC6E}"/>
              </a:ext>
            </a:extLst>
          </p:cNvPr>
          <p:cNvSpPr>
            <a:spLocks noGrp="1"/>
          </p:cNvSpPr>
          <p:nvPr>
            <p:ph idx="1"/>
          </p:nvPr>
        </p:nvSpPr>
        <p:spPr/>
        <p:txBody>
          <a:bodyPr/>
          <a:lstStyle/>
          <a:p>
            <a:r>
              <a:rPr lang="en-GB" dirty="0">
                <a:ea typeface="+mn-lt"/>
                <a:cs typeface="+mn-lt"/>
              </a:rPr>
              <a:t>ERP software uses AI-powered analytics to deliver real-time insights into operations, financials, and performance. Built-in customizable </a:t>
            </a:r>
            <a:r>
              <a:rPr lang="en-GB" dirty="0">
                <a:ea typeface="+mn-lt"/>
                <a:cs typeface="+mn-lt"/>
                <a:hlinkClick r:id="rId2"/>
              </a:rPr>
              <a:t>dashboards</a:t>
            </a:r>
            <a:r>
              <a:rPr lang="en-GB" dirty="0">
                <a:ea typeface="+mn-lt"/>
                <a:cs typeface="+mn-lt"/>
              </a:rPr>
              <a:t> and reporting help teams track key metrics, monitor performance, and make data-driven decisions quickly.</a:t>
            </a:r>
          </a:p>
          <a:p>
            <a:pPr marL="0" indent="0">
              <a:buClr>
                <a:srgbClr val="1287C3"/>
              </a:buClr>
              <a:buNone/>
            </a:pPr>
            <a:br>
              <a:rPr lang="en-US" dirty="0"/>
            </a:br>
            <a:endParaRPr lang="en-US" dirty="0"/>
          </a:p>
        </p:txBody>
      </p:sp>
    </p:spTree>
    <p:extLst>
      <p:ext uri="{BB962C8B-B14F-4D97-AF65-F5344CB8AC3E}">
        <p14:creationId xmlns:p14="http://schemas.microsoft.com/office/powerpoint/2010/main" val="24614807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15B7E-283E-6C37-B8B9-0E6F650665C7}"/>
              </a:ext>
            </a:extLst>
          </p:cNvPr>
          <p:cNvSpPr>
            <a:spLocks noGrp="1"/>
          </p:cNvSpPr>
          <p:nvPr>
            <p:ph type="title"/>
          </p:nvPr>
        </p:nvSpPr>
        <p:spPr/>
        <p:txBody>
          <a:bodyPr vert="horz" lIns="91440" tIns="45720" rIns="91440" bIns="45720" rtlCol="0" anchor="ctr">
            <a:noAutofit/>
          </a:bodyPr>
          <a:lstStyle/>
          <a:p>
            <a:r>
              <a:rPr lang="en-GB"/>
              <a:t>Cloud-based deployment options</a:t>
            </a:r>
            <a:endParaRPr lang="en-US"/>
          </a:p>
          <a:p>
            <a:br>
              <a:rPr lang="en-US" dirty="0"/>
            </a:br>
            <a:endParaRPr lang="en-US" dirty="0"/>
          </a:p>
        </p:txBody>
      </p:sp>
      <p:sp>
        <p:nvSpPr>
          <p:cNvPr id="3" name="Content Placeholder 2">
            <a:extLst>
              <a:ext uri="{FF2B5EF4-FFF2-40B4-BE49-F238E27FC236}">
                <a16:creationId xmlns:a16="http://schemas.microsoft.com/office/drawing/2014/main" id="{30D79B08-4F1A-3859-0460-90B7DF312854}"/>
              </a:ext>
            </a:extLst>
          </p:cNvPr>
          <p:cNvSpPr>
            <a:spLocks noGrp="1"/>
          </p:cNvSpPr>
          <p:nvPr>
            <p:ph idx="1"/>
          </p:nvPr>
        </p:nvSpPr>
        <p:spPr/>
        <p:txBody>
          <a:bodyPr vert="horz" lIns="91440" tIns="45720" rIns="91440" bIns="45720" rtlCol="0" anchor="ctr">
            <a:noAutofit/>
          </a:bodyPr>
          <a:lstStyle/>
          <a:p>
            <a:r>
              <a:rPr lang="en-GB">
                <a:ea typeface="+mn-lt"/>
                <a:cs typeface="+mn-lt"/>
              </a:rPr>
              <a:t>Cloud-based </a:t>
            </a:r>
            <a:r>
              <a:rPr lang="en-GB" dirty="0">
                <a:ea typeface="+mn-lt"/>
                <a:cs typeface="+mn-lt"/>
                <a:hlinkClick r:id="rId2"/>
              </a:rPr>
              <a:t>ERP solutions</a:t>
            </a:r>
            <a:r>
              <a:rPr lang="en-GB" dirty="0">
                <a:ea typeface="+mn-lt"/>
                <a:cs typeface="+mn-lt"/>
              </a:rPr>
              <a:t> </a:t>
            </a:r>
            <a:r>
              <a:rPr lang="en-GB">
                <a:ea typeface="+mn-lt"/>
                <a:cs typeface="+mn-lt"/>
              </a:rPr>
              <a:t>support cloud deployments that can help your business boost flexibility, scalability, and security while lowering infrastructure costs. Cloud-based ERP systems also can take advantage of AI and machine learning capabilities to improve processes such as demand forecasting and predictive maintenance and deliver personalized </a:t>
            </a:r>
            <a:r>
              <a:rPr lang="en-GB" dirty="0">
                <a:ea typeface="+mn-lt"/>
                <a:cs typeface="+mn-lt"/>
                <a:hlinkClick r:id="rId3"/>
              </a:rPr>
              <a:t>customer experiences</a:t>
            </a:r>
            <a:r>
              <a:rPr lang="en-GB">
                <a:ea typeface="+mn-lt"/>
                <a:cs typeface="+mn-lt"/>
              </a:rPr>
              <a:t>.</a:t>
            </a:r>
          </a:p>
          <a:p>
            <a:pPr marL="0" indent="0">
              <a:buClr>
                <a:srgbClr val="1287C3"/>
              </a:buClr>
              <a:buNone/>
            </a:pPr>
            <a:br>
              <a:rPr lang="en-US" dirty="0"/>
            </a:br>
            <a:endParaRPr lang="en-US" dirty="0"/>
          </a:p>
        </p:txBody>
      </p:sp>
    </p:spTree>
    <p:extLst>
      <p:ext uri="{BB962C8B-B14F-4D97-AF65-F5344CB8AC3E}">
        <p14:creationId xmlns:p14="http://schemas.microsoft.com/office/powerpoint/2010/main" val="589146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FE3C-7A82-204A-8322-DB26DF1EFBC8}"/>
              </a:ext>
            </a:extLst>
          </p:cNvPr>
          <p:cNvSpPr>
            <a:spLocks noGrp="1"/>
          </p:cNvSpPr>
          <p:nvPr>
            <p:ph type="title"/>
          </p:nvPr>
        </p:nvSpPr>
        <p:spPr/>
        <p:txBody>
          <a:bodyPr vert="horz" lIns="91440" tIns="45720" rIns="91440" bIns="45720" rtlCol="0" anchor="ctr">
            <a:noAutofit/>
          </a:bodyPr>
          <a:lstStyle/>
          <a:p>
            <a:r>
              <a:rPr lang="en-GB"/>
              <a:t>Compliance and risk management</a:t>
            </a:r>
            <a:endParaRPr lang="en-US"/>
          </a:p>
          <a:p>
            <a:br>
              <a:rPr lang="en-US" dirty="0"/>
            </a:br>
            <a:endParaRPr lang="en-US" dirty="0"/>
          </a:p>
        </p:txBody>
      </p:sp>
      <p:sp>
        <p:nvSpPr>
          <p:cNvPr id="3" name="Content Placeholder 2">
            <a:extLst>
              <a:ext uri="{FF2B5EF4-FFF2-40B4-BE49-F238E27FC236}">
                <a16:creationId xmlns:a16="http://schemas.microsoft.com/office/drawing/2014/main" id="{6A0406C7-D86F-1AF0-C6B4-793BE0E32BAA}"/>
              </a:ext>
            </a:extLst>
          </p:cNvPr>
          <p:cNvSpPr>
            <a:spLocks noGrp="1"/>
          </p:cNvSpPr>
          <p:nvPr>
            <p:ph idx="1"/>
          </p:nvPr>
        </p:nvSpPr>
        <p:spPr/>
        <p:txBody>
          <a:bodyPr/>
          <a:lstStyle/>
          <a:p>
            <a:r>
              <a:rPr lang="en-GB" dirty="0">
                <a:ea typeface="+mn-lt"/>
                <a:cs typeface="+mn-lt"/>
              </a:rPr>
              <a:t>ERP systems have built-in features, such as robust data encryption capabilities and role-based access controls, to help businesses comply </a:t>
            </a:r>
            <a:r>
              <a:rPr lang="en-GB" dirty="0" err="1">
                <a:ea typeface="+mn-lt"/>
                <a:cs typeface="+mn-lt"/>
              </a:rPr>
              <a:t>withrelevant</a:t>
            </a:r>
            <a:r>
              <a:rPr lang="en-GB" dirty="0">
                <a:ea typeface="+mn-lt"/>
                <a:cs typeface="+mn-lt"/>
              </a:rPr>
              <a:t> security and privacy regulations.</a:t>
            </a:r>
          </a:p>
          <a:p>
            <a:pPr marL="0" indent="0">
              <a:buClr>
                <a:srgbClr val="1287C3"/>
              </a:buClr>
              <a:buNone/>
            </a:pPr>
            <a:endParaRPr lang="en-US" dirty="0"/>
          </a:p>
        </p:txBody>
      </p:sp>
    </p:spTree>
    <p:extLst>
      <p:ext uri="{BB962C8B-B14F-4D97-AF65-F5344CB8AC3E}">
        <p14:creationId xmlns:p14="http://schemas.microsoft.com/office/powerpoint/2010/main" val="23212103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071C-EA74-3CEF-C366-031DA7289920}"/>
              </a:ext>
            </a:extLst>
          </p:cNvPr>
          <p:cNvSpPr>
            <a:spLocks noGrp="1"/>
          </p:cNvSpPr>
          <p:nvPr>
            <p:ph type="title"/>
          </p:nvPr>
        </p:nvSpPr>
        <p:spPr/>
        <p:txBody>
          <a:bodyPr vert="horz" lIns="91440" tIns="45720" rIns="91440" bIns="45720" rtlCol="0" anchor="ctr">
            <a:noAutofit/>
          </a:bodyPr>
          <a:lstStyle/>
          <a:p>
            <a:r>
              <a:rPr lang="en-GB"/>
              <a:t>A modular architecture and mobile accessibility</a:t>
            </a:r>
            <a:endParaRPr lang="en-US"/>
          </a:p>
          <a:p>
            <a:br>
              <a:rPr lang="en-US" dirty="0"/>
            </a:br>
            <a:endParaRPr lang="en-US" dirty="0"/>
          </a:p>
        </p:txBody>
      </p:sp>
      <p:sp>
        <p:nvSpPr>
          <p:cNvPr id="3" name="Content Placeholder 2">
            <a:extLst>
              <a:ext uri="{FF2B5EF4-FFF2-40B4-BE49-F238E27FC236}">
                <a16:creationId xmlns:a16="http://schemas.microsoft.com/office/drawing/2014/main" id="{877BC7CE-3165-E004-3385-0BF78B65102E}"/>
              </a:ext>
            </a:extLst>
          </p:cNvPr>
          <p:cNvSpPr>
            <a:spLocks noGrp="1"/>
          </p:cNvSpPr>
          <p:nvPr>
            <p:ph idx="1"/>
          </p:nvPr>
        </p:nvSpPr>
        <p:spPr/>
        <p:txBody>
          <a:bodyPr/>
          <a:lstStyle/>
          <a:p>
            <a:r>
              <a:rPr lang="en-GB">
                <a:ea typeface="+mn-lt"/>
                <a:cs typeface="+mn-lt"/>
              </a:rPr>
              <a:t>Modern ERP software also offers a range of other features. These include modular components that allow businesses to add features gradually, and the ability to access functions from any mobile device.</a:t>
            </a:r>
          </a:p>
          <a:p>
            <a:pPr marL="0" indent="0">
              <a:buClr>
                <a:srgbClr val="1287C3"/>
              </a:buClr>
              <a:buNone/>
            </a:pPr>
            <a:endParaRPr lang="en-US" dirty="0"/>
          </a:p>
        </p:txBody>
      </p:sp>
    </p:spTree>
    <p:extLst>
      <p:ext uri="{BB962C8B-B14F-4D97-AF65-F5344CB8AC3E}">
        <p14:creationId xmlns:p14="http://schemas.microsoft.com/office/powerpoint/2010/main" val="7173762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47A4-AB35-D497-09E1-32DF3D3B54B1}"/>
              </a:ext>
            </a:extLst>
          </p:cNvPr>
          <p:cNvSpPr>
            <a:spLocks noGrp="1"/>
          </p:cNvSpPr>
          <p:nvPr>
            <p:ph type="title"/>
          </p:nvPr>
        </p:nvSpPr>
        <p:spPr/>
        <p:txBody>
          <a:bodyPr vert="horz" lIns="91440" tIns="45720" rIns="91440" bIns="45720" rtlCol="0" anchor="ctr">
            <a:noAutofit/>
          </a:bodyPr>
          <a:lstStyle/>
          <a:p>
            <a:r>
              <a:rPr lang="en-GB" b="1"/>
              <a:t>Types of ERP software</a:t>
            </a:r>
            <a:endParaRPr lang="en-US"/>
          </a:p>
          <a:p>
            <a:br>
              <a:rPr lang="en-US" dirty="0"/>
            </a:br>
            <a:endParaRPr lang="en-US" dirty="0"/>
          </a:p>
        </p:txBody>
      </p:sp>
      <p:sp>
        <p:nvSpPr>
          <p:cNvPr id="3" name="Content Placeholder 2">
            <a:extLst>
              <a:ext uri="{FF2B5EF4-FFF2-40B4-BE49-F238E27FC236}">
                <a16:creationId xmlns:a16="http://schemas.microsoft.com/office/drawing/2014/main" id="{B8640AA3-D8A3-90C0-D058-B0567EED189C}"/>
              </a:ext>
            </a:extLst>
          </p:cNvPr>
          <p:cNvSpPr>
            <a:spLocks noGrp="1"/>
          </p:cNvSpPr>
          <p:nvPr>
            <p:ph idx="1"/>
          </p:nvPr>
        </p:nvSpPr>
        <p:spPr/>
        <p:txBody>
          <a:bodyPr vert="horz" lIns="91440" tIns="45720" rIns="91440" bIns="45720" rtlCol="0" anchor="ctr">
            <a:noAutofit/>
          </a:bodyPr>
          <a:lstStyle/>
          <a:p>
            <a:r>
              <a:rPr lang="en-GB" b="1">
                <a:ea typeface="+mn-lt"/>
                <a:cs typeface="+mn-lt"/>
              </a:rPr>
              <a:t>On-Premise ERP</a:t>
            </a:r>
            <a:r>
              <a:rPr lang="en-GB">
                <a:ea typeface="+mn-lt"/>
                <a:cs typeface="+mn-lt"/>
              </a:rPr>
              <a:t>: These systems are installed locally on a company's hardware and servers. They offer greater control and customization but require significant upfront investment and ongoing maintenance.</a:t>
            </a:r>
          </a:p>
          <a:p>
            <a:pPr>
              <a:buClr>
                <a:srgbClr val="1287C3"/>
              </a:buClr>
            </a:pPr>
            <a:r>
              <a:rPr lang="en-GB" b="1">
                <a:ea typeface="+mn-lt"/>
                <a:cs typeface="+mn-lt"/>
              </a:rPr>
              <a:t>Cloud-Based ERP</a:t>
            </a:r>
            <a:r>
              <a:rPr lang="en-GB">
                <a:ea typeface="+mn-lt"/>
                <a:cs typeface="+mn-lt"/>
              </a:rPr>
              <a:t>: These systems are hosted on the vendor's servers and accessed via the internet. They are known for lower upfront costs, automatic updates, and scalability, making them a popular choice for many businesses today.</a:t>
            </a:r>
          </a:p>
          <a:p>
            <a:pPr>
              <a:buClr>
                <a:srgbClr val="1287C3"/>
              </a:buClr>
            </a:pPr>
            <a:r>
              <a:rPr lang="en-GB" b="1">
                <a:ea typeface="+mn-lt"/>
                <a:cs typeface="+mn-lt"/>
              </a:rPr>
              <a:t>Hybrid ERP:</a:t>
            </a:r>
            <a:r>
              <a:rPr lang="en-GB">
                <a:ea typeface="+mn-lt"/>
                <a:cs typeface="+mn-lt"/>
              </a:rPr>
              <a:t> This combines on-premise infrastructure with cloud-based applications. Companies keep critical systems in-house for control while using the cloud for flexibility and scalability. This model works well for businesses that want gradual migration or need to meet strict compliance requirements without giving up the benefits of cloud software.</a:t>
            </a:r>
          </a:p>
          <a:p>
            <a:pPr>
              <a:buClr>
                <a:srgbClr val="1287C3"/>
              </a:buClr>
            </a:pPr>
            <a:endParaRPr lang="en-GB" dirty="0"/>
          </a:p>
        </p:txBody>
      </p:sp>
    </p:spTree>
    <p:extLst>
      <p:ext uri="{BB962C8B-B14F-4D97-AF65-F5344CB8AC3E}">
        <p14:creationId xmlns:p14="http://schemas.microsoft.com/office/powerpoint/2010/main" val="2011287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1747-2FF0-8BC8-E7B0-444D09C632A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4B550AF-8A62-D031-2545-78E544744F77}"/>
              </a:ext>
            </a:extLst>
          </p:cNvPr>
          <p:cNvSpPr>
            <a:spLocks noGrp="1"/>
          </p:cNvSpPr>
          <p:nvPr>
            <p:ph idx="1"/>
          </p:nvPr>
        </p:nvSpPr>
        <p:spPr/>
        <p:txBody>
          <a:bodyPr vert="horz" lIns="91440" tIns="45720" rIns="91440" bIns="45720" rtlCol="0" anchor="ctr">
            <a:noAutofit/>
          </a:bodyPr>
          <a:lstStyle/>
          <a:p>
            <a:r>
              <a:rPr lang="en-GB" b="1">
                <a:ea typeface="+mn-lt"/>
                <a:cs typeface="+mn-lt"/>
              </a:rPr>
              <a:t>Industry-specific ERP:</a:t>
            </a:r>
            <a:r>
              <a:rPr lang="en-GB">
                <a:ea typeface="+mn-lt"/>
                <a:cs typeface="+mn-lt"/>
              </a:rPr>
              <a:t> These systems are tailored to the unique needs of sectors such as manufacturing, healthcare, retail, or construction. They include specialized modules and workflows, like compliance tools for healthcare or project management features for construction. Businesses gain a faster implementation and more relevant functionality compared to generic ERP platforms.</a:t>
            </a:r>
          </a:p>
          <a:p>
            <a:pPr>
              <a:buClr>
                <a:srgbClr val="1287C3"/>
              </a:buClr>
            </a:pPr>
            <a:r>
              <a:rPr lang="en-GB" b="1">
                <a:ea typeface="+mn-lt"/>
                <a:cs typeface="+mn-lt"/>
              </a:rPr>
              <a:t>Web-based ERP: </a:t>
            </a:r>
            <a:r>
              <a:rPr lang="en-GB">
                <a:ea typeface="+mn-lt"/>
                <a:cs typeface="+mn-lt"/>
              </a:rPr>
              <a:t>This runs entirely through a browser without requiring local installations. Users can log in from any device with an internet connection, making these systems lightweight and accessible. Automatic updates, ease of deployment, and lower IT overhead make web-based ERP a strong choice for smaller organizations or distributed teams.</a:t>
            </a:r>
          </a:p>
          <a:p>
            <a:pPr>
              <a:buClr>
                <a:srgbClr val="1287C3"/>
              </a:buClr>
            </a:pPr>
            <a:endParaRPr lang="en-GB" dirty="0"/>
          </a:p>
        </p:txBody>
      </p:sp>
    </p:spTree>
    <p:extLst>
      <p:ext uri="{BB962C8B-B14F-4D97-AF65-F5344CB8AC3E}">
        <p14:creationId xmlns:p14="http://schemas.microsoft.com/office/powerpoint/2010/main" val="2249903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9F81-E31F-973F-77B4-A5A33721C335}"/>
              </a:ext>
            </a:extLst>
          </p:cNvPr>
          <p:cNvSpPr>
            <a:spLocks noGrp="1"/>
          </p:cNvSpPr>
          <p:nvPr>
            <p:ph type="title"/>
          </p:nvPr>
        </p:nvSpPr>
        <p:spPr/>
        <p:txBody>
          <a:bodyPr vert="horz" lIns="91440" tIns="45720" rIns="91440" bIns="45720" rtlCol="0" anchor="ctr">
            <a:noAutofit/>
          </a:bodyPr>
          <a:lstStyle/>
          <a:p>
            <a:pPr algn="l"/>
            <a:r>
              <a:rPr lang="en-GB"/>
              <a:t>              Key benefits of ERP for businesses</a:t>
            </a:r>
            <a:endParaRPr lang="en-US"/>
          </a:p>
          <a:p>
            <a:br>
              <a:rPr lang="en-US" dirty="0"/>
            </a:br>
            <a:endParaRPr lang="en-US" dirty="0"/>
          </a:p>
        </p:txBody>
      </p:sp>
      <p:sp>
        <p:nvSpPr>
          <p:cNvPr id="3" name="Content Placeholder 2">
            <a:extLst>
              <a:ext uri="{FF2B5EF4-FFF2-40B4-BE49-F238E27FC236}">
                <a16:creationId xmlns:a16="http://schemas.microsoft.com/office/drawing/2014/main" id="{B9597857-E69D-5276-BCE3-A6ACDC47E280}"/>
              </a:ext>
            </a:extLst>
          </p:cNvPr>
          <p:cNvSpPr>
            <a:spLocks noGrp="1"/>
          </p:cNvSpPr>
          <p:nvPr>
            <p:ph idx="1"/>
          </p:nvPr>
        </p:nvSpPr>
        <p:spPr>
          <a:xfrm>
            <a:off x="1484310" y="2609490"/>
            <a:ext cx="10018713" cy="4403785"/>
          </a:xfrm>
        </p:spPr>
        <p:txBody>
          <a:bodyPr>
            <a:normAutofit fontScale="92500" lnSpcReduction="10000"/>
          </a:bodyPr>
          <a:lstStyle/>
          <a:p>
            <a:r>
              <a:rPr lang="en-GB">
                <a:ea typeface="+mn-lt"/>
                <a:cs typeface="+mn-lt"/>
              </a:rPr>
              <a:t>ERP systems play a critical role in </a:t>
            </a:r>
            <a:r>
              <a:rPr lang="en-GB" dirty="0">
                <a:ea typeface="+mn-lt"/>
                <a:cs typeface="+mn-lt"/>
                <a:hlinkClick r:id="rId2"/>
              </a:rPr>
              <a:t>helping businesses streamline operations</a:t>
            </a:r>
            <a:r>
              <a:rPr lang="en-GB">
                <a:ea typeface="+mn-lt"/>
                <a:cs typeface="+mn-lt"/>
              </a:rPr>
              <a:t>, improve decision-making, and adapt to changing market conditions. While no single solution fits every business need, a modern ERP system can help your organization to:</a:t>
            </a:r>
            <a:endParaRPr lang="en-GB"/>
          </a:p>
          <a:p>
            <a:pPr>
              <a:buClr>
                <a:srgbClr val="1287C3"/>
              </a:buClr>
            </a:pPr>
            <a:r>
              <a:rPr lang="en-GB" b="1" dirty="0"/>
              <a:t>Drive optimal performance</a:t>
            </a:r>
          </a:p>
          <a:p>
            <a:pPr marL="0" indent="0">
              <a:buClr>
                <a:srgbClr val="1287C3"/>
              </a:buClr>
              <a:buNone/>
            </a:pPr>
            <a:r>
              <a:rPr lang="en-GB" dirty="0">
                <a:ea typeface="+mn-lt"/>
                <a:cs typeface="+mn-lt"/>
              </a:rPr>
              <a:t>Using AI-powered insights provided by ERP software, your organization can rapidly identify trends, uncover opportunities, and make data-driven decisions that enhance operational efficiency and performance.</a:t>
            </a:r>
            <a:endParaRPr lang="en-GB" dirty="0"/>
          </a:p>
          <a:p>
            <a:pPr>
              <a:buClr>
                <a:srgbClr val="1287C3"/>
              </a:buClr>
            </a:pPr>
            <a:r>
              <a:rPr lang="en-GB" b="1"/>
              <a:t>Accelerate operational impact</a:t>
            </a:r>
          </a:p>
          <a:p>
            <a:pPr marL="0" indent="0">
              <a:buClr>
                <a:srgbClr val="1287C3"/>
              </a:buClr>
              <a:buNone/>
            </a:pPr>
            <a:r>
              <a:rPr lang="en-GB">
                <a:ea typeface="+mn-lt"/>
                <a:cs typeface="+mn-lt"/>
              </a:rPr>
              <a:t>Empowered with connected processes and data, employees across departments can act quickly and deliver greater value. Increased visibility and automation reduce bottlenecks and improve productivity.</a:t>
            </a:r>
            <a:endParaRPr lang="en-GB"/>
          </a:p>
          <a:p>
            <a:pPr>
              <a:buClr>
                <a:srgbClr val="1287C3"/>
              </a:buClr>
            </a:pPr>
            <a:endParaRPr lang="en-GB" dirty="0"/>
          </a:p>
        </p:txBody>
      </p:sp>
    </p:spTree>
    <p:extLst>
      <p:ext uri="{BB962C8B-B14F-4D97-AF65-F5344CB8AC3E}">
        <p14:creationId xmlns:p14="http://schemas.microsoft.com/office/powerpoint/2010/main" val="1341854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EC2BC-5E5B-FD38-726A-3FEDF07AFB7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38D6B71-E72A-499D-B200-D356F937B31C}"/>
              </a:ext>
            </a:extLst>
          </p:cNvPr>
          <p:cNvSpPr>
            <a:spLocks noGrp="1"/>
          </p:cNvSpPr>
          <p:nvPr>
            <p:ph idx="1"/>
          </p:nvPr>
        </p:nvSpPr>
        <p:spPr>
          <a:xfrm>
            <a:off x="1484310" y="2666999"/>
            <a:ext cx="10018713" cy="3828691"/>
          </a:xfrm>
        </p:spPr>
        <p:txBody>
          <a:bodyPr vert="horz" lIns="91440" tIns="45720" rIns="91440" bIns="45720" rtlCol="0" anchor="ctr">
            <a:noAutofit/>
          </a:bodyPr>
          <a:lstStyle/>
          <a:p>
            <a:r>
              <a:rPr lang="en-GB" b="1">
                <a:ea typeface="+mn-lt"/>
                <a:cs typeface="+mn-lt"/>
              </a:rPr>
              <a:t>Enhance business agility</a:t>
            </a:r>
            <a:endParaRPr lang="en-US" b="1">
              <a:ea typeface="+mn-lt"/>
              <a:cs typeface="+mn-lt"/>
            </a:endParaRPr>
          </a:p>
          <a:p>
            <a:pPr marL="0" indent="0">
              <a:buClr>
                <a:srgbClr val="1287C3"/>
              </a:buClr>
              <a:buNone/>
            </a:pPr>
            <a:r>
              <a:rPr lang="en-GB">
                <a:ea typeface="+mn-lt"/>
                <a:cs typeface="+mn-lt"/>
              </a:rPr>
              <a:t>Modern ERP systems are designed to adapt and scale with your business, allowing you to respond with speed to disruptions or shifts in the market. This flexibility is crucial for staying competitive in a dynamic business environment.</a:t>
            </a:r>
          </a:p>
          <a:p>
            <a:pPr>
              <a:buClr>
                <a:srgbClr val="1287C3"/>
              </a:buClr>
            </a:pPr>
            <a:r>
              <a:rPr lang="en-GB" b="1">
                <a:ea typeface="+mn-lt"/>
                <a:cs typeface="+mn-lt"/>
              </a:rPr>
              <a:t>Lower operational costs</a:t>
            </a:r>
            <a:endParaRPr lang="en-US" b="1">
              <a:ea typeface="+mn-lt"/>
              <a:cs typeface="+mn-lt"/>
            </a:endParaRPr>
          </a:p>
          <a:p>
            <a:pPr marL="0" indent="0">
              <a:buClr>
                <a:srgbClr val="1287C3"/>
              </a:buClr>
              <a:buNone/>
            </a:pPr>
            <a:r>
              <a:rPr lang="en-GB">
                <a:ea typeface="+mn-lt"/>
                <a:cs typeface="+mn-lt"/>
              </a:rPr>
              <a:t>ERP systems reduce redundancies and inefficiencies, helping cut costs in areas such as inventory management, procurement, and production. By centralizing operations, businesses also save on IT and maintenance expenses over time.</a:t>
            </a:r>
          </a:p>
          <a:p>
            <a:pPr>
              <a:buClr>
                <a:srgbClr val="1287C3"/>
              </a:buClr>
            </a:pPr>
            <a:endParaRPr lang="en-GB" dirty="0"/>
          </a:p>
        </p:txBody>
      </p:sp>
    </p:spTree>
    <p:extLst>
      <p:ext uri="{BB962C8B-B14F-4D97-AF65-F5344CB8AC3E}">
        <p14:creationId xmlns:p14="http://schemas.microsoft.com/office/powerpoint/2010/main" val="20258591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723F0-EB3D-F9FE-CED8-A696E7390BC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F2DAAD1-0DC8-7F40-D0C7-A8DDC164C902}"/>
              </a:ext>
            </a:extLst>
          </p:cNvPr>
          <p:cNvSpPr>
            <a:spLocks noGrp="1"/>
          </p:cNvSpPr>
          <p:nvPr>
            <p:ph idx="1"/>
          </p:nvPr>
        </p:nvSpPr>
        <p:spPr/>
        <p:txBody>
          <a:bodyPr>
            <a:normAutofit fontScale="92500" lnSpcReduction="10000"/>
          </a:bodyPr>
          <a:lstStyle/>
          <a:p>
            <a:r>
              <a:rPr lang="en-GB" b="1"/>
              <a:t>Maintain security and privacy</a:t>
            </a:r>
            <a:endParaRPr lang="en-US" b="1"/>
          </a:p>
          <a:p>
            <a:pPr marL="0" indent="0">
              <a:buClr>
                <a:srgbClr val="1287C3"/>
              </a:buClr>
              <a:buNone/>
            </a:pPr>
            <a:r>
              <a:rPr lang="en-GB" dirty="0"/>
              <a:t>Built-in regulatory and security features help your business comply </a:t>
            </a:r>
            <a:r>
              <a:rPr lang="en-GB" dirty="0" err="1"/>
              <a:t>withindustry</a:t>
            </a:r>
            <a:r>
              <a:rPr lang="en-GB" dirty="0"/>
              <a:t> standards and safeguard sensitive data. Real-time </a:t>
            </a:r>
            <a:r>
              <a:rPr lang="en-GB" dirty="0" err="1"/>
              <a:t>monitoringreduces</a:t>
            </a:r>
            <a:r>
              <a:rPr lang="en-GB" dirty="0"/>
              <a:t> risks and supports better governance.</a:t>
            </a:r>
            <a:endParaRPr lang="en-US" dirty="0"/>
          </a:p>
          <a:p>
            <a:pPr>
              <a:buClr>
                <a:srgbClr val="1287C3"/>
              </a:buClr>
            </a:pPr>
            <a:r>
              <a:rPr lang="en-GB" b="1"/>
              <a:t>Support sustainability initiatives</a:t>
            </a:r>
            <a:endParaRPr lang="en-US" b="1"/>
          </a:p>
          <a:p>
            <a:pPr marL="0" indent="0">
              <a:buClr>
                <a:srgbClr val="1287C3"/>
              </a:buClr>
              <a:buNone/>
            </a:pPr>
            <a:r>
              <a:rPr lang="en-GB" dirty="0"/>
              <a:t>By optimizing resource use and streamlining supply chains, ERP </a:t>
            </a:r>
            <a:r>
              <a:rPr lang="en-GB" dirty="0" err="1"/>
              <a:t>systemscontribute</a:t>
            </a:r>
            <a:r>
              <a:rPr lang="en-GB" dirty="0"/>
              <a:t> to more sustainable operations. Many platforms also offer </a:t>
            </a:r>
            <a:r>
              <a:rPr lang="en-GB" dirty="0" err="1"/>
              <a:t>toolsfor</a:t>
            </a:r>
            <a:r>
              <a:rPr lang="en-GB" dirty="0"/>
              <a:t> tracking and reporting on environmental impact.</a:t>
            </a:r>
            <a:endParaRPr lang="en-US" dirty="0"/>
          </a:p>
          <a:p>
            <a:pPr>
              <a:buClr>
                <a:srgbClr val="1287C3"/>
              </a:buClr>
            </a:pPr>
            <a:endParaRPr lang="en-GB" dirty="0"/>
          </a:p>
        </p:txBody>
      </p:sp>
    </p:spTree>
    <p:extLst>
      <p:ext uri="{BB962C8B-B14F-4D97-AF65-F5344CB8AC3E}">
        <p14:creationId xmlns:p14="http://schemas.microsoft.com/office/powerpoint/2010/main" val="1669130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BCE8-90AF-E20C-35D1-79B60F30FAC2}"/>
              </a:ext>
            </a:extLst>
          </p:cNvPr>
          <p:cNvSpPr>
            <a:spLocks noGrp="1"/>
          </p:cNvSpPr>
          <p:nvPr>
            <p:ph type="title"/>
          </p:nvPr>
        </p:nvSpPr>
        <p:spPr/>
        <p:txBody>
          <a:bodyPr/>
          <a:lstStyle/>
          <a:p>
            <a:r>
              <a:rPr lang="en-GB">
                <a:ea typeface="+mj-lt"/>
                <a:cs typeface="+mj-lt"/>
              </a:rPr>
              <a:t>Customer Relationship Management(CRM)</a:t>
            </a:r>
            <a:endParaRPr lang="en-US"/>
          </a:p>
        </p:txBody>
      </p:sp>
      <p:sp>
        <p:nvSpPr>
          <p:cNvPr id="3" name="Content Placeholder 2">
            <a:extLst>
              <a:ext uri="{FF2B5EF4-FFF2-40B4-BE49-F238E27FC236}">
                <a16:creationId xmlns:a16="http://schemas.microsoft.com/office/drawing/2014/main" id="{D81D6282-4B5A-4C93-927D-1031DA9D35C6}"/>
              </a:ext>
            </a:extLst>
          </p:cNvPr>
          <p:cNvSpPr>
            <a:spLocks noGrp="1"/>
          </p:cNvSpPr>
          <p:nvPr>
            <p:ph idx="1"/>
          </p:nvPr>
        </p:nvSpPr>
        <p:spPr/>
        <p:txBody>
          <a:bodyPr/>
          <a:lstStyle/>
          <a:p>
            <a:r>
              <a:rPr lang="en-GB">
                <a:ea typeface="+mn-lt"/>
                <a:cs typeface="+mn-lt"/>
              </a:rPr>
              <a:t>CRM (Customer Relationship Management) software is a centralized digital platform that manages a company’s interactions with current and potential customers</a:t>
            </a:r>
          </a:p>
        </p:txBody>
      </p:sp>
    </p:spTree>
    <p:extLst>
      <p:ext uri="{BB962C8B-B14F-4D97-AF65-F5344CB8AC3E}">
        <p14:creationId xmlns:p14="http://schemas.microsoft.com/office/powerpoint/2010/main" val="14900062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5EF0-FEE9-42B7-F296-2F646910A54B}"/>
              </a:ext>
            </a:extLst>
          </p:cNvPr>
          <p:cNvSpPr>
            <a:spLocks noGrp="1"/>
          </p:cNvSpPr>
          <p:nvPr>
            <p:ph type="title"/>
          </p:nvPr>
        </p:nvSpPr>
        <p:spPr/>
        <p:txBody>
          <a:bodyPr>
            <a:normAutofit/>
          </a:bodyPr>
          <a:lstStyle/>
          <a:p>
            <a:r>
              <a:rPr lang="en-GB" b="1">
                <a:ea typeface="+mj-lt"/>
                <a:cs typeface="+mj-lt"/>
              </a:rPr>
              <a:t>Differences between ERP and CRM</a:t>
            </a:r>
            <a:br>
              <a:rPr lang="en-GB" b="1" dirty="0">
                <a:ea typeface="+mj-lt"/>
                <a:cs typeface="+mj-lt"/>
              </a:rPr>
            </a:br>
            <a:endParaRPr lang="en-GB" b="1" dirty="0">
              <a:ea typeface="+mj-lt"/>
              <a:cs typeface="+mj-lt"/>
            </a:endParaRPr>
          </a:p>
        </p:txBody>
      </p:sp>
      <p:graphicFrame>
        <p:nvGraphicFramePr>
          <p:cNvPr id="5" name="Content Placeholder 4">
            <a:extLst>
              <a:ext uri="{FF2B5EF4-FFF2-40B4-BE49-F238E27FC236}">
                <a16:creationId xmlns:a16="http://schemas.microsoft.com/office/drawing/2014/main" id="{17D691F5-76BB-FF61-FBC4-183EFFD2EB1E}"/>
              </a:ext>
            </a:extLst>
          </p:cNvPr>
          <p:cNvGraphicFramePr>
            <a:graphicFrameLocks noGrp="1"/>
          </p:cNvGraphicFramePr>
          <p:nvPr>
            <p:ph idx="1"/>
            <p:extLst>
              <p:ext uri="{D42A27DB-BD31-4B8C-83A1-F6EECF244321}">
                <p14:modId xmlns:p14="http://schemas.microsoft.com/office/powerpoint/2010/main" val="4110258830"/>
              </p:ext>
            </p:extLst>
          </p:nvPr>
        </p:nvGraphicFramePr>
        <p:xfrm>
          <a:off x="1484313" y="2667000"/>
          <a:ext cx="10583031" cy="3911031"/>
        </p:xfrm>
        <a:graphic>
          <a:graphicData uri="http://schemas.openxmlformats.org/drawingml/2006/table">
            <a:tbl>
              <a:tblPr bandRow="1">
                <a:tableStyleId>{5C22544A-7EE6-4342-B048-85BDC9FD1C3A}</a:tableStyleId>
              </a:tblPr>
              <a:tblGrid>
                <a:gridCol w="1573763">
                  <a:extLst>
                    <a:ext uri="{9D8B030D-6E8A-4147-A177-3AD203B41FA5}">
                      <a16:colId xmlns:a16="http://schemas.microsoft.com/office/drawing/2014/main" val="1571492417"/>
                    </a:ext>
                  </a:extLst>
                </a:gridCol>
                <a:gridCol w="4276530">
                  <a:extLst>
                    <a:ext uri="{9D8B030D-6E8A-4147-A177-3AD203B41FA5}">
                      <a16:colId xmlns:a16="http://schemas.microsoft.com/office/drawing/2014/main" val="462219303"/>
                    </a:ext>
                  </a:extLst>
                </a:gridCol>
                <a:gridCol w="4732738">
                  <a:extLst>
                    <a:ext uri="{9D8B030D-6E8A-4147-A177-3AD203B41FA5}">
                      <a16:colId xmlns:a16="http://schemas.microsoft.com/office/drawing/2014/main" val="4016857643"/>
                    </a:ext>
                  </a:extLst>
                </a:gridCol>
              </a:tblGrid>
              <a:tr h="607795">
                <a:tc>
                  <a:txBody>
                    <a:bodyPr/>
                    <a:lstStyle/>
                    <a:p>
                      <a:pPr algn="just" fontAlgn="base">
                        <a:buNone/>
                      </a:pPr>
                      <a:r>
                        <a:rPr lang="en-GB" sz="2000" b="1">
                          <a:effectLst/>
                          <a:latin typeface="Calibri"/>
                          <a:ea typeface="Calibri"/>
                          <a:cs typeface="Calibri"/>
                        </a:rPr>
                        <a:t>Aspect</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just" fontAlgn="base">
                        <a:buNone/>
                      </a:pPr>
                      <a:r>
                        <a:rPr lang="en-GB" sz="2000" b="1">
                          <a:effectLst/>
                          <a:latin typeface="Calibri"/>
                          <a:ea typeface="Calibri"/>
                          <a:cs typeface="Calibri"/>
                        </a:rPr>
                        <a:t>ERP</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just" fontAlgn="base">
                        <a:buNone/>
                      </a:pPr>
                      <a:r>
                        <a:rPr lang="en-GB" sz="2000" b="1">
                          <a:effectLst/>
                          <a:latin typeface="Calibri"/>
                          <a:ea typeface="Calibri"/>
                          <a:cs typeface="Calibri"/>
                        </a:rPr>
                        <a:t>CRM</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197307616"/>
                  </a:ext>
                </a:extLst>
              </a:tr>
              <a:tr h="1294868">
                <a:tc>
                  <a:txBody>
                    <a:bodyPr/>
                    <a:lstStyle/>
                    <a:p>
                      <a:pPr algn="just" fontAlgn="ctr">
                        <a:buNone/>
                      </a:pPr>
                      <a:r>
                        <a:rPr lang="en-GB" sz="2000" b="0">
                          <a:effectLst/>
                          <a:latin typeface="Calibri"/>
                          <a:ea typeface="Calibri"/>
                          <a:cs typeface="Calibri"/>
                        </a:rPr>
                        <a:t>Definition</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ERPs are software solutions that help organizations manage their business processes.</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CRM is the software that automates customer communication with the organization.</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25012674"/>
                  </a:ext>
                </a:extLst>
              </a:tr>
              <a:tr h="1004184">
                <a:tc>
                  <a:txBody>
                    <a:bodyPr/>
                    <a:lstStyle/>
                    <a:p>
                      <a:pPr algn="just" fontAlgn="ctr">
                        <a:buNone/>
                      </a:pPr>
                      <a:r>
                        <a:rPr lang="en-GB" sz="2000" b="0">
                          <a:effectLst/>
                          <a:latin typeface="Calibri"/>
                          <a:ea typeface="Calibri"/>
                          <a:cs typeface="Calibri"/>
                        </a:rPr>
                        <a:t>System Type</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It is a centralized system that streamlines all the processes.</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CRM is the single platform for turning customers into potential client.</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63740597"/>
                  </a:ext>
                </a:extLst>
              </a:tr>
              <a:tr h="1004184">
                <a:tc>
                  <a:txBody>
                    <a:bodyPr/>
                    <a:lstStyle/>
                    <a:p>
                      <a:pPr algn="just" rtl="0" fontAlgn="base">
                        <a:spcAft>
                          <a:spcPts val="750"/>
                        </a:spcAft>
                        <a:buNone/>
                      </a:pPr>
                      <a:r>
                        <a:rPr lang="en-GB" sz="2000" b="0">
                          <a:effectLst/>
                          <a:latin typeface="Calibri"/>
                          <a:ea typeface="Calibri"/>
                          <a:cs typeface="Calibri"/>
                        </a:rPr>
                        <a:t>Used For</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spcAft>
                          <a:spcPts val="750"/>
                        </a:spcAft>
                        <a:buNone/>
                      </a:pPr>
                      <a:r>
                        <a:rPr lang="en-GB" sz="2000" b="0" dirty="0">
                          <a:effectLst/>
                          <a:latin typeface="Calibri"/>
                          <a:ea typeface="Calibri"/>
                          <a:cs typeface="Calibri"/>
                        </a:rPr>
                        <a:t>ERP software is mainly used for financial data and operations.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spcAft>
                          <a:spcPts val="750"/>
                        </a:spcAft>
                        <a:buNone/>
                      </a:pPr>
                      <a:r>
                        <a:rPr lang="en-GB" sz="2000" b="0" dirty="0">
                          <a:effectLst/>
                          <a:latin typeface="Calibri"/>
                          <a:ea typeface="Calibri"/>
                          <a:cs typeface="Calibri"/>
                        </a:rPr>
                        <a:t>CRM Software is mainly used for sales and customer service.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1425774"/>
                  </a:ext>
                </a:extLst>
              </a:tr>
            </a:tbl>
          </a:graphicData>
        </a:graphic>
      </p:graphicFrame>
    </p:spTree>
    <p:extLst>
      <p:ext uri="{BB962C8B-B14F-4D97-AF65-F5344CB8AC3E}">
        <p14:creationId xmlns:p14="http://schemas.microsoft.com/office/powerpoint/2010/main" val="26774307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05DFB-C0DC-C13F-654D-37AE06FDE235}"/>
              </a:ext>
            </a:extLst>
          </p:cNvPr>
          <p:cNvSpPr>
            <a:spLocks noGrp="1"/>
          </p:cNvSpPr>
          <p:nvPr>
            <p:ph type="title"/>
          </p:nvPr>
        </p:nvSpPr>
        <p:spPr/>
        <p:txBody>
          <a:bodyPr/>
          <a:lstStyle/>
          <a:p>
            <a:r>
              <a:rPr lang="en-GB" b="1"/>
              <a:t>Differences between ERP and CRM</a:t>
            </a:r>
            <a:br>
              <a:rPr lang="en-GB" b="1" dirty="0"/>
            </a:br>
            <a:endParaRPr lang="en-GB"/>
          </a:p>
          <a:p>
            <a:endParaRPr lang="en-GB" dirty="0"/>
          </a:p>
        </p:txBody>
      </p:sp>
      <p:graphicFrame>
        <p:nvGraphicFramePr>
          <p:cNvPr id="5" name="Content Placeholder 4">
            <a:extLst>
              <a:ext uri="{FF2B5EF4-FFF2-40B4-BE49-F238E27FC236}">
                <a16:creationId xmlns:a16="http://schemas.microsoft.com/office/drawing/2014/main" id="{6F27B091-4163-F5C4-7CB6-EF257FB8B32C}"/>
              </a:ext>
            </a:extLst>
          </p:cNvPr>
          <p:cNvGraphicFramePr>
            <a:graphicFrameLocks noGrp="1"/>
          </p:cNvGraphicFramePr>
          <p:nvPr>
            <p:ph idx="1"/>
            <p:extLst>
              <p:ext uri="{D42A27DB-BD31-4B8C-83A1-F6EECF244321}">
                <p14:modId xmlns:p14="http://schemas.microsoft.com/office/powerpoint/2010/main" val="1297154480"/>
              </p:ext>
            </p:extLst>
          </p:nvPr>
        </p:nvGraphicFramePr>
        <p:xfrm>
          <a:off x="1211143" y="1890623"/>
          <a:ext cx="10292331" cy="3899739"/>
        </p:xfrm>
        <a:graphic>
          <a:graphicData uri="http://schemas.openxmlformats.org/drawingml/2006/table">
            <a:tbl>
              <a:tblPr bandRow="1">
                <a:tableStyleId>{5C22544A-7EE6-4342-B048-85BDC9FD1C3A}</a:tableStyleId>
              </a:tblPr>
              <a:tblGrid>
                <a:gridCol w="1816284">
                  <a:extLst>
                    <a:ext uri="{9D8B030D-6E8A-4147-A177-3AD203B41FA5}">
                      <a16:colId xmlns:a16="http://schemas.microsoft.com/office/drawing/2014/main" val="3735439851"/>
                    </a:ext>
                  </a:extLst>
                </a:gridCol>
                <a:gridCol w="4082476">
                  <a:extLst>
                    <a:ext uri="{9D8B030D-6E8A-4147-A177-3AD203B41FA5}">
                      <a16:colId xmlns:a16="http://schemas.microsoft.com/office/drawing/2014/main" val="4146891713"/>
                    </a:ext>
                  </a:extLst>
                </a:gridCol>
                <a:gridCol w="4393571">
                  <a:extLst>
                    <a:ext uri="{9D8B030D-6E8A-4147-A177-3AD203B41FA5}">
                      <a16:colId xmlns:a16="http://schemas.microsoft.com/office/drawing/2014/main" val="1703627638"/>
                    </a:ext>
                  </a:extLst>
                </a:gridCol>
              </a:tblGrid>
              <a:tr h="768976">
                <a:tc>
                  <a:txBody>
                    <a:bodyPr/>
                    <a:lstStyle/>
                    <a:p>
                      <a:pPr algn="just" fontAlgn="ctr">
                        <a:buNone/>
                      </a:pPr>
                      <a:r>
                        <a:rPr lang="en-GB" sz="2000" b="0">
                          <a:effectLst/>
                          <a:latin typeface="Calibri"/>
                          <a:ea typeface="Calibri"/>
                          <a:cs typeface="Calibri"/>
                        </a:rPr>
                        <a:t>Feature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Most of the ERP have CRM Features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CRM do not have ERP features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82048580"/>
                  </a:ext>
                </a:extLst>
              </a:tr>
              <a:tr h="833057">
                <a:tc>
                  <a:txBody>
                    <a:bodyPr/>
                    <a:lstStyle/>
                    <a:p>
                      <a:pPr algn="just" fontAlgn="ctr">
                        <a:buNone/>
                      </a:pPr>
                      <a:r>
                        <a:rPr lang="en-GB" sz="2000" b="0">
                          <a:effectLst/>
                          <a:latin typeface="Calibri"/>
                          <a:ea typeface="Calibri"/>
                          <a:cs typeface="Calibri"/>
                        </a:rPr>
                        <a:t>Web-Based Nature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ERP is a web-based application.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CRM is a web-based solution.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66701633"/>
                  </a:ext>
                </a:extLst>
              </a:tr>
              <a:tr h="1121422">
                <a:tc>
                  <a:txBody>
                    <a:bodyPr/>
                    <a:lstStyle/>
                    <a:p>
                      <a:pPr algn="just" fontAlgn="ctr">
                        <a:buNone/>
                      </a:pPr>
                      <a:r>
                        <a:rPr lang="en-GB" sz="2000" b="0">
                          <a:effectLst/>
                          <a:latin typeface="Calibri"/>
                          <a:ea typeface="Calibri"/>
                          <a:cs typeface="Calibri"/>
                        </a:rPr>
                        <a:t>Focus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ERP systems are more focused on organizational growth and cost reduction.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CRM systems are focused on customer relations with the organization.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42094960"/>
                  </a:ext>
                </a:extLst>
              </a:tr>
              <a:tr h="1073363">
                <a:tc>
                  <a:txBody>
                    <a:bodyPr/>
                    <a:lstStyle/>
                    <a:p>
                      <a:pPr algn="just" fontAlgn="ctr">
                        <a:buNone/>
                      </a:pPr>
                      <a:r>
                        <a:rPr lang="en-GB" sz="2000" b="0">
                          <a:effectLst/>
                          <a:latin typeface="Calibri"/>
                          <a:ea typeface="Calibri"/>
                          <a:cs typeface="Calibri"/>
                        </a:rPr>
                        <a:t>Support Activities</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dirty="0">
                          <a:effectLst/>
                          <a:latin typeface="Calibri"/>
                          <a:ea typeface="Calibri"/>
                          <a:cs typeface="Calibri"/>
                        </a:rPr>
                        <a:t>ERP support the </a:t>
                      </a:r>
                      <a:r>
                        <a:rPr lang="en-GB" sz="2000" b="0" dirty="0" err="1">
                          <a:effectLst/>
                          <a:latin typeface="Calibri"/>
                          <a:ea typeface="Calibri"/>
                          <a:cs typeface="Calibri"/>
                        </a:rPr>
                        <a:t>back office</a:t>
                      </a:r>
                      <a:r>
                        <a:rPr lang="en-GB" sz="2000" b="0" dirty="0">
                          <a:effectLst/>
                          <a:latin typeface="Calibri"/>
                          <a:ea typeface="Calibri"/>
                          <a:cs typeface="Calibri"/>
                        </a:rPr>
                        <a:t> activities like accounting, procurement and HR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dirty="0">
                          <a:effectLst/>
                          <a:latin typeface="Calibri"/>
                          <a:ea typeface="Calibri"/>
                          <a:cs typeface="Calibri"/>
                        </a:rPr>
                        <a:t>CRM support the front office activities like marketing, sales and services.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41017107"/>
                  </a:ext>
                </a:extLst>
              </a:tr>
            </a:tbl>
          </a:graphicData>
        </a:graphic>
      </p:graphicFrame>
      <p:graphicFrame>
        <p:nvGraphicFramePr>
          <p:cNvPr id="7" name="Table 6">
            <a:extLst>
              <a:ext uri="{FF2B5EF4-FFF2-40B4-BE49-F238E27FC236}">
                <a16:creationId xmlns:a16="http://schemas.microsoft.com/office/drawing/2014/main" id="{4690D419-DEE4-430B-88A9-1846B734D8A8}"/>
              </a:ext>
            </a:extLst>
          </p:cNvPr>
          <p:cNvGraphicFramePr>
            <a:graphicFrameLocks noGrp="1"/>
          </p:cNvGraphicFramePr>
          <p:nvPr>
            <p:extLst>
              <p:ext uri="{D42A27DB-BD31-4B8C-83A1-F6EECF244321}">
                <p14:modId xmlns:p14="http://schemas.microsoft.com/office/powerpoint/2010/main" val="900037451"/>
              </p:ext>
            </p:extLst>
          </p:nvPr>
        </p:nvGraphicFramePr>
        <p:xfrm>
          <a:off x="1207697" y="5808453"/>
          <a:ext cx="10293914" cy="876300"/>
        </p:xfrm>
        <a:graphic>
          <a:graphicData uri="http://schemas.openxmlformats.org/drawingml/2006/table">
            <a:tbl>
              <a:tblPr bandRow="1">
                <a:tableStyleId>{5C22544A-7EE6-4342-B048-85BDC9FD1C3A}</a:tableStyleId>
              </a:tblPr>
              <a:tblGrid>
                <a:gridCol w="1830355">
                  <a:extLst>
                    <a:ext uri="{9D8B030D-6E8A-4147-A177-3AD203B41FA5}">
                      <a16:colId xmlns:a16="http://schemas.microsoft.com/office/drawing/2014/main" val="1992494607"/>
                    </a:ext>
                  </a:extLst>
                </a:gridCol>
                <a:gridCol w="4037045">
                  <a:extLst>
                    <a:ext uri="{9D8B030D-6E8A-4147-A177-3AD203B41FA5}">
                      <a16:colId xmlns:a16="http://schemas.microsoft.com/office/drawing/2014/main" val="1779989767"/>
                    </a:ext>
                  </a:extLst>
                </a:gridCol>
                <a:gridCol w="4426514">
                  <a:extLst>
                    <a:ext uri="{9D8B030D-6E8A-4147-A177-3AD203B41FA5}">
                      <a16:colId xmlns:a16="http://schemas.microsoft.com/office/drawing/2014/main" val="1224808308"/>
                    </a:ext>
                  </a:extLst>
                </a:gridCol>
              </a:tblGrid>
              <a:tr h="461865">
                <a:tc>
                  <a:txBody>
                    <a:bodyPr/>
                    <a:lstStyle/>
                    <a:p>
                      <a:pPr algn="just" fontAlgn="ctr">
                        <a:buNone/>
                      </a:pPr>
                      <a:r>
                        <a:rPr lang="en-GB" sz="2000" b="0">
                          <a:effectLst/>
                          <a:latin typeface="Calibri"/>
                          <a:ea typeface="Calibri"/>
                          <a:cs typeface="Calibri"/>
                        </a:rPr>
                        <a:t>Examples</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dirty="0">
                          <a:effectLst/>
                          <a:latin typeface="Calibri"/>
                          <a:ea typeface="Calibri"/>
                          <a:cs typeface="Calibri"/>
                        </a:rPr>
                        <a:t>NetSuite ERP, </a:t>
                      </a:r>
                      <a:r>
                        <a:rPr lang="en-GB" sz="2000" b="0" dirty="0" err="1">
                          <a:effectLst/>
                          <a:latin typeface="Calibri"/>
                          <a:ea typeface="Calibri"/>
                          <a:cs typeface="Calibri"/>
                        </a:rPr>
                        <a:t>Scoro</a:t>
                      </a:r>
                      <a:r>
                        <a:rPr lang="en-GB" sz="2000" b="0" dirty="0">
                          <a:effectLst/>
                          <a:latin typeface="Calibri"/>
                          <a:ea typeface="Calibri"/>
                          <a:cs typeface="Calibri"/>
                        </a:rPr>
                        <a:t>, </a:t>
                      </a:r>
                      <a:r>
                        <a:rPr lang="en-GB" sz="2000" b="0" dirty="0" err="1">
                          <a:effectLst/>
                          <a:latin typeface="Calibri"/>
                          <a:ea typeface="Calibri"/>
                          <a:cs typeface="Calibri"/>
                        </a:rPr>
                        <a:t>AcTouch</a:t>
                      </a:r>
                      <a:r>
                        <a:rPr lang="en-GB" sz="2000" b="0" dirty="0">
                          <a:effectLst/>
                          <a:latin typeface="Calibri"/>
                          <a:ea typeface="Calibri"/>
                          <a:cs typeface="Calibri"/>
                        </a:rPr>
                        <a:t>, etc.</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buNone/>
                      </a:pPr>
                      <a:r>
                        <a:rPr lang="en-GB" sz="2000" b="0">
                          <a:effectLst/>
                          <a:latin typeface="Calibri"/>
                          <a:ea typeface="Calibri"/>
                          <a:cs typeface="Calibri"/>
                        </a:rPr>
                        <a:t>Salesforce CRM, HubSpot CRM, Zoho CRM, etc.</a:t>
                      </a:r>
                      <a:endParaRPr lang="en-GB" sz="2000" b="0" dirty="0">
                        <a:effectLst/>
                        <a:latin typeface="Calibri"/>
                        <a:ea typeface="Calibri"/>
                        <a:cs typeface="Calibri"/>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41850938"/>
                  </a:ext>
                </a:extLst>
              </a:tr>
            </a:tbl>
          </a:graphicData>
        </a:graphic>
      </p:graphicFrame>
    </p:spTree>
    <p:extLst>
      <p:ext uri="{BB962C8B-B14F-4D97-AF65-F5344CB8AC3E}">
        <p14:creationId xmlns:p14="http://schemas.microsoft.com/office/powerpoint/2010/main" val="28554016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43296-3F21-E730-2B11-BBB064ED16B8}"/>
              </a:ext>
            </a:extLst>
          </p:cNvPr>
          <p:cNvSpPr>
            <a:spLocks noGrp="1"/>
          </p:cNvSpPr>
          <p:nvPr>
            <p:ph type="title"/>
          </p:nvPr>
        </p:nvSpPr>
        <p:spPr/>
        <p:txBody>
          <a:bodyPr/>
          <a:lstStyle/>
          <a:p>
            <a:r>
              <a:rPr lang="en-GB" dirty="0"/>
              <a:t>Disadvantage of </a:t>
            </a:r>
            <a:r>
              <a:rPr lang="en-GB"/>
              <a:t>ERP</a:t>
            </a:r>
          </a:p>
        </p:txBody>
      </p:sp>
      <p:sp>
        <p:nvSpPr>
          <p:cNvPr id="3" name="Content Placeholder 2">
            <a:extLst>
              <a:ext uri="{FF2B5EF4-FFF2-40B4-BE49-F238E27FC236}">
                <a16:creationId xmlns:a16="http://schemas.microsoft.com/office/drawing/2014/main" id="{0323D61F-6A1E-8DF8-F26F-0D0373D89827}"/>
              </a:ext>
            </a:extLst>
          </p:cNvPr>
          <p:cNvSpPr>
            <a:spLocks noGrp="1"/>
          </p:cNvSpPr>
          <p:nvPr>
            <p:ph idx="1"/>
          </p:nvPr>
        </p:nvSpPr>
        <p:spPr>
          <a:xfrm>
            <a:off x="1484310" y="2192547"/>
            <a:ext cx="10493165" cy="4662577"/>
          </a:xfrm>
        </p:spPr>
        <p:txBody>
          <a:bodyPr vert="horz" lIns="91440" tIns="45720" rIns="91440" bIns="45720" rtlCol="0" anchor="ctr">
            <a:noAutofit/>
          </a:bodyPr>
          <a:lstStyle/>
          <a:p>
            <a:r>
              <a:rPr lang="en-GB" sz="1800" b="1" dirty="0">
                <a:ea typeface="+mn-lt"/>
                <a:cs typeface="+mn-lt"/>
              </a:rPr>
              <a:t>High Initial Investment:</a:t>
            </a:r>
            <a:r>
              <a:rPr lang="en-GB" sz="1800" dirty="0">
                <a:ea typeface="+mn-lt"/>
                <a:cs typeface="+mn-lt"/>
              </a:rPr>
              <a:t> Purchasing, licensing, and setting up an ERP require substantial capital, putting them out of reach or causing budget overruns for some organizations.</a:t>
            </a:r>
          </a:p>
          <a:p>
            <a:pPr>
              <a:buClr>
                <a:srgbClr val="1287C3"/>
              </a:buClr>
            </a:pPr>
            <a:r>
              <a:rPr lang="en-GB" sz="1800" b="1">
                <a:ea typeface="+mn-lt"/>
                <a:cs typeface="+mn-lt"/>
              </a:rPr>
              <a:t>Long Implementation Times:</a:t>
            </a:r>
            <a:r>
              <a:rPr lang="en-GB" sz="1800">
                <a:ea typeface="+mn-lt"/>
                <a:cs typeface="+mn-lt"/>
              </a:rPr>
              <a:t> Deploying an ERP often takes 6 to 18 months, which can cause significant disruption to normal business operations.</a:t>
            </a:r>
            <a:endParaRPr lang="en-GB" sz="1800" dirty="0">
              <a:ea typeface="+mn-lt"/>
              <a:cs typeface="+mn-lt"/>
            </a:endParaRPr>
          </a:p>
          <a:p>
            <a:pPr>
              <a:buClr>
                <a:srgbClr val="1287C3"/>
              </a:buClr>
            </a:pPr>
            <a:r>
              <a:rPr lang="en-GB" sz="1800" b="1">
                <a:ea typeface="+mn-lt"/>
                <a:cs typeface="+mn-lt"/>
              </a:rPr>
              <a:t>Complex Data Migration:</a:t>
            </a:r>
            <a:r>
              <a:rPr lang="en-GB" sz="1800">
                <a:ea typeface="+mn-lt"/>
                <a:cs typeface="+mn-lt"/>
              </a:rPr>
              <a:t> Transferring disorganized, legacy data to a standardized ERP format is tedious and can result in errors if not done properly.</a:t>
            </a:r>
            <a:endParaRPr lang="en-GB" sz="1800" dirty="0">
              <a:ea typeface="+mn-lt"/>
              <a:cs typeface="+mn-lt"/>
            </a:endParaRPr>
          </a:p>
          <a:p>
            <a:pPr>
              <a:buClr>
                <a:srgbClr val="1287C3"/>
              </a:buClr>
            </a:pPr>
            <a:r>
              <a:rPr lang="en-GB" sz="1800" b="1">
                <a:ea typeface="+mn-lt"/>
                <a:cs typeface="+mn-lt"/>
              </a:rPr>
              <a:t>Employee Resistance:</a:t>
            </a:r>
            <a:r>
              <a:rPr lang="en-GB" sz="1800">
                <a:ea typeface="+mn-lt"/>
                <a:cs typeface="+mn-lt"/>
              </a:rPr>
              <a:t> The learning curve is steep. Employees accustomed to legacy systems often resist the new workflows, leading to drops in productivity.</a:t>
            </a:r>
            <a:endParaRPr lang="en-GB" sz="1800" dirty="0">
              <a:ea typeface="+mn-lt"/>
              <a:cs typeface="+mn-lt"/>
            </a:endParaRPr>
          </a:p>
          <a:p>
            <a:pPr>
              <a:buClr>
                <a:srgbClr val="1287C3"/>
              </a:buClr>
            </a:pPr>
            <a:r>
              <a:rPr lang="en-GB" sz="1800" b="1" dirty="0">
                <a:ea typeface="+mn-lt"/>
                <a:cs typeface="+mn-lt"/>
              </a:rPr>
              <a:t>Over-Customization Issues:</a:t>
            </a:r>
            <a:r>
              <a:rPr lang="en-GB" sz="1800" dirty="0">
                <a:ea typeface="+mn-lt"/>
                <a:cs typeface="+mn-lt"/>
              </a:rPr>
              <a:t> Trying to heavily modify the ERP to fit unique workflows delays rollouts, drives up costs, and makes future updates difficult to install.</a:t>
            </a:r>
          </a:p>
          <a:p>
            <a:pPr>
              <a:buClr>
                <a:srgbClr val="1287C3"/>
              </a:buClr>
            </a:pPr>
            <a:r>
              <a:rPr lang="en-GB" sz="1800" b="1">
                <a:ea typeface="+mn-lt"/>
                <a:cs typeface="+mn-lt"/>
              </a:rPr>
              <a:t>Vendor Lock-In:</a:t>
            </a:r>
            <a:r>
              <a:rPr lang="en-GB" sz="1800">
                <a:ea typeface="+mn-lt"/>
                <a:cs typeface="+mn-lt"/>
              </a:rPr>
              <a:t> Organizations may become heavily dependent on a single vendor for maintenance, support, and necessary system enhancements.</a:t>
            </a:r>
            <a:endParaRPr lang="en-GB" sz="1800" dirty="0">
              <a:ea typeface="+mn-lt"/>
              <a:cs typeface="+mn-lt"/>
            </a:endParaRPr>
          </a:p>
          <a:p>
            <a:pPr>
              <a:buClr>
                <a:srgbClr val="1287C3"/>
              </a:buClr>
            </a:pPr>
            <a:endParaRPr lang="en-GB" sz="1800" dirty="0"/>
          </a:p>
        </p:txBody>
      </p:sp>
    </p:spTree>
    <p:extLst>
      <p:ext uri="{BB962C8B-B14F-4D97-AF65-F5344CB8AC3E}">
        <p14:creationId xmlns:p14="http://schemas.microsoft.com/office/powerpoint/2010/main" val="31590261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B46B-1F7B-571C-32FA-C15DA275C1B2}"/>
              </a:ext>
            </a:extLst>
          </p:cNvPr>
          <p:cNvSpPr>
            <a:spLocks noGrp="1"/>
          </p:cNvSpPr>
          <p:nvPr>
            <p:ph type="title"/>
          </p:nvPr>
        </p:nvSpPr>
        <p:spPr/>
        <p:txBody>
          <a:bodyPr/>
          <a:lstStyle/>
          <a:p>
            <a:r>
              <a:rPr lang="en-GB">
                <a:ea typeface="+mj-lt"/>
                <a:cs typeface="+mj-lt"/>
              </a:rPr>
              <a:t>The relationship between Business strategy </a:t>
            </a:r>
            <a:r>
              <a:rPr lang="en-GB" dirty="0">
                <a:ea typeface="+mj-lt"/>
                <a:cs typeface="+mj-lt"/>
              </a:rPr>
              <a:t>,IT strategy and Alignment capability</a:t>
            </a:r>
            <a:endParaRPr lang="en-US" dirty="0"/>
          </a:p>
        </p:txBody>
      </p:sp>
      <p:sp>
        <p:nvSpPr>
          <p:cNvPr id="3" name="Content Placeholder 2">
            <a:extLst>
              <a:ext uri="{FF2B5EF4-FFF2-40B4-BE49-F238E27FC236}">
                <a16:creationId xmlns:a16="http://schemas.microsoft.com/office/drawing/2014/main" id="{D59D392D-FD26-D237-008F-8A2F86497991}"/>
              </a:ext>
            </a:extLst>
          </p:cNvPr>
          <p:cNvSpPr>
            <a:spLocks noGrp="1"/>
          </p:cNvSpPr>
          <p:nvPr>
            <p:ph idx="1"/>
          </p:nvPr>
        </p:nvSpPr>
        <p:spPr/>
        <p:txBody>
          <a:bodyPr>
            <a:normAutofit/>
          </a:bodyPr>
          <a:lstStyle/>
          <a:p>
            <a:r>
              <a:rPr lang="en-GB">
                <a:ea typeface="+mn-lt"/>
                <a:cs typeface="+mn-lt"/>
              </a:rPr>
              <a:t>Business strategy dictates what the company aims to achieve, IT strategy defines how technology will support those goals, and alignment capability is the dynamic ability to integrate the two.</a:t>
            </a:r>
          </a:p>
        </p:txBody>
      </p:sp>
    </p:spTree>
    <p:extLst>
      <p:ext uri="{BB962C8B-B14F-4D97-AF65-F5344CB8AC3E}">
        <p14:creationId xmlns:p14="http://schemas.microsoft.com/office/powerpoint/2010/main" val="42604291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ED2B1-9E3B-9AE9-3635-28949B2B7350}"/>
              </a:ext>
            </a:extLst>
          </p:cNvPr>
          <p:cNvSpPr>
            <a:spLocks noGrp="1"/>
          </p:cNvSpPr>
          <p:nvPr>
            <p:ph type="title"/>
          </p:nvPr>
        </p:nvSpPr>
        <p:spPr/>
        <p:txBody>
          <a:bodyPr/>
          <a:lstStyle/>
          <a:p>
            <a:r>
              <a:rPr lang="en-GB" b="1">
                <a:ea typeface="+mj-lt"/>
                <a:cs typeface="+mj-lt"/>
              </a:rPr>
              <a:t>1. Business Strategy</a:t>
            </a:r>
            <a:endParaRPr lang="en-US">
              <a:ea typeface="+mj-lt"/>
              <a:cs typeface="+mj-lt"/>
            </a:endParaRPr>
          </a:p>
          <a:p>
            <a:endParaRPr lang="en-US"/>
          </a:p>
          <a:p>
            <a:endParaRPr lang="en-GB" dirty="0"/>
          </a:p>
        </p:txBody>
      </p:sp>
      <p:sp>
        <p:nvSpPr>
          <p:cNvPr id="3" name="Content Placeholder 2">
            <a:extLst>
              <a:ext uri="{FF2B5EF4-FFF2-40B4-BE49-F238E27FC236}">
                <a16:creationId xmlns:a16="http://schemas.microsoft.com/office/drawing/2014/main" id="{0170A70F-B86B-B53C-886A-AA56591270CE}"/>
              </a:ext>
            </a:extLst>
          </p:cNvPr>
          <p:cNvSpPr>
            <a:spLocks noGrp="1"/>
          </p:cNvSpPr>
          <p:nvPr>
            <p:ph idx="1"/>
          </p:nvPr>
        </p:nvSpPr>
        <p:spPr/>
        <p:txBody>
          <a:bodyPr/>
          <a:lstStyle/>
          <a:p>
            <a:r>
              <a:rPr lang="en-GB" b="1" dirty="0">
                <a:ea typeface="+mn-lt"/>
                <a:cs typeface="+mn-lt"/>
              </a:rPr>
              <a:t>Definition:</a:t>
            </a:r>
            <a:r>
              <a:rPr lang="en-GB" dirty="0">
                <a:ea typeface="+mn-lt"/>
                <a:cs typeface="+mn-lt"/>
              </a:rPr>
              <a:t> The long-term direction, goals, and objectives of the enterprise. It outlines market positioning, customer targets, and competitive advantages.</a:t>
            </a:r>
          </a:p>
          <a:p>
            <a:pPr>
              <a:buClr>
                <a:srgbClr val="1287C3"/>
              </a:buClr>
            </a:pPr>
            <a:r>
              <a:rPr lang="en-GB" b="1">
                <a:ea typeface="+mn-lt"/>
                <a:cs typeface="+mn-lt"/>
              </a:rPr>
              <a:t>Role:</a:t>
            </a:r>
            <a:r>
              <a:rPr lang="en-GB">
                <a:ea typeface="+mn-lt"/>
                <a:cs typeface="+mn-lt"/>
              </a:rPr>
              <a:t> Sets the destination. It dictates the business problems that need solving and the value the organization must deliver</a:t>
            </a:r>
          </a:p>
          <a:p>
            <a:pPr>
              <a:buClr>
                <a:srgbClr val="1287C3"/>
              </a:buClr>
            </a:pPr>
            <a:endParaRPr lang="en-GB" dirty="0"/>
          </a:p>
        </p:txBody>
      </p:sp>
    </p:spTree>
    <p:extLst>
      <p:ext uri="{BB962C8B-B14F-4D97-AF65-F5344CB8AC3E}">
        <p14:creationId xmlns:p14="http://schemas.microsoft.com/office/powerpoint/2010/main" val="34135634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2ED4-BD1C-F1CD-9B1A-4739B21B7ADD}"/>
              </a:ext>
            </a:extLst>
          </p:cNvPr>
          <p:cNvSpPr>
            <a:spLocks noGrp="1"/>
          </p:cNvSpPr>
          <p:nvPr>
            <p:ph type="title"/>
          </p:nvPr>
        </p:nvSpPr>
        <p:spPr/>
        <p:txBody>
          <a:bodyPr/>
          <a:lstStyle/>
          <a:p>
            <a:r>
              <a:rPr lang="en-GB" b="1">
                <a:ea typeface="+mj-lt"/>
                <a:cs typeface="+mj-lt"/>
              </a:rPr>
              <a:t>2. IT Strategy</a:t>
            </a:r>
            <a:endParaRPr lang="en-US">
              <a:ea typeface="+mj-lt"/>
              <a:cs typeface="+mj-lt"/>
            </a:endParaRPr>
          </a:p>
          <a:p>
            <a:endParaRPr lang="en-US"/>
          </a:p>
          <a:p>
            <a:endParaRPr lang="en-GB" dirty="0"/>
          </a:p>
        </p:txBody>
      </p:sp>
      <p:sp>
        <p:nvSpPr>
          <p:cNvPr id="3" name="Content Placeholder 2">
            <a:extLst>
              <a:ext uri="{FF2B5EF4-FFF2-40B4-BE49-F238E27FC236}">
                <a16:creationId xmlns:a16="http://schemas.microsoft.com/office/drawing/2014/main" id="{E76B0985-D007-0F31-AB99-E8F2F31D2E0D}"/>
              </a:ext>
            </a:extLst>
          </p:cNvPr>
          <p:cNvSpPr>
            <a:spLocks noGrp="1"/>
          </p:cNvSpPr>
          <p:nvPr>
            <p:ph idx="1"/>
          </p:nvPr>
        </p:nvSpPr>
        <p:spPr/>
        <p:txBody>
          <a:bodyPr/>
          <a:lstStyle/>
          <a:p>
            <a:r>
              <a:rPr lang="en-GB" b="1">
                <a:ea typeface="+mn-lt"/>
                <a:cs typeface="+mn-lt"/>
              </a:rPr>
              <a:t>Definition:</a:t>
            </a:r>
            <a:r>
              <a:rPr lang="en-GB">
                <a:ea typeface="+mn-lt"/>
                <a:cs typeface="+mn-lt"/>
              </a:rPr>
              <a:t> The roadmap for how information technology, systems, and data will be deployed to meet the demands of the business strategy.</a:t>
            </a:r>
          </a:p>
          <a:p>
            <a:pPr>
              <a:buClr>
                <a:srgbClr val="1287C3"/>
              </a:buClr>
            </a:pPr>
            <a:r>
              <a:rPr lang="en-GB" b="1">
                <a:ea typeface="+mn-lt"/>
                <a:cs typeface="+mn-lt"/>
              </a:rPr>
              <a:t>Role:</a:t>
            </a:r>
            <a:r>
              <a:rPr lang="en-GB">
                <a:ea typeface="+mn-lt"/>
                <a:cs typeface="+mn-lt"/>
              </a:rPr>
              <a:t> Acts as the enabler or driver. While an "essential" IT strategy focuses on operational efficiency and keeping systems running, an "innovative" IT strategy actively drives new products and business models</a:t>
            </a:r>
          </a:p>
          <a:p>
            <a:pPr>
              <a:buClr>
                <a:srgbClr val="1287C3"/>
              </a:buClr>
            </a:pPr>
            <a:endParaRPr lang="en-GB" dirty="0"/>
          </a:p>
        </p:txBody>
      </p:sp>
    </p:spTree>
    <p:extLst>
      <p:ext uri="{BB962C8B-B14F-4D97-AF65-F5344CB8AC3E}">
        <p14:creationId xmlns:p14="http://schemas.microsoft.com/office/powerpoint/2010/main" val="6609527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34116-2283-1B96-D62F-BA04A78F1EFC}"/>
              </a:ext>
            </a:extLst>
          </p:cNvPr>
          <p:cNvSpPr>
            <a:spLocks noGrp="1"/>
          </p:cNvSpPr>
          <p:nvPr>
            <p:ph type="title"/>
          </p:nvPr>
        </p:nvSpPr>
        <p:spPr/>
        <p:txBody>
          <a:bodyPr/>
          <a:lstStyle/>
          <a:p>
            <a:r>
              <a:rPr lang="en-US" b="1">
                <a:ea typeface="+mj-lt"/>
                <a:cs typeface="+mj-lt"/>
              </a:rPr>
              <a:t>3. Alignment Capability</a:t>
            </a:r>
            <a:endParaRPr lang="en-US">
              <a:ea typeface="+mj-lt"/>
              <a:cs typeface="+mj-lt"/>
            </a:endParaRPr>
          </a:p>
          <a:p>
            <a:endParaRPr lang="en-US"/>
          </a:p>
          <a:p>
            <a:endParaRPr lang="en-US" dirty="0"/>
          </a:p>
          <a:p>
            <a:endParaRPr lang="en-GB" dirty="0"/>
          </a:p>
        </p:txBody>
      </p:sp>
      <p:sp>
        <p:nvSpPr>
          <p:cNvPr id="3" name="Content Placeholder 2">
            <a:extLst>
              <a:ext uri="{FF2B5EF4-FFF2-40B4-BE49-F238E27FC236}">
                <a16:creationId xmlns:a16="http://schemas.microsoft.com/office/drawing/2014/main" id="{6AF72F30-BE8A-530A-E8FA-17D2B89C73FF}"/>
              </a:ext>
            </a:extLst>
          </p:cNvPr>
          <p:cNvSpPr>
            <a:spLocks noGrp="1"/>
          </p:cNvSpPr>
          <p:nvPr>
            <p:ph idx="1"/>
          </p:nvPr>
        </p:nvSpPr>
        <p:spPr/>
        <p:txBody>
          <a:bodyPr/>
          <a:lstStyle/>
          <a:p>
            <a:r>
              <a:rPr lang="en-GB" b="1">
                <a:latin typeface="Corbel"/>
                <a:ea typeface="Calibri"/>
                <a:cs typeface="Calibri"/>
              </a:rPr>
              <a:t>Definition:</a:t>
            </a:r>
            <a:r>
              <a:rPr lang="en-GB">
                <a:latin typeface="Corbel"/>
                <a:ea typeface="Calibri"/>
                <a:cs typeface="Calibri"/>
              </a:rPr>
              <a:t> The organizational capacity and processes that harmonize business and IT goals. It requires mutual understanding, shared culture, and established governance (such as COBIT frameworks).</a:t>
            </a:r>
          </a:p>
          <a:p>
            <a:pPr>
              <a:buClr>
                <a:srgbClr val="1287C3"/>
              </a:buClr>
            </a:pPr>
            <a:r>
              <a:rPr lang="en-GB" b="1">
                <a:latin typeface="Calibri"/>
                <a:ea typeface="Calibri"/>
                <a:cs typeface="Calibri"/>
              </a:rPr>
              <a:t>Role:</a:t>
            </a:r>
            <a:r>
              <a:rPr lang="en-GB">
                <a:latin typeface="Calibri"/>
                <a:ea typeface="Calibri"/>
                <a:cs typeface="Calibri"/>
              </a:rPr>
              <a:t> Serves as the bridge. Organizations with high alignment capability are highly agile; they can detect market changes and reconfigure technology resources swiftly to seize new opportunities</a:t>
            </a:r>
            <a:endParaRPr lang="en-GB" dirty="0">
              <a:latin typeface="Calibri"/>
              <a:ea typeface="Calibri"/>
              <a:cs typeface="Calibri"/>
            </a:endParaRPr>
          </a:p>
          <a:p>
            <a:pPr>
              <a:buClr>
                <a:srgbClr val="1287C3"/>
              </a:buClr>
            </a:pPr>
            <a:endParaRPr lang="en-GB" dirty="0">
              <a:latin typeface="Calibri"/>
              <a:ea typeface="Calibri"/>
              <a:cs typeface="Calibri"/>
            </a:endParaRPr>
          </a:p>
        </p:txBody>
      </p:sp>
    </p:spTree>
    <p:extLst>
      <p:ext uri="{BB962C8B-B14F-4D97-AF65-F5344CB8AC3E}">
        <p14:creationId xmlns:p14="http://schemas.microsoft.com/office/powerpoint/2010/main" val="11862030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1950A-E388-A13C-FB4C-37F07D80108B}"/>
              </a:ext>
            </a:extLst>
          </p:cNvPr>
          <p:cNvSpPr>
            <a:spLocks noGrp="1"/>
          </p:cNvSpPr>
          <p:nvPr>
            <p:ph type="title"/>
          </p:nvPr>
        </p:nvSpPr>
        <p:spPr/>
        <p:txBody>
          <a:bodyPr/>
          <a:lstStyle/>
          <a:p>
            <a:r>
              <a:rPr lang="en-GB" dirty="0"/>
              <a:t>How th</a:t>
            </a:r>
            <a:r>
              <a:rPr lang="en-GB"/>
              <a:t>ey Work Together</a:t>
            </a:r>
          </a:p>
        </p:txBody>
      </p:sp>
      <p:sp>
        <p:nvSpPr>
          <p:cNvPr id="3" name="Content Placeholder 2">
            <a:extLst>
              <a:ext uri="{FF2B5EF4-FFF2-40B4-BE49-F238E27FC236}">
                <a16:creationId xmlns:a16="http://schemas.microsoft.com/office/drawing/2014/main" id="{002F5FE1-4132-6BF8-9F40-02C5621BB36A}"/>
              </a:ext>
            </a:extLst>
          </p:cNvPr>
          <p:cNvSpPr>
            <a:spLocks noGrp="1"/>
          </p:cNvSpPr>
          <p:nvPr>
            <p:ph idx="1"/>
          </p:nvPr>
        </p:nvSpPr>
        <p:spPr/>
        <p:txBody>
          <a:bodyPr>
            <a:normAutofit/>
          </a:bodyPr>
          <a:lstStyle/>
          <a:p>
            <a:pPr marL="0" indent="0">
              <a:buNone/>
            </a:pPr>
            <a:r>
              <a:rPr lang="en-GB">
                <a:ea typeface="+mn-lt"/>
                <a:cs typeface="+mn-lt"/>
              </a:rPr>
              <a:t>They Work in a Loop.....</a:t>
            </a:r>
            <a:endParaRPr lang="en-GB" b="1" dirty="0">
              <a:ea typeface="+mn-lt"/>
              <a:cs typeface="+mn-lt"/>
            </a:endParaRPr>
          </a:p>
          <a:p>
            <a:pPr>
              <a:buClr>
                <a:srgbClr val="1287C3"/>
              </a:buClr>
            </a:pPr>
            <a:r>
              <a:rPr lang="en-GB" b="1">
                <a:ea typeface="+mn-lt"/>
                <a:cs typeface="+mn-lt"/>
              </a:rPr>
              <a:t>Business Strategy</a:t>
            </a:r>
            <a:r>
              <a:rPr lang="en-GB">
                <a:ea typeface="+mn-lt"/>
                <a:cs typeface="+mn-lt"/>
              </a:rPr>
              <a:t>  :  (sets the destination.)</a:t>
            </a:r>
            <a:endParaRPr lang="en-GB"/>
          </a:p>
          <a:p>
            <a:pPr marL="0" indent="0" algn="just">
              <a:buClr>
                <a:srgbClr val="1287C3"/>
              </a:buClr>
              <a:buNone/>
            </a:pPr>
            <a:r>
              <a:rPr lang="en-GB">
                <a:ea typeface="+mn-lt"/>
                <a:cs typeface="+mn-lt"/>
              </a:rPr>
              <a:t> This is the overarching roadmap set by executive leadership. It defines the </a:t>
            </a:r>
            <a:r>
              <a:rPr lang="en-GB" dirty="0">
                <a:ea typeface="+mn-lt"/>
                <a:cs typeface="+mn-lt"/>
              </a:rPr>
              <a:t>company's vision, target market, competitive advantages, and financial goals.</a:t>
            </a:r>
          </a:p>
          <a:p>
            <a:pPr marL="0" indent="0" algn="just">
              <a:buNone/>
            </a:pPr>
            <a:r>
              <a:rPr lang="en-GB" i="1" dirty="0">
                <a:ea typeface="+mn-lt"/>
                <a:cs typeface="+mn-lt"/>
              </a:rPr>
              <a:t>Examples:</a:t>
            </a:r>
            <a:r>
              <a:rPr lang="en-GB">
                <a:ea typeface="+mn-lt"/>
                <a:cs typeface="+mn-lt"/>
              </a:rPr>
              <a:t> Expanding into global markets, improving customer retention, or launching a new digital product. </a:t>
            </a:r>
          </a:p>
          <a:p>
            <a:pPr>
              <a:buClr>
                <a:srgbClr val="1287C3"/>
              </a:buClr>
            </a:pPr>
            <a:endParaRPr lang="en-GB" dirty="0">
              <a:ea typeface="+mn-lt"/>
              <a:cs typeface="+mn-lt"/>
            </a:endParaRPr>
          </a:p>
          <a:p>
            <a:pPr>
              <a:buClr>
                <a:srgbClr val="1287C3"/>
              </a:buClr>
            </a:pPr>
            <a:endParaRPr lang="en-GB">
              <a:ea typeface="+mn-lt"/>
              <a:cs typeface="+mn-lt"/>
            </a:endParaRPr>
          </a:p>
        </p:txBody>
      </p:sp>
    </p:spTree>
    <p:extLst>
      <p:ext uri="{BB962C8B-B14F-4D97-AF65-F5344CB8AC3E}">
        <p14:creationId xmlns:p14="http://schemas.microsoft.com/office/powerpoint/2010/main" val="3355523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5E3C7-5640-8FA9-6B93-1FDC30F1ABE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E64C462-7F4D-E74A-B3B6-1BC1C6D2A515}"/>
              </a:ext>
            </a:extLst>
          </p:cNvPr>
          <p:cNvSpPr>
            <a:spLocks noGrp="1"/>
          </p:cNvSpPr>
          <p:nvPr>
            <p:ph idx="1"/>
          </p:nvPr>
        </p:nvSpPr>
        <p:spPr/>
        <p:txBody>
          <a:bodyPr>
            <a:normAutofit lnSpcReduction="10000"/>
          </a:bodyPr>
          <a:lstStyle/>
          <a:p>
            <a:r>
              <a:rPr lang="en-GB" b="1"/>
              <a:t>IT Strategy  : (</a:t>
            </a:r>
            <a:r>
              <a:rPr lang="en-GB"/>
              <a:t> builds the technological vehicle to get there.)</a:t>
            </a:r>
          </a:p>
          <a:p>
            <a:pPr marL="0" indent="0">
              <a:buClr>
                <a:srgbClr val="1287C3"/>
              </a:buClr>
              <a:buNone/>
            </a:pPr>
            <a:r>
              <a:rPr lang="en-GB">
                <a:ea typeface="+mn-lt"/>
                <a:cs typeface="+mn-lt"/>
              </a:rPr>
              <a:t>This is the technology blueprint. It details the infrastructure, software, data management, and digital capabilities needed to execute the business strategy.</a:t>
            </a:r>
            <a:endParaRPr lang="en-GB" dirty="0">
              <a:ea typeface="+mn-lt"/>
              <a:cs typeface="+mn-lt"/>
            </a:endParaRPr>
          </a:p>
          <a:p>
            <a:pPr marL="0" indent="0">
              <a:buClr>
                <a:srgbClr val="1287C3"/>
              </a:buClr>
              <a:buNone/>
            </a:pPr>
            <a:r>
              <a:rPr lang="en-GB" i="1" dirty="0">
                <a:ea typeface="+mn-lt"/>
                <a:cs typeface="+mn-lt"/>
              </a:rPr>
              <a:t>Examples:</a:t>
            </a:r>
            <a:r>
              <a:rPr lang="en-GB" dirty="0">
                <a:ea typeface="+mn-lt"/>
                <a:cs typeface="+mn-lt"/>
              </a:rPr>
              <a:t> Migrating to the cloud for scalability, adopting a new </a:t>
            </a:r>
            <a:r>
              <a:rPr lang="en-GB" dirty="0">
                <a:latin typeface="Consolas"/>
                <a:ea typeface="+mn-lt"/>
                <a:cs typeface="+mn-lt"/>
              </a:rPr>
              <a:t>CRM system</a:t>
            </a:r>
            <a:r>
              <a:rPr lang="en-GB" dirty="0">
                <a:ea typeface="+mn-lt"/>
                <a:cs typeface="+mn-lt"/>
              </a:rPr>
              <a:t> to track clients (implementing a centralized software platform to store contact details, monitor interactions, and manage sales pipelines, ultimately helping your business build stronger relationships and streamline its growth. )or building an AI-driven supply chain.</a:t>
            </a:r>
          </a:p>
          <a:p>
            <a:pPr>
              <a:buClr>
                <a:srgbClr val="1287C3"/>
              </a:buClr>
            </a:pPr>
            <a:endParaRPr lang="en-GB" dirty="0">
              <a:ea typeface="+mn-lt"/>
              <a:cs typeface="+mn-lt"/>
            </a:endParaRPr>
          </a:p>
        </p:txBody>
      </p:sp>
    </p:spTree>
    <p:extLst>
      <p:ext uri="{BB962C8B-B14F-4D97-AF65-F5344CB8AC3E}">
        <p14:creationId xmlns:p14="http://schemas.microsoft.com/office/powerpoint/2010/main" val="26431483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69015-BB66-3696-4E30-CE583BAF7C6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D7D49A13-89CE-B60D-34EB-1EE721F6B7CF}"/>
              </a:ext>
            </a:extLst>
          </p:cNvPr>
          <p:cNvSpPr>
            <a:spLocks noGrp="1"/>
          </p:cNvSpPr>
          <p:nvPr>
            <p:ph idx="1"/>
          </p:nvPr>
        </p:nvSpPr>
        <p:spPr/>
        <p:txBody>
          <a:bodyPr>
            <a:normAutofit lnSpcReduction="10000"/>
          </a:bodyPr>
          <a:lstStyle/>
          <a:p>
            <a:r>
              <a:rPr lang="en-GB" b="1">
                <a:ea typeface="+mn-lt"/>
                <a:cs typeface="+mn-lt"/>
              </a:rPr>
              <a:t>Alignment Strategy :  (</a:t>
            </a:r>
            <a:r>
              <a:rPr lang="en-GB">
                <a:ea typeface="+mn-lt"/>
                <a:cs typeface="+mn-lt"/>
              </a:rPr>
              <a:t>The "Bridge" Alignment</a:t>
            </a:r>
            <a:r>
              <a:rPr lang="en-GB" dirty="0">
                <a:ea typeface="+mn-lt"/>
                <a:cs typeface="+mn-lt"/>
              </a:rPr>
              <a:t> </a:t>
            </a:r>
            <a:r>
              <a:rPr lang="en-GB">
                <a:ea typeface="+mn-lt"/>
                <a:cs typeface="+mn-lt"/>
              </a:rPr>
              <a:t>ensures both are moving in the same direction, adjusting as business conditions evolve.</a:t>
            </a:r>
            <a:r>
              <a:rPr lang="en-GB" b="1">
                <a:ea typeface="+mn-lt"/>
                <a:cs typeface="+mn-lt"/>
              </a:rPr>
              <a:t>)</a:t>
            </a:r>
            <a:endParaRPr lang="en-GB">
              <a:ea typeface="+mn-lt"/>
              <a:cs typeface="+mn-lt"/>
            </a:endParaRPr>
          </a:p>
          <a:p>
            <a:pPr marL="0" indent="0">
              <a:buClr>
                <a:srgbClr val="1287C3"/>
              </a:buClr>
              <a:buNone/>
            </a:pPr>
            <a:r>
              <a:rPr lang="en-GB" dirty="0">
                <a:ea typeface="+mn-lt"/>
                <a:cs typeface="+mn-lt"/>
              </a:rPr>
              <a:t>Alignment is the ongoing, collaborative process that ensures the IT and Business strategies do not exist in silos. It connects the technology capabilities (IT) with the corporate objectives (Business</a:t>
            </a:r>
            <a:r>
              <a:rPr lang="en-GB" dirty="0" err="1">
                <a:ea typeface="+mn-lt"/>
                <a:cs typeface="+mn-lt"/>
              </a:rPr>
              <a:t>)</a:t>
            </a:r>
            <a:r>
              <a:rPr lang="en-GB" dirty="0">
                <a:ea typeface="+mn-lt"/>
                <a:cs typeface="+mn-lt"/>
              </a:rPr>
              <a:t> so every dollar spent on tech delivers measurable business value.</a:t>
            </a:r>
          </a:p>
          <a:p>
            <a:pPr marL="0" indent="0">
              <a:buClr>
                <a:srgbClr val="1287C3"/>
              </a:buClr>
              <a:buNone/>
            </a:pPr>
            <a:r>
              <a:rPr lang="en-GB" i="1">
                <a:ea typeface="+mn-lt"/>
                <a:cs typeface="+mn-lt"/>
              </a:rPr>
              <a:t>Examples:</a:t>
            </a:r>
            <a:r>
              <a:rPr lang="en-GB">
                <a:ea typeface="+mn-lt"/>
                <a:cs typeface="+mn-lt"/>
              </a:rPr>
              <a:t> Joint planning sessions, shared Key Performance Indicators (KPIs), and cross-functional steering committees.</a:t>
            </a:r>
          </a:p>
        </p:txBody>
      </p:sp>
    </p:spTree>
    <p:extLst>
      <p:ext uri="{BB962C8B-B14F-4D97-AF65-F5344CB8AC3E}">
        <p14:creationId xmlns:p14="http://schemas.microsoft.com/office/powerpoint/2010/main" val="37309696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8E54-6397-8198-18BF-14F26BE0F812}"/>
              </a:ext>
            </a:extLst>
          </p:cNvPr>
          <p:cNvSpPr>
            <a:spLocks noGrp="1"/>
          </p:cNvSpPr>
          <p:nvPr>
            <p:ph type="ctrTitle"/>
          </p:nvPr>
        </p:nvSpPr>
        <p:spPr/>
        <p:txBody>
          <a:bodyPr/>
          <a:lstStyle/>
          <a:p>
            <a:pPr algn="ctr"/>
            <a:r>
              <a:rPr lang="en-GB" sz="4800">
                <a:solidFill>
                  <a:srgbClr val="002060"/>
                </a:solidFill>
              </a:rPr>
              <a:t>2.Data types , Sources and Lifecycle</a:t>
            </a:r>
            <a:endParaRPr lang="en-GB" sz="4800"/>
          </a:p>
          <a:p>
            <a:endParaRPr lang="en-GB" dirty="0"/>
          </a:p>
        </p:txBody>
      </p:sp>
      <p:sp>
        <p:nvSpPr>
          <p:cNvPr id="3" name="Subtitle 2">
            <a:extLst>
              <a:ext uri="{FF2B5EF4-FFF2-40B4-BE49-F238E27FC236}">
                <a16:creationId xmlns:a16="http://schemas.microsoft.com/office/drawing/2014/main" id="{C059B94E-0967-471A-A1C0-DEC31D233442}"/>
              </a:ext>
            </a:extLst>
          </p:cNvPr>
          <p:cNvSpPr>
            <a:spLocks noGrp="1"/>
          </p:cNvSpPr>
          <p:nvPr>
            <p:ph type="subTitle" idx="1"/>
          </p:nvPr>
        </p:nvSpPr>
        <p:spPr>
          <a:xfrm>
            <a:off x="4213453" y="3996267"/>
            <a:ext cx="7289569" cy="1388534"/>
          </a:xfrm>
        </p:spPr>
        <p:txBody>
          <a:bodyPr/>
          <a:lstStyle/>
          <a:p>
            <a:endParaRPr lang="en-GB" sz="3200" dirty="0">
              <a:solidFill>
                <a:srgbClr val="002060"/>
              </a:solidFill>
            </a:endParaRPr>
          </a:p>
        </p:txBody>
      </p:sp>
    </p:spTree>
    <p:extLst>
      <p:ext uri="{BB962C8B-B14F-4D97-AF65-F5344CB8AC3E}">
        <p14:creationId xmlns:p14="http://schemas.microsoft.com/office/powerpoint/2010/main" val="24441397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A90F-FDB3-67DC-3585-92BB6EF13D64}"/>
              </a:ext>
            </a:extLst>
          </p:cNvPr>
          <p:cNvSpPr>
            <a:spLocks noGrp="1"/>
          </p:cNvSpPr>
          <p:nvPr>
            <p:ph type="title"/>
          </p:nvPr>
        </p:nvSpPr>
        <p:spPr/>
        <p:txBody>
          <a:bodyPr vert="horz" lIns="91440" tIns="45720" rIns="91440" bIns="45720" rtlCol="0" anchor="ctr">
            <a:noAutofit/>
          </a:bodyPr>
          <a:lstStyle/>
          <a:p>
            <a:r>
              <a:rPr lang="en-GB" sz="3200" dirty="0"/>
              <a:t>A. Unders</a:t>
            </a:r>
            <a:r>
              <a:rPr lang="en-GB" sz="3200"/>
              <a:t>tanding</a:t>
            </a:r>
            <a:r>
              <a:rPr lang="en-GB" sz="3200" dirty="0"/>
              <a:t> different Data types</a:t>
            </a:r>
          </a:p>
          <a:p>
            <a:r>
              <a:rPr lang="en-GB" b="1"/>
              <a:t>Difference between Structured, Semi-structured and Unstructured data</a:t>
            </a:r>
            <a:endParaRPr lang="en-US"/>
          </a:p>
          <a:p>
            <a:br>
              <a:rPr lang="en-US" dirty="0"/>
            </a:br>
            <a:endParaRPr lang="en-US" dirty="0"/>
          </a:p>
        </p:txBody>
      </p:sp>
      <p:graphicFrame>
        <p:nvGraphicFramePr>
          <p:cNvPr id="5" name="Content Placeholder 4">
            <a:extLst>
              <a:ext uri="{FF2B5EF4-FFF2-40B4-BE49-F238E27FC236}">
                <a16:creationId xmlns:a16="http://schemas.microsoft.com/office/drawing/2014/main" id="{970739A9-9183-B7ED-A49A-F273463E18E6}"/>
              </a:ext>
            </a:extLst>
          </p:cNvPr>
          <p:cNvGraphicFramePr>
            <a:graphicFrameLocks noGrp="1"/>
          </p:cNvGraphicFramePr>
          <p:nvPr>
            <p:ph idx="1"/>
            <p:extLst>
              <p:ext uri="{D42A27DB-BD31-4B8C-83A1-F6EECF244321}">
                <p14:modId xmlns:p14="http://schemas.microsoft.com/office/powerpoint/2010/main" val="3666041138"/>
              </p:ext>
            </p:extLst>
          </p:nvPr>
        </p:nvGraphicFramePr>
        <p:xfrm>
          <a:off x="1498690" y="1732511"/>
          <a:ext cx="10591482" cy="4916378"/>
        </p:xfrm>
        <a:graphic>
          <a:graphicData uri="http://schemas.openxmlformats.org/drawingml/2006/table">
            <a:tbl>
              <a:tblPr bandRow="1">
                <a:tableStyleId>{5C22544A-7EE6-4342-B048-85BDC9FD1C3A}</a:tableStyleId>
              </a:tblPr>
              <a:tblGrid>
                <a:gridCol w="1744823">
                  <a:extLst>
                    <a:ext uri="{9D8B030D-6E8A-4147-A177-3AD203B41FA5}">
                      <a16:colId xmlns:a16="http://schemas.microsoft.com/office/drawing/2014/main" val="1472505609"/>
                    </a:ext>
                  </a:extLst>
                </a:gridCol>
                <a:gridCol w="2446174">
                  <a:extLst>
                    <a:ext uri="{9D8B030D-6E8A-4147-A177-3AD203B41FA5}">
                      <a16:colId xmlns:a16="http://schemas.microsoft.com/office/drawing/2014/main" val="3554214655"/>
                    </a:ext>
                  </a:extLst>
                </a:gridCol>
                <a:gridCol w="2600130">
                  <a:extLst>
                    <a:ext uri="{9D8B030D-6E8A-4147-A177-3AD203B41FA5}">
                      <a16:colId xmlns:a16="http://schemas.microsoft.com/office/drawing/2014/main" val="421102318"/>
                    </a:ext>
                  </a:extLst>
                </a:gridCol>
                <a:gridCol w="3800355">
                  <a:extLst>
                    <a:ext uri="{9D8B030D-6E8A-4147-A177-3AD203B41FA5}">
                      <a16:colId xmlns:a16="http://schemas.microsoft.com/office/drawing/2014/main" val="3315814093"/>
                    </a:ext>
                  </a:extLst>
                </a:gridCol>
              </a:tblGrid>
              <a:tr h="503070">
                <a:tc>
                  <a:txBody>
                    <a:bodyPr/>
                    <a:lstStyle/>
                    <a:p>
                      <a:pPr>
                        <a:lnSpc>
                          <a:spcPts val="1800"/>
                        </a:lnSpc>
                        <a:buNone/>
                      </a:pPr>
                      <a:r>
                        <a:rPr lang="en-GB" b="0">
                          <a:effectLst/>
                          <a:latin typeface="Lato" panose="020F0502020204030203" pitchFamily="34" charset="0"/>
                        </a:rPr>
                        <a:t>Feature</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Structured data</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Semi-structured data</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Unstructured data</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extLst>
                  <a:ext uri="{0D108BD9-81ED-4DB2-BD59-A6C34878D82A}">
                    <a16:rowId xmlns:a16="http://schemas.microsoft.com/office/drawing/2014/main" val="3991762461"/>
                  </a:ext>
                </a:extLst>
              </a:tr>
              <a:tr h="823208">
                <a:tc>
                  <a:txBody>
                    <a:bodyPr/>
                    <a:lstStyle/>
                    <a:p>
                      <a:pPr>
                        <a:lnSpc>
                          <a:spcPts val="1800"/>
                        </a:lnSpc>
                        <a:buNone/>
                      </a:pPr>
                      <a:r>
                        <a:rPr lang="en-GB" b="0">
                          <a:effectLst/>
                          <a:latin typeface="Lato" panose="020F0502020204030203" pitchFamily="34" charset="0"/>
                        </a:rPr>
                        <a:t>Schema</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Fixed schema, predefined structure</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Flexible schema, evolves dynamically</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No predefined schema; data lacks formal structure</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extLst>
                  <a:ext uri="{0D108BD9-81ED-4DB2-BD59-A6C34878D82A}">
                    <a16:rowId xmlns:a16="http://schemas.microsoft.com/office/drawing/2014/main" val="1274896562"/>
                  </a:ext>
                </a:extLst>
              </a:tr>
              <a:tr h="1120476">
                <a:tc>
                  <a:txBody>
                    <a:bodyPr/>
                    <a:lstStyle/>
                    <a:p>
                      <a:pPr>
                        <a:lnSpc>
                          <a:spcPts val="1800"/>
                        </a:lnSpc>
                        <a:buNone/>
                      </a:pPr>
                      <a:r>
                        <a:rPr lang="en-GB" b="0">
                          <a:effectLst/>
                          <a:latin typeface="Lato" panose="020F0502020204030203" pitchFamily="34" charset="0"/>
                        </a:rPr>
                        <a:t>Storage format</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Tables with rows and columns</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JSON, XML, Avro, Parquet, ORC</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Files, media, text (for example, images, videos, PDFs, emails, audio files)</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extLst>
                  <a:ext uri="{0D108BD9-81ED-4DB2-BD59-A6C34878D82A}">
                    <a16:rowId xmlns:a16="http://schemas.microsoft.com/office/drawing/2014/main" val="3731891726"/>
                  </a:ext>
                </a:extLst>
              </a:tr>
              <a:tr h="823208">
                <a:tc>
                  <a:txBody>
                    <a:bodyPr/>
                    <a:lstStyle/>
                    <a:p>
                      <a:pPr>
                        <a:lnSpc>
                          <a:spcPts val="1800"/>
                        </a:lnSpc>
                        <a:buNone/>
                      </a:pPr>
                      <a:r>
                        <a:rPr lang="en-GB" b="0">
                          <a:effectLst/>
                          <a:latin typeface="Lato" panose="020F0502020204030203" pitchFamily="34" charset="0"/>
                        </a:rPr>
                        <a:t>Querying</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Standard SQL-based querying</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Requires specialized parsing tools</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Difficult to query directly; requires advanced tools like NLP or AI</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extLst>
                  <a:ext uri="{0D108BD9-81ED-4DB2-BD59-A6C34878D82A}">
                    <a16:rowId xmlns:a16="http://schemas.microsoft.com/office/drawing/2014/main" val="3004010563"/>
                  </a:ext>
                </a:extLst>
              </a:tr>
              <a:tr h="823208">
                <a:tc>
                  <a:txBody>
                    <a:bodyPr/>
                    <a:lstStyle/>
                    <a:p>
                      <a:pPr>
                        <a:lnSpc>
                          <a:spcPts val="1800"/>
                        </a:lnSpc>
                        <a:buNone/>
                      </a:pPr>
                      <a:r>
                        <a:rPr lang="en-GB" b="0">
                          <a:effectLst/>
                          <a:latin typeface="Lato" panose="020F0502020204030203" pitchFamily="34" charset="0"/>
                        </a:rPr>
                        <a:t>Flexibility</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Limited adaptability</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Highly flexible for evolving data sets</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Highly flexible (any format or form of content)</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extLst>
                  <a:ext uri="{0D108BD9-81ED-4DB2-BD59-A6C34878D82A}">
                    <a16:rowId xmlns:a16="http://schemas.microsoft.com/office/drawing/2014/main" val="2129823688"/>
                  </a:ext>
                </a:extLst>
              </a:tr>
              <a:tr h="823208">
                <a:tc>
                  <a:txBody>
                    <a:bodyPr/>
                    <a:lstStyle/>
                    <a:p>
                      <a:pPr>
                        <a:lnSpc>
                          <a:spcPts val="1800"/>
                        </a:lnSpc>
                        <a:buNone/>
                      </a:pPr>
                      <a:r>
                        <a:rPr lang="en-GB" b="0">
                          <a:effectLst/>
                          <a:latin typeface="Lato" panose="020F0502020204030203" pitchFamily="34" charset="0"/>
                        </a:rPr>
                        <a:t>Use cases</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Business transactions, reporting</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Web apps, IoT, social media, machine learning</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tc>
                  <a:txBody>
                    <a:bodyPr/>
                    <a:lstStyle/>
                    <a:p>
                      <a:pPr>
                        <a:lnSpc>
                          <a:spcPts val="1800"/>
                        </a:lnSpc>
                        <a:buNone/>
                      </a:pPr>
                      <a:r>
                        <a:rPr lang="en-GB" b="0">
                          <a:effectLst/>
                          <a:latin typeface="Lato" panose="020F0502020204030203" pitchFamily="34" charset="0"/>
                        </a:rPr>
                        <a:t>Social media analysis, video/audio analysis, document management</a:t>
                      </a:r>
                    </a:p>
                  </a:txBody>
                  <a:tcPr marL="76200" marR="76200" marT="76200" marB="76200" anchor="ctr">
                    <a:lnL w="19050" cap="flat" cmpd="sng" algn="ctr">
                      <a:solidFill>
                        <a:srgbClr val="2D2C2C"/>
                      </a:solidFill>
                      <a:prstDash val="solid"/>
                      <a:round/>
                      <a:headEnd type="none" w="med" len="med"/>
                      <a:tailEnd type="none" w="med" len="med"/>
                    </a:lnL>
                    <a:lnR w="19050" cap="flat" cmpd="sng" algn="ctr">
                      <a:solidFill>
                        <a:srgbClr val="2D2C2C"/>
                      </a:solidFill>
                      <a:prstDash val="solid"/>
                      <a:round/>
                      <a:headEnd type="none" w="med" len="med"/>
                      <a:tailEnd type="none" w="med" len="med"/>
                    </a:lnR>
                    <a:lnT w="19050" cap="flat" cmpd="sng" algn="ctr">
                      <a:solidFill>
                        <a:srgbClr val="2D2C2C"/>
                      </a:solidFill>
                      <a:prstDash val="solid"/>
                      <a:round/>
                      <a:headEnd type="none" w="med" len="med"/>
                      <a:tailEnd type="none" w="med" len="med"/>
                    </a:lnT>
                    <a:lnB w="19050" cap="flat" cmpd="sng" algn="ctr">
                      <a:solidFill>
                        <a:srgbClr val="2D2C2C"/>
                      </a:solidFill>
                      <a:prstDash val="solid"/>
                      <a:round/>
                      <a:headEnd type="none" w="med" len="med"/>
                      <a:tailEnd type="none" w="med" len="med"/>
                    </a:lnB>
                    <a:solidFill>
                      <a:srgbClr val="FFFFFF"/>
                    </a:solidFill>
                  </a:tcPr>
                </a:tc>
                <a:extLst>
                  <a:ext uri="{0D108BD9-81ED-4DB2-BD59-A6C34878D82A}">
                    <a16:rowId xmlns:a16="http://schemas.microsoft.com/office/drawing/2014/main" val="2851907088"/>
                  </a:ext>
                </a:extLst>
              </a:tr>
            </a:tbl>
          </a:graphicData>
        </a:graphic>
      </p:graphicFrame>
    </p:spTree>
    <p:extLst>
      <p:ext uri="{BB962C8B-B14F-4D97-AF65-F5344CB8AC3E}">
        <p14:creationId xmlns:p14="http://schemas.microsoft.com/office/powerpoint/2010/main" val="2607126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2E7E-F7FC-2D23-D0DC-63050955FD25}"/>
              </a:ext>
            </a:extLst>
          </p:cNvPr>
          <p:cNvSpPr>
            <a:spLocks noGrp="1"/>
          </p:cNvSpPr>
          <p:nvPr>
            <p:ph type="title"/>
          </p:nvPr>
        </p:nvSpPr>
        <p:spPr>
          <a:xfrm>
            <a:off x="1484311" y="182592"/>
            <a:ext cx="10018713" cy="1752599"/>
          </a:xfrm>
        </p:spPr>
        <p:txBody>
          <a:bodyPr>
            <a:normAutofit/>
          </a:bodyPr>
          <a:lstStyle/>
          <a:p>
            <a:r>
              <a:rPr lang="en-GB" b="1">
                <a:ea typeface="+mj-lt"/>
                <a:cs typeface="+mj-lt"/>
              </a:rPr>
              <a:t>Structured data</a:t>
            </a:r>
            <a:endParaRPr lang="en-US">
              <a:ea typeface="+mj-lt"/>
              <a:cs typeface="+mj-lt"/>
            </a:endParaRPr>
          </a:p>
        </p:txBody>
      </p:sp>
      <p:sp>
        <p:nvSpPr>
          <p:cNvPr id="3" name="Content Placeholder 2">
            <a:extLst>
              <a:ext uri="{FF2B5EF4-FFF2-40B4-BE49-F238E27FC236}">
                <a16:creationId xmlns:a16="http://schemas.microsoft.com/office/drawing/2014/main" id="{C365AED1-4DEF-3F5F-1CA2-796506487133}"/>
              </a:ext>
            </a:extLst>
          </p:cNvPr>
          <p:cNvSpPr>
            <a:spLocks noGrp="1"/>
          </p:cNvSpPr>
          <p:nvPr>
            <p:ph idx="1"/>
          </p:nvPr>
        </p:nvSpPr>
        <p:spPr>
          <a:xfrm>
            <a:off x="1484310" y="1933754"/>
            <a:ext cx="10392524" cy="4921370"/>
          </a:xfrm>
        </p:spPr>
        <p:txBody>
          <a:bodyPr>
            <a:normAutofit fontScale="85000" lnSpcReduction="10000"/>
          </a:bodyPr>
          <a:lstStyle/>
          <a:p>
            <a:pPr marL="0" indent="0">
              <a:buNone/>
            </a:pPr>
            <a:r>
              <a:rPr lang="en-GB" dirty="0">
                <a:ea typeface="+mn-lt"/>
                <a:cs typeface="+mn-lt"/>
              </a:rPr>
              <a:t>Structured data is highly organized information that adheres to a predefined schema. Typically stored in relational databases (RDBMS), it consists of well-defined fields with specific data types, making it easy to search, sort and </a:t>
            </a:r>
            <a:r>
              <a:rPr lang="en-GB" dirty="0" err="1">
                <a:ea typeface="+mn-lt"/>
                <a:cs typeface="+mn-lt"/>
              </a:rPr>
              <a:t>analyze</a:t>
            </a:r>
            <a:r>
              <a:rPr lang="en-GB" dirty="0">
                <a:ea typeface="+mn-lt"/>
                <a:cs typeface="+mn-lt"/>
              </a:rPr>
              <a:t> using structured query language (SQL).</a:t>
            </a:r>
            <a:endParaRPr lang="en-GB" dirty="0"/>
          </a:p>
          <a:p>
            <a:pPr marL="0" indent="0">
              <a:buClr>
                <a:srgbClr val="1287C3"/>
              </a:buClr>
              <a:buNone/>
            </a:pPr>
            <a:r>
              <a:rPr lang="en-GB" b="1"/>
              <a:t>Characteristics of structured data : </a:t>
            </a:r>
            <a:endParaRPr lang="en-GB"/>
          </a:p>
          <a:p>
            <a:pPr>
              <a:buClr>
                <a:srgbClr val="1287C3"/>
              </a:buClr>
            </a:pPr>
            <a:r>
              <a:rPr lang="en-GB" b="1">
                <a:ea typeface="+mn-lt"/>
                <a:cs typeface="+mn-lt"/>
              </a:rPr>
              <a:t>Schema</a:t>
            </a:r>
            <a:r>
              <a:rPr lang="en-GB">
                <a:ea typeface="+mn-lt"/>
                <a:cs typeface="+mn-lt"/>
              </a:rPr>
              <a:t>: Requires a consistent schema where data must conform to set rules</a:t>
            </a:r>
            <a:endParaRPr lang="en-GB"/>
          </a:p>
          <a:p>
            <a:pPr>
              <a:buClr>
                <a:srgbClr val="1287C3"/>
              </a:buClr>
            </a:pPr>
            <a:r>
              <a:rPr lang="en-GB" b="1" dirty="0">
                <a:ea typeface="+mn-lt"/>
                <a:cs typeface="+mn-lt"/>
              </a:rPr>
              <a:t>Format</a:t>
            </a:r>
            <a:r>
              <a:rPr lang="en-GB" dirty="0">
                <a:ea typeface="+mn-lt"/>
                <a:cs typeface="+mn-lt"/>
              </a:rPr>
              <a:t>: Stored in rows and columns within structured table formats in relational databases, </a:t>
            </a:r>
            <a:r>
              <a:rPr lang="en-GB" dirty="0" err="1">
                <a:ea typeface="+mn-lt"/>
                <a:cs typeface="+mn-lt"/>
              </a:rPr>
              <a:t>lakehouses</a:t>
            </a:r>
            <a:endParaRPr lang="en-GB" u="sng" dirty="0" err="1"/>
          </a:p>
          <a:p>
            <a:pPr>
              <a:buClr>
                <a:srgbClr val="1287C3"/>
              </a:buClr>
            </a:pPr>
            <a:r>
              <a:rPr lang="en-GB" b="1">
                <a:ea typeface="+mn-lt"/>
                <a:cs typeface="+mn-lt"/>
              </a:rPr>
              <a:t>Querying and analysis</a:t>
            </a:r>
            <a:r>
              <a:rPr lang="en-GB">
                <a:ea typeface="+mn-lt"/>
                <a:cs typeface="+mn-lt"/>
              </a:rPr>
              <a:t>: Easily searchable with SQL queries</a:t>
            </a:r>
            <a:endParaRPr lang="en-GB"/>
          </a:p>
          <a:p>
            <a:pPr marL="0" indent="0">
              <a:buClr>
                <a:srgbClr val="1287C3"/>
              </a:buClr>
              <a:buNone/>
            </a:pPr>
            <a:r>
              <a:rPr lang="en-GB" b="1" dirty="0"/>
              <a:t>Structured data examples :  SQL ,</a:t>
            </a:r>
            <a:r>
              <a:rPr lang="en-GB" b="1"/>
              <a:t>Excel sheets,</a:t>
            </a:r>
            <a:endParaRPr lang="en-GB">
              <a:ea typeface="+mn-lt"/>
              <a:cs typeface="+mn-lt"/>
            </a:endParaRPr>
          </a:p>
          <a:p>
            <a:r>
              <a:rPr lang="en-GB" dirty="0">
                <a:ea typeface="+mn-lt"/>
                <a:cs typeface="+mn-lt"/>
              </a:rPr>
              <a:t>Customer databases containing names, addresses and contact information.</a:t>
            </a:r>
            <a:endParaRPr lang="en-GB" dirty="0"/>
          </a:p>
          <a:p>
            <a:pPr>
              <a:buClr>
                <a:srgbClr val="1287C3"/>
              </a:buClr>
            </a:pPr>
            <a:r>
              <a:rPr lang="en-GB">
                <a:ea typeface="+mn-lt"/>
                <a:cs typeface="+mn-lt"/>
              </a:rPr>
              <a:t>Financial transactions such as bank deposits or credit card purchases.</a:t>
            </a:r>
            <a:endParaRPr lang="en-GB"/>
          </a:p>
          <a:p>
            <a:pPr>
              <a:buClr>
                <a:srgbClr val="1287C3"/>
              </a:buClr>
            </a:pPr>
            <a:r>
              <a:rPr lang="en-GB">
                <a:ea typeface="+mn-lt"/>
                <a:cs typeface="+mn-lt"/>
              </a:rPr>
              <a:t>Spreadsheets with organized rows and columns.</a:t>
            </a:r>
            <a:endParaRPr lang="en-GB"/>
          </a:p>
          <a:p>
            <a:pPr>
              <a:buClr>
                <a:srgbClr val="1287C3"/>
              </a:buClr>
            </a:pPr>
            <a:r>
              <a:rPr lang="en-GB">
                <a:ea typeface="+mn-lt"/>
                <a:cs typeface="+mn-lt"/>
              </a:rPr>
              <a:t>Point-of-sale (POS) records capturing sales activity. </a:t>
            </a:r>
            <a:endParaRPr lang="en-GB"/>
          </a:p>
        </p:txBody>
      </p:sp>
    </p:spTree>
    <p:extLst>
      <p:ext uri="{BB962C8B-B14F-4D97-AF65-F5344CB8AC3E}">
        <p14:creationId xmlns:p14="http://schemas.microsoft.com/office/powerpoint/2010/main" val="12596789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68DA8-06B1-75BB-7D54-B9931B90B19E}"/>
              </a:ext>
            </a:extLst>
          </p:cNvPr>
          <p:cNvSpPr>
            <a:spLocks noGrp="1"/>
          </p:cNvSpPr>
          <p:nvPr>
            <p:ph type="title"/>
          </p:nvPr>
        </p:nvSpPr>
        <p:spPr>
          <a:xfrm>
            <a:off x="1484311" y="-4313"/>
            <a:ext cx="10018713" cy="1752599"/>
          </a:xfrm>
        </p:spPr>
        <p:txBody>
          <a:bodyPr/>
          <a:lstStyle/>
          <a:p>
            <a:r>
              <a:rPr lang="en-GB" b="1">
                <a:ea typeface="+mj-lt"/>
                <a:cs typeface="+mj-lt"/>
              </a:rPr>
              <a:t>Semi-Structured data</a:t>
            </a:r>
            <a:endParaRPr lang="en-US"/>
          </a:p>
        </p:txBody>
      </p:sp>
      <p:sp>
        <p:nvSpPr>
          <p:cNvPr id="3" name="Content Placeholder 2">
            <a:extLst>
              <a:ext uri="{FF2B5EF4-FFF2-40B4-BE49-F238E27FC236}">
                <a16:creationId xmlns:a16="http://schemas.microsoft.com/office/drawing/2014/main" id="{C0433944-3D43-2805-DB71-E15BA2546853}"/>
              </a:ext>
            </a:extLst>
          </p:cNvPr>
          <p:cNvSpPr>
            <a:spLocks noGrp="1"/>
          </p:cNvSpPr>
          <p:nvPr>
            <p:ph idx="1"/>
          </p:nvPr>
        </p:nvSpPr>
        <p:spPr>
          <a:xfrm>
            <a:off x="1484310" y="1243641"/>
            <a:ext cx="10018713" cy="5611483"/>
          </a:xfrm>
        </p:spPr>
        <p:txBody>
          <a:bodyPr>
            <a:normAutofit fontScale="85000" lnSpcReduction="10000"/>
          </a:bodyPr>
          <a:lstStyle/>
          <a:p>
            <a:pPr marL="0" indent="0">
              <a:buNone/>
            </a:pPr>
            <a:r>
              <a:rPr lang="en-GB" dirty="0">
                <a:ea typeface="+mn-lt"/>
                <a:cs typeface="+mn-lt"/>
              </a:rPr>
              <a:t>Semi-structured data sits between structured and unstructured data formats. It does not follow a fixed schema but still includes markers or metadata that define relationships and hierarchies. This gives it greater flexibility compared to structured data while retaining more organization than unstructured data. Because its structure can change dynamically, it’s well-suited to rapidly evolving data sources like APIs, </a:t>
            </a:r>
            <a:r>
              <a:rPr lang="en-GB" dirty="0" err="1">
                <a:ea typeface="+mn-lt"/>
                <a:cs typeface="+mn-lt"/>
              </a:rPr>
              <a:t>loT</a:t>
            </a:r>
            <a:r>
              <a:rPr lang="en-GB" dirty="0">
                <a:ea typeface="+mn-lt"/>
                <a:cs typeface="+mn-lt"/>
              </a:rPr>
              <a:t> devices and social media feeds.</a:t>
            </a:r>
            <a:endParaRPr lang="en-GB" dirty="0"/>
          </a:p>
          <a:p>
            <a:pPr marL="0" indent="0">
              <a:buClr>
                <a:srgbClr val="1287C3"/>
              </a:buClr>
              <a:buNone/>
            </a:pPr>
            <a:r>
              <a:rPr lang="en-GB" b="1"/>
              <a:t>Characteristics of semi-structured data</a:t>
            </a:r>
            <a:endParaRPr lang="en-GB"/>
          </a:p>
          <a:p>
            <a:pPr>
              <a:buClr>
                <a:srgbClr val="1287C3"/>
              </a:buClr>
            </a:pPr>
            <a:r>
              <a:rPr lang="en-GB" b="1">
                <a:ea typeface="+mn-lt"/>
                <a:cs typeface="+mn-lt"/>
              </a:rPr>
              <a:t>Schema:</a:t>
            </a:r>
            <a:r>
              <a:rPr lang="en-GB">
                <a:ea typeface="+mn-lt"/>
                <a:cs typeface="+mn-lt"/>
              </a:rPr>
              <a:t> Dynamically changing structure without requiring modification to a rigid schema</a:t>
            </a:r>
            <a:endParaRPr lang="en-GB"/>
          </a:p>
          <a:p>
            <a:pPr>
              <a:buClr>
                <a:srgbClr val="1287C3"/>
              </a:buClr>
            </a:pPr>
            <a:r>
              <a:rPr lang="en-GB" b="1" dirty="0">
                <a:ea typeface="+mn-lt"/>
                <a:cs typeface="+mn-lt"/>
              </a:rPr>
              <a:t>Format:</a:t>
            </a:r>
            <a:r>
              <a:rPr lang="en-GB" dirty="0">
                <a:ea typeface="+mn-lt"/>
                <a:cs typeface="+mn-lt"/>
              </a:rPr>
              <a:t> Often represented in key-value pairs, nested objects or arrays</a:t>
            </a:r>
            <a:endParaRPr lang="en-GB" dirty="0"/>
          </a:p>
          <a:p>
            <a:pPr>
              <a:buClr>
                <a:srgbClr val="1287C3"/>
              </a:buClr>
            </a:pPr>
            <a:r>
              <a:rPr lang="en-GB" b="1">
                <a:ea typeface="+mn-lt"/>
                <a:cs typeface="+mn-lt"/>
              </a:rPr>
              <a:t>Storage and processing: </a:t>
            </a:r>
            <a:r>
              <a:rPr lang="en-GB">
                <a:ea typeface="+mn-lt"/>
                <a:cs typeface="+mn-lt"/>
              </a:rPr>
              <a:t>Can be processed without strict formatting requirements</a:t>
            </a:r>
            <a:endParaRPr lang="en-GB"/>
          </a:p>
          <a:p>
            <a:pPr marL="0" indent="0">
              <a:buClr>
                <a:srgbClr val="1287C3"/>
              </a:buClr>
              <a:buNone/>
            </a:pPr>
            <a:r>
              <a:rPr lang="en-GB" b="1" dirty="0">
                <a:ea typeface="+mn-lt"/>
                <a:cs typeface="+mn-lt"/>
              </a:rPr>
              <a:t>Examples:</a:t>
            </a:r>
            <a:r>
              <a:rPr lang="en-GB" dirty="0">
                <a:ea typeface="+mn-lt"/>
                <a:cs typeface="+mn-lt"/>
              </a:rPr>
              <a:t> JSON, XML, Email, </a:t>
            </a:r>
            <a:r>
              <a:rPr lang="en-GB" dirty="0" err="1">
                <a:ea typeface="+mn-lt"/>
                <a:cs typeface="+mn-lt"/>
              </a:rPr>
              <a:t>NoSql</a:t>
            </a:r>
            <a:r>
              <a:rPr lang="en-GB" dirty="0">
                <a:ea typeface="+mn-lt"/>
                <a:cs typeface="+mn-lt"/>
              </a:rPr>
              <a:t> databases(MongoDB) , Avro, Parquet, ORC, and data from web applications (HTML)and IoT sensors</a:t>
            </a:r>
            <a:endParaRPr lang="en-GB" dirty="0"/>
          </a:p>
          <a:p>
            <a:pPr>
              <a:buClr>
                <a:srgbClr val="1287C3"/>
              </a:buClr>
            </a:pPr>
            <a:r>
              <a:rPr lang="en-GB" dirty="0">
                <a:ea typeface="+mn-lt"/>
                <a:cs typeface="+mn-lt"/>
              </a:rPr>
              <a:t>Semi-structured data is commonly used in industries that require handling large data sets because it offers more flexibility for rapidly changing data sets, such as ecommerce, healthcare, finance and cybersecurity. It plays a crucial role in business analytics due to its unique balance between structured and unstructured formats. Key advantages include flexibility and adaptability and deeper contextual information from diverse data sources.</a:t>
            </a:r>
            <a:endParaRPr lang="en-GB" dirty="0"/>
          </a:p>
        </p:txBody>
      </p:sp>
    </p:spTree>
    <p:extLst>
      <p:ext uri="{BB962C8B-B14F-4D97-AF65-F5344CB8AC3E}">
        <p14:creationId xmlns:p14="http://schemas.microsoft.com/office/powerpoint/2010/main" val="42336860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8EFB-CFA5-C54E-2B7E-36156B0F7594}"/>
              </a:ext>
            </a:extLst>
          </p:cNvPr>
          <p:cNvSpPr>
            <a:spLocks noGrp="1"/>
          </p:cNvSpPr>
          <p:nvPr>
            <p:ph type="title"/>
          </p:nvPr>
        </p:nvSpPr>
        <p:spPr>
          <a:xfrm>
            <a:off x="1484311" y="182593"/>
            <a:ext cx="10018713" cy="1522561"/>
          </a:xfrm>
        </p:spPr>
        <p:txBody>
          <a:bodyPr/>
          <a:lstStyle/>
          <a:p>
            <a:r>
              <a:rPr lang="en-GB" b="1">
                <a:ea typeface="+mj-lt"/>
                <a:cs typeface="+mj-lt"/>
              </a:rPr>
              <a:t>Unstructured data </a:t>
            </a:r>
            <a:endParaRPr lang="en-GB">
              <a:ea typeface="+mj-lt"/>
              <a:cs typeface="+mj-lt"/>
            </a:endParaRPr>
          </a:p>
        </p:txBody>
      </p:sp>
      <p:sp>
        <p:nvSpPr>
          <p:cNvPr id="3" name="Content Placeholder 2">
            <a:extLst>
              <a:ext uri="{FF2B5EF4-FFF2-40B4-BE49-F238E27FC236}">
                <a16:creationId xmlns:a16="http://schemas.microsoft.com/office/drawing/2014/main" id="{EA81FEB0-44E2-FE26-FA1E-C734C7FAB7D5}"/>
              </a:ext>
            </a:extLst>
          </p:cNvPr>
          <p:cNvSpPr>
            <a:spLocks noGrp="1"/>
          </p:cNvSpPr>
          <p:nvPr>
            <p:ph idx="1"/>
          </p:nvPr>
        </p:nvSpPr>
        <p:spPr>
          <a:xfrm>
            <a:off x="1484310" y="1689339"/>
            <a:ext cx="10018713" cy="5295181"/>
          </a:xfrm>
        </p:spPr>
        <p:txBody>
          <a:bodyPr>
            <a:normAutofit fontScale="85000" lnSpcReduction="10000"/>
          </a:bodyPr>
          <a:lstStyle/>
          <a:p>
            <a:r>
              <a:rPr lang="en-GB">
                <a:ea typeface="+mn-lt"/>
                <a:cs typeface="+mn-lt"/>
              </a:rPr>
              <a:t>Unstructured data is information that doesn't conform to predefined data models, making it difficult to organize and </a:t>
            </a:r>
            <a:r>
              <a:rPr lang="en-GB" err="1">
                <a:ea typeface="+mn-lt"/>
                <a:cs typeface="+mn-lt"/>
              </a:rPr>
              <a:t>analyze</a:t>
            </a:r>
            <a:r>
              <a:rPr lang="en-GB">
                <a:ea typeface="+mn-lt"/>
                <a:cs typeface="+mn-lt"/>
              </a:rPr>
              <a:t> using traditional database methods.</a:t>
            </a:r>
          </a:p>
          <a:p>
            <a:pPr marL="0" indent="0">
              <a:buClr>
                <a:srgbClr val="1287C3"/>
              </a:buClr>
              <a:buNone/>
            </a:pPr>
            <a:r>
              <a:rPr lang="en-GB" b="1"/>
              <a:t>Characteristics of unstructured data</a:t>
            </a:r>
            <a:br>
              <a:rPr lang="en-GB" b="1" dirty="0"/>
            </a:br>
            <a:r>
              <a:rPr lang="en-GB" b="1" dirty="0"/>
              <a:t> </a:t>
            </a:r>
            <a:endParaRPr lang="en-GB" dirty="0">
              <a:ea typeface="+mn-lt"/>
              <a:cs typeface="+mn-lt"/>
            </a:endParaRPr>
          </a:p>
          <a:p>
            <a:pPr>
              <a:buClr>
                <a:srgbClr val="1287C3"/>
              </a:buClr>
            </a:pPr>
            <a:r>
              <a:rPr lang="en-GB" b="1">
                <a:ea typeface="+mn-lt"/>
                <a:cs typeface="+mn-lt"/>
              </a:rPr>
              <a:t>Lack of predefined schema: </a:t>
            </a:r>
            <a:r>
              <a:rPr lang="en-GB">
                <a:ea typeface="+mn-lt"/>
                <a:cs typeface="+mn-lt"/>
              </a:rPr>
              <a:t>Unstructured data doesn't fit neatly into rows and columns like a relational database. It lacks a predefined data model, making it difficult to organize, search, and analyze using traditional database methods.</a:t>
            </a:r>
            <a:br>
              <a:rPr lang="en-GB" dirty="0">
                <a:ea typeface="+mn-lt"/>
                <a:cs typeface="+mn-lt"/>
              </a:rPr>
            </a:br>
            <a:endParaRPr lang="en-GB" dirty="0">
              <a:ea typeface="+mn-lt"/>
              <a:cs typeface="+mn-lt"/>
            </a:endParaRPr>
          </a:p>
          <a:p>
            <a:pPr>
              <a:buClr>
                <a:srgbClr val="1287C3"/>
              </a:buClr>
            </a:pPr>
            <a:r>
              <a:rPr lang="en-GB" b="1">
                <a:ea typeface="+mn-lt"/>
                <a:cs typeface="+mn-lt"/>
              </a:rPr>
              <a:t>Varied formats: </a:t>
            </a:r>
            <a:r>
              <a:rPr lang="en-GB">
                <a:ea typeface="+mn-lt"/>
                <a:cs typeface="+mn-lt"/>
              </a:rPr>
              <a:t>Unstructured data encompasses a wide range of formats, including text documents, emails, social media posts, images, audio files and videos. This heterogeneity makes it challenging to process and analyze consistently.</a:t>
            </a:r>
            <a:br>
              <a:rPr lang="en-GB" dirty="0">
                <a:ea typeface="+mn-lt"/>
                <a:cs typeface="+mn-lt"/>
              </a:rPr>
            </a:br>
            <a:endParaRPr lang="en-GB" dirty="0">
              <a:ea typeface="+mn-lt"/>
              <a:cs typeface="+mn-lt"/>
            </a:endParaRPr>
          </a:p>
          <a:p>
            <a:pPr>
              <a:buClr>
                <a:srgbClr val="1287C3"/>
              </a:buClr>
            </a:pPr>
            <a:r>
              <a:rPr lang="en-GB" b="1">
                <a:ea typeface="+mn-lt"/>
                <a:cs typeface="+mn-lt"/>
              </a:rPr>
              <a:t>Rich and contextual content:</a:t>
            </a:r>
            <a:r>
              <a:rPr lang="en-GB">
                <a:ea typeface="+mn-lt"/>
                <a:cs typeface="+mn-lt"/>
              </a:rPr>
              <a:t> While lacking formal structure, unstructured data often contains rich, human-generated content that provides valuable context and qualitative information.</a:t>
            </a:r>
            <a:endParaRPr lang="en-GB"/>
          </a:p>
          <a:p>
            <a:pPr>
              <a:buClr>
                <a:srgbClr val="1287C3"/>
              </a:buClr>
            </a:pPr>
            <a:r>
              <a:rPr lang="en-GB" i="1">
                <a:ea typeface="+mn-lt"/>
                <a:cs typeface="+mn-lt"/>
              </a:rPr>
              <a:t>Example</a:t>
            </a:r>
            <a:r>
              <a:rPr lang="en-GB">
                <a:ea typeface="+mn-lt"/>
                <a:cs typeface="+mn-lt"/>
              </a:rPr>
              <a:t>: Word, PDF, Text, Media logs. </a:t>
            </a:r>
            <a:endParaRPr lang="en-GB" dirty="0">
              <a:ea typeface="+mn-lt"/>
              <a:cs typeface="+mn-lt"/>
            </a:endParaRPr>
          </a:p>
          <a:p>
            <a:pPr>
              <a:buClr>
                <a:srgbClr val="1287C3"/>
              </a:buClr>
            </a:pPr>
            <a:endParaRPr lang="en-GB" dirty="0">
              <a:ea typeface="+mn-lt"/>
              <a:cs typeface="+mn-lt"/>
            </a:endParaRPr>
          </a:p>
          <a:p>
            <a:pPr>
              <a:buClr>
                <a:srgbClr val="1287C3"/>
              </a:buClr>
            </a:pPr>
            <a:endParaRPr lang="en-GB" dirty="0">
              <a:ea typeface="+mn-lt"/>
              <a:cs typeface="+mn-lt"/>
            </a:endParaRPr>
          </a:p>
        </p:txBody>
      </p:sp>
    </p:spTree>
    <p:extLst>
      <p:ext uri="{BB962C8B-B14F-4D97-AF65-F5344CB8AC3E}">
        <p14:creationId xmlns:p14="http://schemas.microsoft.com/office/powerpoint/2010/main" val="23342395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D52DC-F3BD-7B00-792B-457BDD13710C}"/>
              </a:ext>
            </a:extLst>
          </p:cNvPr>
          <p:cNvSpPr>
            <a:spLocks noGrp="1"/>
          </p:cNvSpPr>
          <p:nvPr>
            <p:ph type="title"/>
          </p:nvPr>
        </p:nvSpPr>
        <p:spPr/>
        <p:txBody>
          <a:bodyPr/>
          <a:lstStyle/>
          <a:p>
            <a:r>
              <a:rPr lang="en-GB"/>
              <a:t>B. Common Data sources</a:t>
            </a:r>
          </a:p>
        </p:txBody>
      </p:sp>
      <p:sp>
        <p:nvSpPr>
          <p:cNvPr id="3" name="Content Placeholder 2">
            <a:extLst>
              <a:ext uri="{FF2B5EF4-FFF2-40B4-BE49-F238E27FC236}">
                <a16:creationId xmlns:a16="http://schemas.microsoft.com/office/drawing/2014/main" id="{6DFF1F54-43FE-4CD1-7BDF-D903EAFFAA20}"/>
              </a:ext>
            </a:extLst>
          </p:cNvPr>
          <p:cNvSpPr>
            <a:spLocks noGrp="1"/>
          </p:cNvSpPr>
          <p:nvPr>
            <p:ph idx="1"/>
          </p:nvPr>
        </p:nvSpPr>
        <p:spPr/>
        <p:txBody>
          <a:bodyPr/>
          <a:lstStyle/>
          <a:p>
            <a:r>
              <a:rPr lang="en-GB" dirty="0">
                <a:ea typeface="+mn-lt"/>
                <a:cs typeface="+mn-lt"/>
              </a:rPr>
              <a:t>Data sources are the origins of the raw information used by organizations for decision-making. The four primary types are internal data (generated in-house), external data (collected outside), third-party data (purchased or licensed from aggregators), and open data (freely accessible public information).</a:t>
            </a:r>
          </a:p>
        </p:txBody>
      </p:sp>
    </p:spTree>
    <p:extLst>
      <p:ext uri="{BB962C8B-B14F-4D97-AF65-F5344CB8AC3E}">
        <p14:creationId xmlns:p14="http://schemas.microsoft.com/office/powerpoint/2010/main" val="700830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86305-ECD7-5761-14B6-43223C988B5E}"/>
              </a:ext>
            </a:extLst>
          </p:cNvPr>
          <p:cNvSpPr>
            <a:spLocks noGrp="1"/>
          </p:cNvSpPr>
          <p:nvPr>
            <p:ph type="title"/>
          </p:nvPr>
        </p:nvSpPr>
        <p:spPr/>
        <p:txBody>
          <a:bodyPr/>
          <a:lstStyle/>
          <a:p>
            <a:r>
              <a:rPr lang="en-GB" b="1">
                <a:ea typeface="+mj-lt"/>
                <a:cs typeface="+mj-lt"/>
              </a:rPr>
              <a:t>1. Internal Data</a:t>
            </a:r>
            <a:endParaRPr lang="en-US">
              <a:ea typeface="+mj-lt"/>
              <a:cs typeface="+mj-lt"/>
            </a:endParaRPr>
          </a:p>
          <a:p>
            <a:endParaRPr lang="en-GB" dirty="0"/>
          </a:p>
        </p:txBody>
      </p:sp>
      <p:sp>
        <p:nvSpPr>
          <p:cNvPr id="3" name="Content Placeholder 2">
            <a:extLst>
              <a:ext uri="{FF2B5EF4-FFF2-40B4-BE49-F238E27FC236}">
                <a16:creationId xmlns:a16="http://schemas.microsoft.com/office/drawing/2014/main" id="{DFD597A2-1330-1940-48AA-3D4CC2255C76}"/>
              </a:ext>
            </a:extLst>
          </p:cNvPr>
          <p:cNvSpPr>
            <a:spLocks noGrp="1"/>
          </p:cNvSpPr>
          <p:nvPr>
            <p:ph idx="1"/>
          </p:nvPr>
        </p:nvSpPr>
        <p:spPr/>
        <p:txBody>
          <a:bodyPr>
            <a:normAutofit lnSpcReduction="10000"/>
          </a:bodyPr>
          <a:lstStyle/>
          <a:p>
            <a:r>
              <a:rPr lang="en-GB">
                <a:ea typeface="+mn-lt"/>
                <a:cs typeface="+mn-lt"/>
              </a:rPr>
              <a:t>Internal data is generated, collected, and stored directly by your own organization. It forms the backbone of day-to-day business operations and is highly specific to your company's processes.</a:t>
            </a:r>
          </a:p>
          <a:p>
            <a:pPr>
              <a:buClr>
                <a:srgbClr val="1287C3"/>
              </a:buClr>
            </a:pPr>
            <a:r>
              <a:rPr lang="en-GB" b="1">
                <a:ea typeface="+mn-lt"/>
                <a:cs typeface="+mn-lt"/>
              </a:rPr>
              <a:t>Examples:</a:t>
            </a:r>
            <a:r>
              <a:rPr lang="en-GB">
                <a:ea typeface="+mn-lt"/>
                <a:cs typeface="+mn-lt"/>
              </a:rPr>
              <a:t> Customer Relationship Management (CRM) records, sales transaction histories, HR databases, financial reports, and employee performance metrics.</a:t>
            </a:r>
            <a:endParaRPr lang="en-GB" dirty="0">
              <a:ea typeface="+mn-lt"/>
              <a:cs typeface="+mn-lt"/>
            </a:endParaRPr>
          </a:p>
          <a:p>
            <a:pPr>
              <a:buClr>
                <a:srgbClr val="1287C3"/>
              </a:buClr>
            </a:pPr>
            <a:r>
              <a:rPr lang="en-GB" b="1">
                <a:ea typeface="+mn-lt"/>
                <a:cs typeface="+mn-lt"/>
              </a:rPr>
              <a:t>Benefits:</a:t>
            </a:r>
            <a:r>
              <a:rPr lang="en-GB">
                <a:ea typeface="+mn-lt"/>
                <a:cs typeface="+mn-lt"/>
              </a:rPr>
              <a:t> Highly accurate, relevant, easily accessible, and entirely proprietary.</a:t>
            </a:r>
          </a:p>
          <a:p>
            <a:pPr>
              <a:buClr>
                <a:srgbClr val="1287C3"/>
              </a:buClr>
            </a:pPr>
            <a:endParaRPr lang="en-GB" dirty="0">
              <a:ea typeface="+mn-lt"/>
              <a:cs typeface="+mn-lt"/>
            </a:endParaRPr>
          </a:p>
        </p:txBody>
      </p:sp>
    </p:spTree>
    <p:extLst>
      <p:ext uri="{BB962C8B-B14F-4D97-AF65-F5344CB8AC3E}">
        <p14:creationId xmlns:p14="http://schemas.microsoft.com/office/powerpoint/2010/main" val="35246105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79C57-EA97-D024-6A2A-A60F10A1B902}"/>
              </a:ext>
            </a:extLst>
          </p:cNvPr>
          <p:cNvSpPr>
            <a:spLocks noGrp="1"/>
          </p:cNvSpPr>
          <p:nvPr>
            <p:ph type="title"/>
          </p:nvPr>
        </p:nvSpPr>
        <p:spPr/>
        <p:txBody>
          <a:bodyPr/>
          <a:lstStyle/>
          <a:p>
            <a:r>
              <a:rPr lang="en-GB">
                <a:ea typeface="+mj-lt"/>
                <a:cs typeface="+mj-lt"/>
              </a:rPr>
              <a:t>2. External Data</a:t>
            </a:r>
            <a:endParaRPr lang="en-US"/>
          </a:p>
        </p:txBody>
      </p:sp>
      <p:sp>
        <p:nvSpPr>
          <p:cNvPr id="3" name="Content Placeholder 2">
            <a:extLst>
              <a:ext uri="{FF2B5EF4-FFF2-40B4-BE49-F238E27FC236}">
                <a16:creationId xmlns:a16="http://schemas.microsoft.com/office/drawing/2014/main" id="{7001C888-5C51-DBD5-9F30-58BDEF2AEE17}"/>
              </a:ext>
            </a:extLst>
          </p:cNvPr>
          <p:cNvSpPr>
            <a:spLocks noGrp="1"/>
          </p:cNvSpPr>
          <p:nvPr>
            <p:ph idx="1"/>
          </p:nvPr>
        </p:nvSpPr>
        <p:spPr/>
        <p:txBody>
          <a:bodyPr/>
          <a:lstStyle/>
          <a:p>
            <a:r>
              <a:rPr lang="en-GB">
                <a:ea typeface="+mn-lt"/>
                <a:cs typeface="+mn-lt"/>
              </a:rPr>
              <a:t>External data refers to any information collected outside of your organization's internal systems. It is typically used for market research, competitor analysis, or to gain broader industry context.</a:t>
            </a:r>
          </a:p>
          <a:p>
            <a:pPr>
              <a:buClr>
                <a:srgbClr val="1287C3"/>
              </a:buClr>
            </a:pPr>
            <a:r>
              <a:rPr lang="en-GB" b="1">
                <a:ea typeface="+mn-lt"/>
                <a:cs typeface="+mn-lt"/>
              </a:rPr>
              <a:t>Examples:</a:t>
            </a:r>
            <a:r>
              <a:rPr lang="en-GB">
                <a:ea typeface="+mn-lt"/>
                <a:cs typeface="+mn-lt"/>
              </a:rPr>
              <a:t> Social media sentiments, industry research reports, competitor pricing, and market economic indicators.</a:t>
            </a:r>
            <a:endParaRPr lang="en-GB" dirty="0">
              <a:ea typeface="+mn-lt"/>
              <a:cs typeface="+mn-lt"/>
            </a:endParaRPr>
          </a:p>
          <a:p>
            <a:pPr>
              <a:buClr>
                <a:srgbClr val="1287C3"/>
              </a:buClr>
            </a:pPr>
            <a:r>
              <a:rPr lang="en-GB" b="1">
                <a:ea typeface="+mn-lt"/>
                <a:cs typeface="+mn-lt"/>
              </a:rPr>
              <a:t>Benefits:</a:t>
            </a:r>
            <a:r>
              <a:rPr lang="en-GB">
                <a:ea typeface="+mn-lt"/>
                <a:cs typeface="+mn-lt"/>
              </a:rPr>
              <a:t> Provides vital context about the market landscape and identifies broader trends outside your direct operational sphere.</a:t>
            </a:r>
            <a:endParaRPr lang="en-GB"/>
          </a:p>
          <a:p>
            <a:pPr>
              <a:buClr>
                <a:srgbClr val="1287C3"/>
              </a:buClr>
            </a:pPr>
            <a:endParaRPr lang="en-GB" dirty="0">
              <a:ea typeface="+mn-lt"/>
              <a:cs typeface="+mn-lt"/>
            </a:endParaRPr>
          </a:p>
        </p:txBody>
      </p:sp>
    </p:spTree>
    <p:extLst>
      <p:ext uri="{BB962C8B-B14F-4D97-AF65-F5344CB8AC3E}">
        <p14:creationId xmlns:p14="http://schemas.microsoft.com/office/powerpoint/2010/main" val="4172064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4FE20-7D2D-1E73-AC92-AE1403BBF1BE}"/>
              </a:ext>
            </a:extLst>
          </p:cNvPr>
          <p:cNvSpPr>
            <a:spLocks noGrp="1"/>
          </p:cNvSpPr>
          <p:nvPr>
            <p:ph type="title"/>
          </p:nvPr>
        </p:nvSpPr>
        <p:spPr/>
        <p:txBody>
          <a:bodyPr/>
          <a:lstStyle/>
          <a:p>
            <a:r>
              <a:rPr lang="en-GB">
                <a:ea typeface="+mj-lt"/>
                <a:cs typeface="+mj-lt"/>
              </a:rPr>
              <a:t>3. Third-Party Data</a:t>
            </a:r>
            <a:endParaRPr lang="en-US"/>
          </a:p>
        </p:txBody>
      </p:sp>
      <p:sp>
        <p:nvSpPr>
          <p:cNvPr id="3" name="Content Placeholder 2">
            <a:extLst>
              <a:ext uri="{FF2B5EF4-FFF2-40B4-BE49-F238E27FC236}">
                <a16:creationId xmlns:a16="http://schemas.microsoft.com/office/drawing/2014/main" id="{319F7370-2B1D-2802-405E-EB8FF2B5AC60}"/>
              </a:ext>
            </a:extLst>
          </p:cNvPr>
          <p:cNvSpPr>
            <a:spLocks noGrp="1"/>
          </p:cNvSpPr>
          <p:nvPr>
            <p:ph idx="1"/>
          </p:nvPr>
        </p:nvSpPr>
        <p:spPr/>
        <p:txBody>
          <a:bodyPr>
            <a:normAutofit lnSpcReduction="10000"/>
          </a:bodyPr>
          <a:lstStyle/>
          <a:p>
            <a:r>
              <a:rPr lang="en-GB">
                <a:ea typeface="+mn-lt"/>
                <a:cs typeface="+mn-lt"/>
              </a:rPr>
              <a:t>Third-party data is collected by an external entity—usually a data broker or aggregator—and then sold or licensed to other businesses. This allows companies to access large-scale, segmented datasets without building them from scratch.</a:t>
            </a:r>
            <a:endParaRPr lang="en-GB"/>
          </a:p>
          <a:p>
            <a:pPr>
              <a:buClr>
                <a:srgbClr val="1287C3"/>
              </a:buClr>
            </a:pPr>
            <a:r>
              <a:rPr lang="en-GB" b="1">
                <a:ea typeface="+mn-lt"/>
                <a:cs typeface="+mn-lt"/>
              </a:rPr>
              <a:t>Examples:</a:t>
            </a:r>
            <a:r>
              <a:rPr lang="en-GB">
                <a:ea typeface="+mn-lt"/>
                <a:cs typeface="+mn-lt"/>
              </a:rPr>
              <a:t> Consumer credit scores, demographic data, specific audience purchasing habits, and specialized location-based tracking.</a:t>
            </a:r>
            <a:endParaRPr lang="en-GB"/>
          </a:p>
          <a:p>
            <a:pPr>
              <a:buClr>
                <a:srgbClr val="1287C3"/>
              </a:buClr>
            </a:pPr>
            <a:r>
              <a:rPr lang="en-GB" b="1">
                <a:ea typeface="+mn-lt"/>
                <a:cs typeface="+mn-lt"/>
              </a:rPr>
              <a:t>Benefits:</a:t>
            </a:r>
            <a:r>
              <a:rPr lang="en-GB">
                <a:ea typeface="+mn-lt"/>
                <a:cs typeface="+mn-lt"/>
              </a:rPr>
              <a:t> Offers deep, granular insights (especially for targeted marketing) and broadens audience reach beyond your current customer base.</a:t>
            </a:r>
            <a:endParaRPr lang="en-GB"/>
          </a:p>
          <a:p>
            <a:pPr>
              <a:buClr>
                <a:srgbClr val="1287C3"/>
              </a:buClr>
            </a:pPr>
            <a:endParaRPr lang="en-GB" dirty="0"/>
          </a:p>
        </p:txBody>
      </p:sp>
    </p:spTree>
    <p:extLst>
      <p:ext uri="{BB962C8B-B14F-4D97-AF65-F5344CB8AC3E}">
        <p14:creationId xmlns:p14="http://schemas.microsoft.com/office/powerpoint/2010/main" val="19051653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BA24-6D3E-24C5-0B2A-5E45BEA687C7}"/>
              </a:ext>
            </a:extLst>
          </p:cNvPr>
          <p:cNvSpPr>
            <a:spLocks noGrp="1"/>
          </p:cNvSpPr>
          <p:nvPr>
            <p:ph type="title"/>
          </p:nvPr>
        </p:nvSpPr>
        <p:spPr/>
        <p:txBody>
          <a:bodyPr/>
          <a:lstStyle/>
          <a:p>
            <a:r>
              <a:rPr lang="en-GB">
                <a:ea typeface="+mj-lt"/>
                <a:cs typeface="+mj-lt"/>
              </a:rPr>
              <a:t>4. Open Data</a:t>
            </a:r>
            <a:endParaRPr lang="en-US"/>
          </a:p>
        </p:txBody>
      </p:sp>
      <p:sp>
        <p:nvSpPr>
          <p:cNvPr id="3" name="Content Placeholder 2">
            <a:extLst>
              <a:ext uri="{FF2B5EF4-FFF2-40B4-BE49-F238E27FC236}">
                <a16:creationId xmlns:a16="http://schemas.microsoft.com/office/drawing/2014/main" id="{AA14901C-892E-110E-CBC0-59F8026D96FC}"/>
              </a:ext>
            </a:extLst>
          </p:cNvPr>
          <p:cNvSpPr>
            <a:spLocks noGrp="1"/>
          </p:cNvSpPr>
          <p:nvPr>
            <p:ph idx="1"/>
          </p:nvPr>
        </p:nvSpPr>
        <p:spPr/>
        <p:txBody>
          <a:bodyPr>
            <a:normAutofit lnSpcReduction="10000"/>
          </a:bodyPr>
          <a:lstStyle/>
          <a:p>
            <a:r>
              <a:rPr lang="en-GB" dirty="0">
                <a:ea typeface="+mn-lt"/>
                <a:cs typeface="+mn-lt"/>
              </a:rPr>
              <a:t>Open data is publicly available information published by governments, non-profits, or research institutions that can be freely used, modified, and shared by anyone. </a:t>
            </a:r>
            <a:endParaRPr lang="en-GB" dirty="0"/>
          </a:p>
          <a:p>
            <a:pPr>
              <a:buClr>
                <a:srgbClr val="1287C3"/>
              </a:buClr>
            </a:pPr>
            <a:r>
              <a:rPr lang="en-GB" b="1" dirty="0">
                <a:ea typeface="+mn-lt"/>
                <a:cs typeface="+mn-lt"/>
              </a:rPr>
              <a:t>Examples:</a:t>
            </a:r>
            <a:r>
              <a:rPr lang="en-GB" dirty="0">
                <a:ea typeface="+mn-lt"/>
                <a:cs typeface="+mn-lt"/>
              </a:rPr>
              <a:t> </a:t>
            </a:r>
            <a:r>
              <a:rPr lang="en-GB" dirty="0" err="1">
                <a:ea typeface="+mn-lt"/>
                <a:cs typeface="+mn-lt"/>
              </a:rPr>
              <a:t>Gorverment</a:t>
            </a:r>
            <a:r>
              <a:rPr lang="en-GB" dirty="0">
                <a:ea typeface="+mn-lt"/>
                <a:cs typeface="+mn-lt"/>
              </a:rPr>
              <a:t> census data, </a:t>
            </a:r>
            <a:r>
              <a:rPr lang="en-GB" dirty="0" err="1">
                <a:ea typeface="+mn-lt"/>
                <a:cs typeface="+mn-lt"/>
              </a:rPr>
              <a:t>Census</a:t>
            </a:r>
            <a:r>
              <a:rPr lang="en-GB" dirty="0">
                <a:ea typeface="+mn-lt"/>
                <a:cs typeface="+mn-lt"/>
              </a:rPr>
              <a:t> demographic information, meteorological/weather reports, traffic flow statistics, and public health data.</a:t>
            </a:r>
            <a:endParaRPr lang="en-GB" dirty="0"/>
          </a:p>
          <a:p>
            <a:pPr>
              <a:buClr>
                <a:srgbClr val="1287C3"/>
              </a:buClr>
            </a:pPr>
            <a:r>
              <a:rPr lang="en-GB" b="1">
                <a:ea typeface="+mn-lt"/>
                <a:cs typeface="+mn-lt"/>
              </a:rPr>
              <a:t>Benefits:</a:t>
            </a:r>
            <a:r>
              <a:rPr lang="en-GB">
                <a:ea typeface="+mn-lt"/>
                <a:cs typeface="+mn-lt"/>
              </a:rPr>
              <a:t> Cost-effective, easily accessible, and excellent for discovering macroeconomic or demographic baselines.</a:t>
            </a:r>
            <a:endParaRPr lang="en-GB"/>
          </a:p>
          <a:p>
            <a:pPr>
              <a:buClr>
                <a:srgbClr val="1287C3"/>
              </a:buClr>
            </a:pPr>
            <a:endParaRPr lang="en-GB" dirty="0"/>
          </a:p>
        </p:txBody>
      </p:sp>
    </p:spTree>
    <p:extLst>
      <p:ext uri="{BB962C8B-B14F-4D97-AF65-F5344CB8AC3E}">
        <p14:creationId xmlns:p14="http://schemas.microsoft.com/office/powerpoint/2010/main" val="36178524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CA2F3-B19A-52E3-31C9-E374FB85A0A6}"/>
              </a:ext>
            </a:extLst>
          </p:cNvPr>
          <p:cNvSpPr>
            <a:spLocks noGrp="1"/>
          </p:cNvSpPr>
          <p:nvPr>
            <p:ph type="title"/>
          </p:nvPr>
        </p:nvSpPr>
        <p:spPr/>
        <p:txBody>
          <a:bodyPr/>
          <a:lstStyle/>
          <a:p>
            <a:r>
              <a:rPr lang="en-GB"/>
              <a:t>C. Data</a:t>
            </a:r>
            <a:r>
              <a:rPr lang="en-GB" dirty="0"/>
              <a:t> collection methods</a:t>
            </a:r>
          </a:p>
        </p:txBody>
      </p:sp>
      <p:sp>
        <p:nvSpPr>
          <p:cNvPr id="3" name="Content Placeholder 2">
            <a:extLst>
              <a:ext uri="{FF2B5EF4-FFF2-40B4-BE49-F238E27FC236}">
                <a16:creationId xmlns:a16="http://schemas.microsoft.com/office/drawing/2014/main" id="{05E135DE-689D-6E60-76BE-0B5C48315464}"/>
              </a:ext>
            </a:extLst>
          </p:cNvPr>
          <p:cNvSpPr>
            <a:spLocks noGrp="1"/>
          </p:cNvSpPr>
          <p:nvPr>
            <p:ph idx="1"/>
          </p:nvPr>
        </p:nvSpPr>
        <p:spPr/>
        <p:txBody>
          <a:bodyPr/>
          <a:lstStyle/>
          <a:p>
            <a:r>
              <a:rPr lang="en-GB" b="1">
                <a:ea typeface="+mn-lt"/>
                <a:cs typeface="+mn-lt"/>
              </a:rPr>
              <a:t>Data collection</a:t>
            </a:r>
            <a:r>
              <a:rPr lang="en-GB">
                <a:ea typeface="+mn-lt"/>
                <a:cs typeface="+mn-lt"/>
              </a:rPr>
              <a:t> is the process of gathering and measuring information on variables of interest, in an established systematic fashion that enables one to answer stated research questions, test hypotheses, and evaluate outcomes. The data collection component of research is common to all fields of study including physical and social sciences, humanities, business, etc. While methods vary by discipline, the emphasis on ensuring accurate and honest collection remains the same.</a:t>
            </a:r>
          </a:p>
        </p:txBody>
      </p:sp>
    </p:spTree>
    <p:extLst>
      <p:ext uri="{BB962C8B-B14F-4D97-AF65-F5344CB8AC3E}">
        <p14:creationId xmlns:p14="http://schemas.microsoft.com/office/powerpoint/2010/main" val="1222210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1F22-FEBE-92D8-0181-EF76F9A9E630}"/>
              </a:ext>
            </a:extLst>
          </p:cNvPr>
          <p:cNvSpPr>
            <a:spLocks noGrp="1"/>
          </p:cNvSpPr>
          <p:nvPr>
            <p:ph type="title"/>
          </p:nvPr>
        </p:nvSpPr>
        <p:spPr/>
        <p:txBody>
          <a:bodyPr/>
          <a:lstStyle/>
          <a:p>
            <a:pPr marL="285750" indent="-285750" algn="l">
              <a:spcBef>
                <a:spcPct val="20000"/>
              </a:spcBef>
              <a:spcAft>
                <a:spcPts val="600"/>
              </a:spcAft>
            </a:pPr>
            <a:r>
              <a:rPr lang="en-GB" b="1">
                <a:ea typeface="+mj-lt"/>
                <a:cs typeface="+mj-lt"/>
              </a:rPr>
              <a:t>                           Qualitative Data</a:t>
            </a:r>
            <a:endParaRPr lang="en-GB">
              <a:ea typeface="+mj-lt"/>
              <a:cs typeface="+mj-lt"/>
            </a:endParaRPr>
          </a:p>
          <a:p>
            <a:endParaRPr lang="en-GB" dirty="0"/>
          </a:p>
        </p:txBody>
      </p:sp>
      <p:sp>
        <p:nvSpPr>
          <p:cNvPr id="3" name="Content Placeholder 2">
            <a:extLst>
              <a:ext uri="{FF2B5EF4-FFF2-40B4-BE49-F238E27FC236}">
                <a16:creationId xmlns:a16="http://schemas.microsoft.com/office/drawing/2014/main" id="{C70A2B05-D057-9F51-D699-B7D89FE53AB2}"/>
              </a:ext>
            </a:extLst>
          </p:cNvPr>
          <p:cNvSpPr>
            <a:spLocks noGrp="1"/>
          </p:cNvSpPr>
          <p:nvPr>
            <p:ph idx="1"/>
          </p:nvPr>
        </p:nvSpPr>
        <p:spPr>
          <a:xfrm>
            <a:off x="1484310" y="2149415"/>
            <a:ext cx="10018713" cy="4906992"/>
          </a:xfrm>
        </p:spPr>
        <p:txBody>
          <a:bodyPr>
            <a:normAutofit fontScale="85000" lnSpcReduction="10000"/>
          </a:bodyPr>
          <a:lstStyle/>
          <a:p>
            <a:pPr algn="just">
              <a:buClr>
                <a:srgbClr val="1287C3"/>
              </a:buClr>
            </a:pPr>
            <a:r>
              <a:rPr lang="en-GB" dirty="0">
                <a:ea typeface="+mn-lt"/>
                <a:cs typeface="+mn-lt"/>
              </a:rPr>
              <a:t>The data collected on grounds of categorical variables are qualitative. Qualitative data are more descriptive and conceptual in nature. It measures the data on the basis of the type of data, collection, or category.</a:t>
            </a:r>
            <a:endParaRPr lang="en-GB" dirty="0"/>
          </a:p>
          <a:p>
            <a:pPr marL="0" indent="0">
              <a:buClr>
                <a:srgbClr val="1287C3"/>
              </a:buClr>
              <a:buNone/>
            </a:pPr>
            <a:r>
              <a:rPr lang="en-GB" dirty="0">
                <a:ea typeface="+mn-lt"/>
                <a:cs typeface="+mn-lt"/>
              </a:rPr>
              <a:t> The data collection is based on the type of quality given. Qualitative data is categorized into different groups based on characteristics. The data obtained from these kinds of analysis or research is used in theorization, perceptions, and developing hypothetical theories. These data are collected from texts, documents, transcripts, audio and video recordings, etc.</a:t>
            </a:r>
            <a:endParaRPr lang="en-GB" dirty="0"/>
          </a:p>
          <a:p>
            <a:pPr marL="0" indent="0">
              <a:buClr>
                <a:srgbClr val="1287C3"/>
              </a:buClr>
              <a:buNone/>
            </a:pPr>
            <a:r>
              <a:rPr lang="en-GB" b="1"/>
              <a:t>Examples</a:t>
            </a:r>
            <a:r>
              <a:rPr lang="en-GB" b="1" dirty="0"/>
              <a:t> of Qualitative Data</a:t>
            </a:r>
            <a:endParaRPr lang="en-GB" dirty="0">
              <a:ea typeface="+mn-lt"/>
              <a:cs typeface="+mn-lt"/>
            </a:endParaRPr>
          </a:p>
          <a:p>
            <a:pPr>
              <a:buClr>
                <a:srgbClr val="1287C3"/>
              </a:buClr>
            </a:pPr>
            <a:r>
              <a:rPr lang="en-GB">
                <a:ea typeface="+mn-lt"/>
                <a:cs typeface="+mn-lt"/>
              </a:rPr>
              <a:t>Textual responses from open-ended survey questions</a:t>
            </a:r>
            <a:endParaRPr lang="en-GB"/>
          </a:p>
          <a:p>
            <a:pPr>
              <a:buClr>
                <a:srgbClr val="1287C3"/>
              </a:buClr>
            </a:pPr>
            <a:r>
              <a:rPr lang="en-GB">
                <a:ea typeface="+mn-lt"/>
                <a:cs typeface="+mn-lt"/>
              </a:rPr>
              <a:t>Observational notes or fieldwork observations</a:t>
            </a:r>
            <a:endParaRPr lang="en-GB"/>
          </a:p>
          <a:p>
            <a:pPr>
              <a:buClr>
                <a:srgbClr val="1287C3"/>
              </a:buClr>
            </a:pPr>
            <a:r>
              <a:rPr lang="en-GB">
                <a:ea typeface="+mn-lt"/>
                <a:cs typeface="+mn-lt"/>
              </a:rPr>
              <a:t>Interview transcripts</a:t>
            </a:r>
            <a:endParaRPr lang="en-GB"/>
          </a:p>
          <a:p>
            <a:pPr>
              <a:buClr>
                <a:srgbClr val="1287C3"/>
              </a:buClr>
            </a:pPr>
            <a:r>
              <a:rPr lang="en-GB">
                <a:ea typeface="+mn-lt"/>
                <a:cs typeface="+mn-lt"/>
              </a:rPr>
              <a:t>Photographs or videos</a:t>
            </a:r>
            <a:endParaRPr lang="en-GB"/>
          </a:p>
          <a:p>
            <a:pPr>
              <a:buClr>
                <a:srgbClr val="1287C3"/>
              </a:buClr>
            </a:pPr>
            <a:r>
              <a:rPr lang="en-GB">
                <a:ea typeface="+mn-lt"/>
                <a:cs typeface="+mn-lt"/>
              </a:rPr>
              <a:t>Personal narratives or case studies</a:t>
            </a:r>
            <a:endParaRPr lang="en-GB"/>
          </a:p>
          <a:p>
            <a:pPr algn="just">
              <a:buClr>
                <a:srgbClr val="1287C3"/>
              </a:buClr>
            </a:pPr>
            <a:endParaRPr lang="en-GB" dirty="0"/>
          </a:p>
          <a:p>
            <a:pPr>
              <a:buClr>
                <a:srgbClr val="1287C3"/>
              </a:buClr>
            </a:pPr>
            <a:endParaRPr lang="en-GB" dirty="0"/>
          </a:p>
        </p:txBody>
      </p:sp>
    </p:spTree>
    <p:extLst>
      <p:ext uri="{BB962C8B-B14F-4D97-AF65-F5344CB8AC3E}">
        <p14:creationId xmlns:p14="http://schemas.microsoft.com/office/powerpoint/2010/main" val="5146334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BFF4A-172F-7EC3-2F85-DF1674E9C1F8}"/>
              </a:ext>
            </a:extLst>
          </p:cNvPr>
          <p:cNvSpPr>
            <a:spLocks noGrp="1"/>
          </p:cNvSpPr>
          <p:nvPr>
            <p:ph type="title"/>
          </p:nvPr>
        </p:nvSpPr>
        <p:spPr/>
        <p:txBody>
          <a:bodyPr vert="horz" lIns="91440" tIns="45720" rIns="91440" bIns="45720" rtlCol="0" anchor="ctr">
            <a:noAutofit/>
          </a:bodyPr>
          <a:lstStyle/>
          <a:p>
            <a:pPr algn="l"/>
            <a:r>
              <a:rPr lang="en-GB" b="1"/>
              <a:t>                     Quantitative Data</a:t>
            </a:r>
            <a:endParaRPr lang="en-US"/>
          </a:p>
          <a:p>
            <a:br>
              <a:rPr lang="en-US" dirty="0"/>
            </a:br>
            <a:endParaRPr lang="en-US" dirty="0"/>
          </a:p>
        </p:txBody>
      </p:sp>
      <p:sp>
        <p:nvSpPr>
          <p:cNvPr id="3" name="Content Placeholder 2">
            <a:extLst>
              <a:ext uri="{FF2B5EF4-FFF2-40B4-BE49-F238E27FC236}">
                <a16:creationId xmlns:a16="http://schemas.microsoft.com/office/drawing/2014/main" id="{2C2E2D59-CE66-8786-94EA-1E6D97EE10CD}"/>
              </a:ext>
            </a:extLst>
          </p:cNvPr>
          <p:cNvSpPr>
            <a:spLocks noGrp="1"/>
          </p:cNvSpPr>
          <p:nvPr>
            <p:ph idx="1"/>
          </p:nvPr>
        </p:nvSpPr>
        <p:spPr>
          <a:xfrm>
            <a:off x="1484310" y="1545566"/>
            <a:ext cx="10018713" cy="5309558"/>
          </a:xfrm>
        </p:spPr>
        <p:txBody>
          <a:bodyPr>
            <a:normAutofit fontScale="92500" lnSpcReduction="20000"/>
          </a:bodyPr>
          <a:lstStyle/>
          <a:p>
            <a:pPr algn="just"/>
            <a:r>
              <a:rPr lang="en-GB">
                <a:ea typeface="+mn-lt"/>
                <a:cs typeface="+mn-lt"/>
              </a:rPr>
              <a:t>The data collected on the grounds of the numerical variables are quantitative. Quantitative data are more objective and conclusive in nature. It measures the values and is expressed in numbers. The data collection is based on "how much" is the quantity. The data in quantitative analysis is expressed in numbers, so it can be counted or measured. The data is extracted from experiments, surveys, market reports, matrices, etc.</a:t>
            </a:r>
            <a:endParaRPr lang="en-GB"/>
          </a:p>
          <a:p>
            <a:pPr marL="0" indent="0">
              <a:buClr>
                <a:srgbClr val="1287C3"/>
              </a:buClr>
              <a:buNone/>
            </a:pPr>
            <a:r>
              <a:rPr lang="en-GB" b="1"/>
              <a:t>Examples of Quantitative Data</a:t>
            </a:r>
            <a:endParaRPr lang="en-GB"/>
          </a:p>
          <a:p>
            <a:pPr>
              <a:buClr>
                <a:srgbClr val="1287C3"/>
              </a:buClr>
            </a:pPr>
            <a:r>
              <a:rPr lang="en-GB">
                <a:ea typeface="+mn-lt"/>
                <a:cs typeface="+mn-lt"/>
              </a:rPr>
              <a:t>Age, Height, Weight, etc.</a:t>
            </a:r>
            <a:endParaRPr lang="en-GB"/>
          </a:p>
          <a:p>
            <a:pPr>
              <a:buClr>
                <a:srgbClr val="1287C3"/>
              </a:buClr>
            </a:pPr>
            <a:r>
              <a:rPr lang="en-GB">
                <a:ea typeface="+mn-lt"/>
                <a:cs typeface="+mn-lt"/>
              </a:rPr>
              <a:t>Temperature</a:t>
            </a:r>
            <a:endParaRPr lang="en-GB"/>
          </a:p>
          <a:p>
            <a:pPr>
              <a:buClr>
                <a:srgbClr val="1287C3"/>
              </a:buClr>
            </a:pPr>
            <a:r>
              <a:rPr lang="en-GB">
                <a:ea typeface="+mn-lt"/>
                <a:cs typeface="+mn-lt"/>
              </a:rPr>
              <a:t>Income</a:t>
            </a:r>
            <a:endParaRPr lang="en-GB"/>
          </a:p>
          <a:p>
            <a:pPr>
              <a:buClr>
                <a:srgbClr val="1287C3"/>
              </a:buClr>
            </a:pPr>
            <a:r>
              <a:rPr lang="en-GB">
                <a:ea typeface="+mn-lt"/>
                <a:cs typeface="+mn-lt"/>
              </a:rPr>
              <a:t>Number of siblings</a:t>
            </a:r>
            <a:endParaRPr lang="en-GB"/>
          </a:p>
          <a:p>
            <a:pPr>
              <a:buClr>
                <a:srgbClr val="1287C3"/>
              </a:buClr>
            </a:pPr>
            <a:r>
              <a:rPr lang="en-GB">
                <a:ea typeface="+mn-lt"/>
                <a:cs typeface="+mn-lt"/>
              </a:rPr>
              <a:t>GPA</a:t>
            </a:r>
            <a:endParaRPr lang="en-GB"/>
          </a:p>
          <a:p>
            <a:pPr>
              <a:buClr>
                <a:srgbClr val="1287C3"/>
              </a:buClr>
            </a:pPr>
            <a:r>
              <a:rPr lang="en-GB">
                <a:ea typeface="+mn-lt"/>
                <a:cs typeface="+mn-lt"/>
              </a:rPr>
              <a:t>Test scores</a:t>
            </a:r>
            <a:endParaRPr lang="en-GB"/>
          </a:p>
          <a:p>
            <a:pPr>
              <a:buClr>
                <a:srgbClr val="1287C3"/>
              </a:buClr>
            </a:pPr>
            <a:r>
              <a:rPr lang="en-GB">
                <a:ea typeface="+mn-lt"/>
                <a:cs typeface="+mn-lt"/>
              </a:rPr>
              <a:t>Stock prices</a:t>
            </a:r>
            <a:endParaRPr lang="en-GB"/>
          </a:p>
          <a:p>
            <a:pPr>
              <a:buClr>
                <a:srgbClr val="1287C3"/>
              </a:buClr>
            </a:pPr>
            <a:endParaRPr lang="en-GB" dirty="0"/>
          </a:p>
        </p:txBody>
      </p:sp>
    </p:spTree>
    <p:extLst>
      <p:ext uri="{BB962C8B-B14F-4D97-AF65-F5344CB8AC3E}">
        <p14:creationId xmlns:p14="http://schemas.microsoft.com/office/powerpoint/2010/main" val="8049693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50EE9-1973-BABA-EE31-88EE561AD795}"/>
              </a:ext>
            </a:extLst>
          </p:cNvPr>
          <p:cNvSpPr>
            <a:spLocks noGrp="1"/>
          </p:cNvSpPr>
          <p:nvPr>
            <p:ph type="title"/>
          </p:nvPr>
        </p:nvSpPr>
        <p:spPr/>
        <p:txBody>
          <a:bodyPr>
            <a:normAutofit/>
          </a:bodyPr>
          <a:lstStyle/>
          <a:p>
            <a:r>
              <a:rPr lang="en-GB"/>
              <a:t>Primary data</a:t>
            </a:r>
          </a:p>
          <a:p>
            <a:endParaRPr lang="en-GB" dirty="0"/>
          </a:p>
        </p:txBody>
      </p:sp>
      <p:sp>
        <p:nvSpPr>
          <p:cNvPr id="3" name="Content Placeholder 2">
            <a:extLst>
              <a:ext uri="{FF2B5EF4-FFF2-40B4-BE49-F238E27FC236}">
                <a16:creationId xmlns:a16="http://schemas.microsoft.com/office/drawing/2014/main" id="{8D18D507-AA7C-F385-26C1-C7485B16B203}"/>
              </a:ext>
            </a:extLst>
          </p:cNvPr>
          <p:cNvSpPr>
            <a:spLocks noGrp="1"/>
          </p:cNvSpPr>
          <p:nvPr>
            <p:ph idx="1"/>
          </p:nvPr>
        </p:nvSpPr>
        <p:spPr>
          <a:xfrm>
            <a:off x="1139253" y="1718093"/>
            <a:ext cx="11168902" cy="4806352"/>
          </a:xfrm>
        </p:spPr>
        <p:txBody>
          <a:bodyPr vert="horz" lIns="91440" tIns="45720" rIns="91440" bIns="45720" rtlCol="0" anchor="ctr">
            <a:noAutofit/>
          </a:bodyPr>
          <a:lstStyle/>
          <a:p>
            <a:pPr>
              <a:buClr>
                <a:srgbClr val="1287C3"/>
              </a:buClr>
            </a:pPr>
            <a:r>
              <a:rPr lang="en-GB">
                <a:ea typeface="+mn-lt"/>
                <a:cs typeface="+mn-lt"/>
              </a:rPr>
              <a:t>Primary data collection is the process of gathering original, first-hand information directly from sources to answer specific research questions</a:t>
            </a:r>
            <a:endParaRPr lang="en-GB" dirty="0">
              <a:ea typeface="+mn-lt"/>
              <a:cs typeface="+mn-lt"/>
            </a:endParaRPr>
          </a:p>
          <a:p>
            <a:pPr>
              <a:buClr>
                <a:srgbClr val="1287C3"/>
              </a:buClr>
            </a:pPr>
            <a:r>
              <a:rPr lang="en-GB" b="1" dirty="0">
                <a:ea typeface="+mn-lt"/>
                <a:cs typeface="+mn-lt"/>
              </a:rPr>
              <a:t> Methods  :</a:t>
            </a:r>
            <a:r>
              <a:rPr lang="en-GB" dirty="0">
                <a:ea typeface="+mn-lt"/>
                <a:cs typeface="+mn-lt"/>
              </a:rPr>
              <a:t>Surveys/</a:t>
            </a:r>
            <a:r>
              <a:rPr lang="en-GB" dirty="0" err="1">
                <a:ea typeface="+mn-lt"/>
                <a:cs typeface="+mn-lt"/>
              </a:rPr>
              <a:t>Questionnaires,Interviews,Focus</a:t>
            </a:r>
            <a:r>
              <a:rPr lang="en-GB" dirty="0">
                <a:ea typeface="+mn-lt"/>
                <a:cs typeface="+mn-lt"/>
              </a:rPr>
              <a:t> </a:t>
            </a:r>
            <a:r>
              <a:rPr lang="en-GB" dirty="0" err="1">
                <a:ea typeface="+mn-lt"/>
                <a:cs typeface="+mn-lt"/>
              </a:rPr>
              <a:t>Groups,Observation,Experiments</a:t>
            </a:r>
            <a:r>
              <a:rPr lang="en-GB" dirty="0">
                <a:ea typeface="+mn-lt"/>
                <a:cs typeface="+mn-lt"/>
              </a:rPr>
              <a:t>/Field Trials</a:t>
            </a:r>
          </a:p>
          <a:p>
            <a:pPr>
              <a:buClr>
                <a:srgbClr val="1287C3"/>
              </a:buClr>
            </a:pPr>
            <a:r>
              <a:rPr lang="en-GB" b="1" dirty="0">
                <a:ea typeface="+mn-lt"/>
                <a:cs typeface="+mn-lt"/>
              </a:rPr>
              <a:t>Advantages:</a:t>
            </a:r>
            <a:r>
              <a:rPr lang="en-GB" dirty="0">
                <a:ea typeface="+mn-lt"/>
                <a:cs typeface="+mn-lt"/>
              </a:rPr>
              <a:t> High data accuracy, relevance to specific objectives, and control over research quality.</a:t>
            </a:r>
          </a:p>
          <a:p>
            <a:pPr>
              <a:buClr>
                <a:srgbClr val="1287C3"/>
              </a:buClr>
            </a:pPr>
            <a:r>
              <a:rPr lang="en-GB" b="1">
                <a:ea typeface="+mn-lt"/>
                <a:cs typeface="+mn-lt"/>
              </a:rPr>
              <a:t>Disadvantage</a:t>
            </a:r>
            <a:r>
              <a:rPr lang="en-GB">
                <a:ea typeface="+mn-lt"/>
                <a:cs typeface="+mn-lt"/>
              </a:rPr>
              <a:t>: Takes more time and cost.</a:t>
            </a:r>
            <a:endParaRPr lang="en-GB" dirty="0">
              <a:ea typeface="+mn-lt"/>
              <a:cs typeface="+mn-lt"/>
            </a:endParaRPr>
          </a:p>
          <a:p>
            <a:pPr>
              <a:buClr>
                <a:srgbClr val="1287C3"/>
              </a:buClr>
            </a:pPr>
            <a:endParaRPr lang="en-GB" dirty="0">
              <a:ea typeface="+mn-lt"/>
              <a:cs typeface="+mn-lt"/>
            </a:endParaRPr>
          </a:p>
        </p:txBody>
      </p:sp>
    </p:spTree>
    <p:extLst>
      <p:ext uri="{BB962C8B-B14F-4D97-AF65-F5344CB8AC3E}">
        <p14:creationId xmlns:p14="http://schemas.microsoft.com/office/powerpoint/2010/main" val="14430545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9DEA-48C1-A6CA-C92B-C6D1142EA210}"/>
              </a:ext>
            </a:extLst>
          </p:cNvPr>
          <p:cNvSpPr>
            <a:spLocks noGrp="1"/>
          </p:cNvSpPr>
          <p:nvPr>
            <p:ph type="title"/>
          </p:nvPr>
        </p:nvSpPr>
        <p:spPr>
          <a:xfrm>
            <a:off x="1484311" y="427008"/>
            <a:ext cx="10018713" cy="1033732"/>
          </a:xfrm>
        </p:spPr>
        <p:txBody>
          <a:bodyPr>
            <a:normAutofit/>
          </a:bodyPr>
          <a:lstStyle/>
          <a:p>
            <a:r>
              <a:rPr lang="en-GB">
                <a:ea typeface="+mj-lt"/>
                <a:cs typeface="+mj-lt"/>
              </a:rPr>
              <a:t>Secondary data</a:t>
            </a:r>
            <a:endParaRPr lang="en-US">
              <a:ea typeface="+mj-lt"/>
              <a:cs typeface="+mj-lt"/>
            </a:endParaRPr>
          </a:p>
        </p:txBody>
      </p:sp>
      <p:sp>
        <p:nvSpPr>
          <p:cNvPr id="3" name="Content Placeholder 2">
            <a:extLst>
              <a:ext uri="{FF2B5EF4-FFF2-40B4-BE49-F238E27FC236}">
                <a16:creationId xmlns:a16="http://schemas.microsoft.com/office/drawing/2014/main" id="{3A68F88C-AD0D-23E9-141A-CA314E62ED89}"/>
              </a:ext>
            </a:extLst>
          </p:cNvPr>
          <p:cNvSpPr>
            <a:spLocks noGrp="1"/>
          </p:cNvSpPr>
          <p:nvPr>
            <p:ph idx="1"/>
          </p:nvPr>
        </p:nvSpPr>
        <p:spPr>
          <a:xfrm>
            <a:off x="1484310" y="4090358"/>
            <a:ext cx="10018713" cy="1269521"/>
          </a:xfrm>
        </p:spPr>
        <p:txBody>
          <a:bodyPr vert="horz" lIns="91440" tIns="45720" rIns="91440" bIns="45720" rtlCol="0" anchor="ctr">
            <a:noAutofit/>
          </a:bodyPr>
          <a:lstStyle/>
          <a:p>
            <a:r>
              <a:rPr lang="en-GB" sz="1800" dirty="0">
                <a:ea typeface="+mn-lt"/>
                <a:cs typeface="+mn-lt"/>
              </a:rPr>
              <a:t>Secondary data collection is the process of gathering and </a:t>
            </a:r>
            <a:r>
              <a:rPr lang="en-GB" sz="1800" dirty="0" err="1">
                <a:ea typeface="+mn-lt"/>
                <a:cs typeface="+mn-lt"/>
              </a:rPr>
              <a:t>analyzing</a:t>
            </a:r>
            <a:r>
              <a:rPr lang="en-GB" sz="1800" dirty="0">
                <a:ea typeface="+mn-lt"/>
                <a:cs typeface="+mn-lt"/>
              </a:rPr>
              <a:t> data that has already been collected, processed, and published by others, such as government reports, academic studies, or organizational records. It is a time-effective, cost-efficient, and reliable method to gain insights without conducting new, primary research.</a:t>
            </a:r>
          </a:p>
          <a:p>
            <a:pPr>
              <a:buClr>
                <a:srgbClr val="1287C3"/>
              </a:buClr>
            </a:pPr>
            <a:r>
              <a:rPr lang="en-GB" sz="1800" b="1">
                <a:ea typeface="+mn-lt"/>
                <a:cs typeface="+mn-lt"/>
              </a:rPr>
              <a:t>Advantages:</a:t>
            </a:r>
            <a:endParaRPr lang="en-GB" sz="1800" dirty="0">
              <a:ea typeface="+mn-lt"/>
              <a:cs typeface="+mn-lt"/>
            </a:endParaRPr>
          </a:p>
          <a:p>
            <a:pPr>
              <a:buClr>
                <a:srgbClr val="1287C3"/>
              </a:buClr>
            </a:pPr>
            <a:r>
              <a:rPr lang="en-GB" sz="1800" b="1">
                <a:ea typeface="+mn-lt"/>
                <a:cs typeface="+mn-lt"/>
              </a:rPr>
              <a:t>Cost-Efficient:</a:t>
            </a:r>
            <a:r>
              <a:rPr lang="en-GB" sz="1800">
                <a:ea typeface="+mn-lt"/>
                <a:cs typeface="+mn-lt"/>
              </a:rPr>
              <a:t> Less expensive than primary research.</a:t>
            </a:r>
            <a:endParaRPr lang="en-GB" sz="1800"/>
          </a:p>
          <a:p>
            <a:pPr>
              <a:buClr>
                <a:srgbClr val="1287C3"/>
              </a:buClr>
            </a:pPr>
            <a:r>
              <a:rPr lang="en-GB" sz="1800" b="1">
                <a:ea typeface="+mn-lt"/>
                <a:cs typeface="+mn-lt"/>
              </a:rPr>
              <a:t>Time-Saving:</a:t>
            </a:r>
            <a:r>
              <a:rPr lang="en-GB" sz="1800">
                <a:ea typeface="+mn-lt"/>
                <a:cs typeface="+mn-lt"/>
              </a:rPr>
              <a:t> Ready for analysis, allowing for quick insights.</a:t>
            </a:r>
            <a:endParaRPr lang="en-GB" sz="1800"/>
          </a:p>
          <a:p>
            <a:pPr>
              <a:buClr>
                <a:srgbClr val="1287C3"/>
              </a:buClr>
            </a:pPr>
            <a:r>
              <a:rPr lang="en-GB" sz="1800" b="1">
                <a:ea typeface="+mn-lt"/>
                <a:cs typeface="+mn-lt"/>
              </a:rPr>
              <a:t>Broad Scope:</a:t>
            </a:r>
            <a:r>
              <a:rPr lang="en-GB" sz="1800">
                <a:ea typeface="+mn-lt"/>
                <a:cs typeface="+mn-lt"/>
              </a:rPr>
              <a:t> Provides access to large, longitudinal datasets and historical trends (e.g., health or economic data).</a:t>
            </a:r>
            <a:endParaRPr lang="en-GB" sz="1800" dirty="0"/>
          </a:p>
          <a:p>
            <a:pPr>
              <a:buClr>
                <a:srgbClr val="1287C3"/>
              </a:buClr>
            </a:pPr>
            <a:r>
              <a:rPr lang="en-GB" sz="1800" b="1">
                <a:ea typeface="+mn-lt"/>
                <a:cs typeface="+mn-lt"/>
              </a:rPr>
              <a:t>Disadvantages:</a:t>
            </a:r>
            <a:endParaRPr lang="en-GB" sz="1800" dirty="0">
              <a:ea typeface="+mn-lt"/>
              <a:cs typeface="+mn-lt"/>
            </a:endParaRPr>
          </a:p>
          <a:p>
            <a:pPr>
              <a:buClr>
                <a:srgbClr val="1287C3"/>
              </a:buClr>
            </a:pPr>
            <a:r>
              <a:rPr lang="en-GB" sz="1800" b="1">
                <a:ea typeface="+mn-lt"/>
                <a:cs typeface="+mn-lt"/>
              </a:rPr>
              <a:t>Lack of Control:</a:t>
            </a:r>
            <a:r>
              <a:rPr lang="en-GB" sz="1800">
                <a:ea typeface="+mn-lt"/>
                <a:cs typeface="+mn-lt"/>
              </a:rPr>
              <a:t> Researchers have no control over how the data was originally collected or processed.</a:t>
            </a:r>
            <a:endParaRPr lang="en-GB" sz="1800"/>
          </a:p>
          <a:p>
            <a:pPr>
              <a:buClr>
                <a:srgbClr val="1287C3"/>
              </a:buClr>
            </a:pPr>
            <a:r>
              <a:rPr lang="en-GB" sz="1800" b="1">
                <a:ea typeface="+mn-lt"/>
                <a:cs typeface="+mn-lt"/>
              </a:rPr>
              <a:t>Potential Inaccuracy/Outdated Information:</a:t>
            </a:r>
            <a:r>
              <a:rPr lang="en-GB" sz="1800">
                <a:ea typeface="+mn-lt"/>
                <a:cs typeface="+mn-lt"/>
              </a:rPr>
              <a:t> Data might be irrelevant or outdated for the new inquiry.</a:t>
            </a:r>
            <a:endParaRPr lang="en-GB" sz="1800"/>
          </a:p>
          <a:p>
            <a:pPr>
              <a:buClr>
                <a:srgbClr val="1287C3"/>
              </a:buClr>
            </a:pPr>
            <a:r>
              <a:rPr lang="en-GB" sz="1800" b="1" dirty="0">
                <a:ea typeface="+mn-lt"/>
                <a:cs typeface="+mn-lt"/>
              </a:rPr>
              <a:t>Fit:</a:t>
            </a:r>
            <a:r>
              <a:rPr lang="en-GB" sz="1800" dirty="0">
                <a:ea typeface="+mn-lt"/>
                <a:cs typeface="+mn-lt"/>
              </a:rPr>
              <a:t> It may not perfectly match the specific research objectives.</a:t>
            </a:r>
            <a:endParaRPr lang="en-GB" sz="1800" dirty="0"/>
          </a:p>
          <a:p>
            <a:pPr>
              <a:buClr>
                <a:srgbClr val="1287C3"/>
              </a:buClr>
            </a:pPr>
            <a:endParaRPr lang="en-GB" sz="1800" dirty="0">
              <a:ea typeface="+mn-lt"/>
              <a:cs typeface="+mn-lt"/>
            </a:endParaRPr>
          </a:p>
          <a:p>
            <a:pPr>
              <a:buClr>
                <a:srgbClr val="1287C3"/>
              </a:buClr>
            </a:pPr>
            <a:endParaRPr lang="en-GB" sz="1800" dirty="0">
              <a:ea typeface="+mn-lt"/>
              <a:cs typeface="+mn-lt"/>
            </a:endParaRPr>
          </a:p>
        </p:txBody>
      </p:sp>
    </p:spTree>
    <p:extLst>
      <p:ext uri="{BB962C8B-B14F-4D97-AF65-F5344CB8AC3E}">
        <p14:creationId xmlns:p14="http://schemas.microsoft.com/office/powerpoint/2010/main" val="9198122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DC5B2-1C17-AAF6-6679-7F9FE895CB78}"/>
              </a:ext>
            </a:extLst>
          </p:cNvPr>
          <p:cNvSpPr>
            <a:spLocks noGrp="1"/>
          </p:cNvSpPr>
          <p:nvPr>
            <p:ph type="title"/>
          </p:nvPr>
        </p:nvSpPr>
        <p:spPr/>
        <p:txBody>
          <a:bodyPr/>
          <a:lstStyle/>
          <a:p>
            <a:r>
              <a:rPr lang="en-GB"/>
              <a:t>D. data lifecycle management</a:t>
            </a:r>
            <a:br>
              <a:rPr lang="en-GB" dirty="0"/>
            </a:br>
            <a:endParaRPr lang="en-GB"/>
          </a:p>
          <a:p>
            <a:endParaRPr lang="en-GB" dirty="0">
              <a:solidFill>
                <a:srgbClr val="000000"/>
              </a:solidFill>
            </a:endParaRPr>
          </a:p>
        </p:txBody>
      </p:sp>
      <p:sp>
        <p:nvSpPr>
          <p:cNvPr id="3" name="Content Placeholder 2">
            <a:extLst>
              <a:ext uri="{FF2B5EF4-FFF2-40B4-BE49-F238E27FC236}">
                <a16:creationId xmlns:a16="http://schemas.microsoft.com/office/drawing/2014/main" id="{DD1E2D78-32D5-E18A-1172-4FCF6D51C725}"/>
              </a:ext>
            </a:extLst>
          </p:cNvPr>
          <p:cNvSpPr>
            <a:spLocks noGrp="1"/>
          </p:cNvSpPr>
          <p:nvPr>
            <p:ph idx="1"/>
          </p:nvPr>
        </p:nvSpPr>
        <p:spPr>
          <a:xfrm>
            <a:off x="1484310" y="2666999"/>
            <a:ext cx="10018713" cy="4173748"/>
          </a:xfrm>
        </p:spPr>
        <p:txBody>
          <a:bodyPr>
            <a:normAutofit fontScale="85000" lnSpcReduction="20000"/>
          </a:bodyPr>
          <a:lstStyle/>
          <a:p>
            <a:pPr marL="0" indent="0">
              <a:buClr>
                <a:srgbClr val="1287C3"/>
              </a:buClr>
              <a:buNone/>
            </a:pPr>
            <a:r>
              <a:rPr lang="en-GB" sz="4000">
                <a:ea typeface="+mn-lt"/>
                <a:cs typeface="+mn-lt"/>
              </a:rPr>
              <a:t>Introduction</a:t>
            </a:r>
            <a:endParaRPr lang="en-GB" b="1">
              <a:ea typeface="+mn-lt"/>
              <a:cs typeface="+mn-lt"/>
            </a:endParaRPr>
          </a:p>
          <a:p>
            <a:pPr>
              <a:buClr>
                <a:srgbClr val="1287C3"/>
              </a:buClr>
            </a:pPr>
            <a:r>
              <a:rPr lang="en-GB" b="1" dirty="0">
                <a:ea typeface="+mn-lt"/>
                <a:cs typeface="+mn-lt"/>
              </a:rPr>
              <a:t>Data Lifecycle Management</a:t>
            </a:r>
            <a:r>
              <a:rPr lang="en-GB" dirty="0">
                <a:ea typeface="+mn-lt"/>
                <a:cs typeface="+mn-lt"/>
              </a:rPr>
              <a:t> (DLM) is a policy-based framework that oversees information from its initial creation through to its final deletion</a:t>
            </a:r>
          </a:p>
          <a:p>
            <a:pPr marL="0" indent="0">
              <a:buClr>
                <a:srgbClr val="1287C3"/>
              </a:buClr>
              <a:buNone/>
            </a:pPr>
            <a:r>
              <a:rPr lang="en-GB">
                <a:ea typeface="+mn-lt"/>
                <a:cs typeface="+mn-lt"/>
              </a:rPr>
              <a:t>six key phases</a:t>
            </a:r>
            <a:endParaRPr lang="en-GB" dirty="0">
              <a:ea typeface="+mn-lt"/>
              <a:cs typeface="+mn-lt"/>
            </a:endParaRPr>
          </a:p>
          <a:p>
            <a:pPr>
              <a:buClr>
                <a:srgbClr val="1287C3"/>
              </a:buClr>
            </a:pPr>
            <a:r>
              <a:rPr lang="en-GB">
                <a:solidFill>
                  <a:srgbClr val="000D25"/>
                </a:solidFill>
                <a:ea typeface="+mn-lt"/>
                <a:cs typeface="+mn-lt"/>
              </a:rPr>
              <a:t>Collection</a:t>
            </a:r>
            <a:endParaRPr lang="en-GB"/>
          </a:p>
          <a:p>
            <a:r>
              <a:rPr lang="en-GB">
                <a:solidFill>
                  <a:srgbClr val="000D25"/>
                </a:solidFill>
                <a:ea typeface="+mn-lt"/>
                <a:cs typeface="+mn-lt"/>
              </a:rPr>
              <a:t>Storage</a:t>
            </a:r>
            <a:endParaRPr lang="en-GB"/>
          </a:p>
          <a:p>
            <a:r>
              <a:rPr lang="en-GB">
                <a:solidFill>
                  <a:srgbClr val="000D25"/>
                </a:solidFill>
                <a:ea typeface="+mn-lt"/>
                <a:cs typeface="+mn-lt"/>
              </a:rPr>
              <a:t>Processing</a:t>
            </a:r>
            <a:endParaRPr lang="en-GB"/>
          </a:p>
          <a:p>
            <a:r>
              <a:rPr lang="en-GB">
                <a:solidFill>
                  <a:srgbClr val="000D25"/>
                </a:solidFill>
                <a:ea typeface="+mn-lt"/>
                <a:cs typeface="+mn-lt"/>
              </a:rPr>
              <a:t>Analysis</a:t>
            </a:r>
            <a:endParaRPr lang="en-GB"/>
          </a:p>
          <a:p>
            <a:r>
              <a:rPr lang="en-GB">
                <a:solidFill>
                  <a:srgbClr val="000D25"/>
                </a:solidFill>
                <a:ea typeface="+mn-lt"/>
                <a:cs typeface="+mn-lt"/>
              </a:rPr>
              <a:t>Deployment</a:t>
            </a:r>
            <a:endParaRPr lang="en-GB"/>
          </a:p>
          <a:p>
            <a:r>
              <a:rPr lang="en-GB">
                <a:solidFill>
                  <a:srgbClr val="000D25"/>
                </a:solidFill>
                <a:ea typeface="+mn-lt"/>
                <a:cs typeface="+mn-lt"/>
              </a:rPr>
              <a:t>Archiving</a:t>
            </a:r>
            <a:r>
              <a:rPr lang="en-GB" sz="1200">
                <a:solidFill>
                  <a:srgbClr val="000D25"/>
                </a:solidFill>
                <a:ea typeface="+mn-lt"/>
                <a:cs typeface="+mn-lt"/>
              </a:rPr>
              <a:t>.</a:t>
            </a:r>
            <a:endParaRPr lang="en-GB"/>
          </a:p>
          <a:p>
            <a:pPr>
              <a:buClr>
                <a:srgbClr val="1287C3"/>
              </a:buClr>
            </a:pPr>
            <a:endParaRPr lang="en-GB" dirty="0"/>
          </a:p>
        </p:txBody>
      </p:sp>
    </p:spTree>
    <p:extLst>
      <p:ext uri="{BB962C8B-B14F-4D97-AF65-F5344CB8AC3E}">
        <p14:creationId xmlns:p14="http://schemas.microsoft.com/office/powerpoint/2010/main" val="35040849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CA4B-01DB-9B57-7FBF-C66B4E623432}"/>
              </a:ext>
            </a:extLst>
          </p:cNvPr>
          <p:cNvSpPr>
            <a:spLocks noGrp="1"/>
          </p:cNvSpPr>
          <p:nvPr>
            <p:ph type="title"/>
          </p:nvPr>
        </p:nvSpPr>
        <p:spPr>
          <a:xfrm>
            <a:off x="2778273" y="685800"/>
            <a:ext cx="8724751" cy="1752599"/>
          </a:xfrm>
        </p:spPr>
        <p:txBody>
          <a:bodyPr/>
          <a:lstStyle/>
          <a:p>
            <a:pPr marL="285750" indent="-285750" algn="l">
              <a:spcBef>
                <a:spcPct val="20000"/>
              </a:spcBef>
              <a:spcAft>
                <a:spcPts val="600"/>
              </a:spcAft>
            </a:pPr>
            <a:r>
              <a:rPr lang="en-GB"/>
              <a:t>E.</a:t>
            </a:r>
            <a:r>
              <a:rPr lang="en-GB" dirty="0">
                <a:ea typeface="+mj-lt"/>
                <a:cs typeface="+mj-lt"/>
              </a:rPr>
              <a:t>  </a:t>
            </a:r>
            <a:r>
              <a:rPr lang="en-GB" b="1" dirty="0">
                <a:ea typeface="+mj-lt"/>
                <a:cs typeface="+mj-lt"/>
              </a:rPr>
              <a:t>Data Integrity and Data Quality</a:t>
            </a:r>
            <a:endParaRPr lang="en-GB" dirty="0">
              <a:ea typeface="+mj-lt"/>
              <a:cs typeface="+mj-lt"/>
            </a:endParaRPr>
          </a:p>
          <a:p>
            <a:endParaRPr lang="en-GB" b="1" dirty="0">
              <a:ea typeface="+mj-lt"/>
              <a:cs typeface="+mj-lt"/>
            </a:endParaRPr>
          </a:p>
        </p:txBody>
      </p:sp>
      <p:sp>
        <p:nvSpPr>
          <p:cNvPr id="3" name="Content Placeholder 2">
            <a:extLst>
              <a:ext uri="{FF2B5EF4-FFF2-40B4-BE49-F238E27FC236}">
                <a16:creationId xmlns:a16="http://schemas.microsoft.com/office/drawing/2014/main" id="{B5A7CAE6-77FD-3D84-575B-68D131E79BB6}"/>
              </a:ext>
            </a:extLst>
          </p:cNvPr>
          <p:cNvSpPr>
            <a:spLocks noGrp="1"/>
          </p:cNvSpPr>
          <p:nvPr>
            <p:ph idx="1"/>
          </p:nvPr>
        </p:nvSpPr>
        <p:spPr>
          <a:xfrm>
            <a:off x="1484310" y="2666999"/>
            <a:ext cx="10018713" cy="4389408"/>
          </a:xfrm>
        </p:spPr>
        <p:txBody>
          <a:bodyPr>
            <a:normAutofit fontScale="92500" lnSpcReduction="20000"/>
          </a:bodyPr>
          <a:lstStyle/>
          <a:p>
            <a:r>
              <a:rPr lang="en-GB" b="1">
                <a:ea typeface="+mn-lt"/>
                <a:cs typeface="+mn-lt"/>
              </a:rPr>
              <a:t>Data Integrity</a:t>
            </a:r>
            <a:endParaRPr lang="en-GB">
              <a:ea typeface="+mn-lt"/>
              <a:cs typeface="+mn-lt"/>
            </a:endParaRPr>
          </a:p>
          <a:p>
            <a:pPr>
              <a:buClr>
                <a:srgbClr val="1287C3"/>
              </a:buClr>
            </a:pPr>
            <a:r>
              <a:rPr lang="en-GB">
                <a:ea typeface="+mn-lt"/>
                <a:cs typeface="+mn-lt"/>
              </a:rPr>
              <a:t>Data integrity focuses on the overall trustworthiness, security, and structural soundness of information. It ensures that data has not been tampered with and is consistent across all systems</a:t>
            </a:r>
          </a:p>
          <a:p>
            <a:pPr>
              <a:buClr>
                <a:srgbClr val="1287C3"/>
              </a:buClr>
            </a:pPr>
            <a:r>
              <a:rPr lang="en-GB" b="1">
                <a:ea typeface="+mn-lt"/>
                <a:cs typeface="+mn-lt"/>
              </a:rPr>
              <a:t>Data Quality</a:t>
            </a:r>
            <a:endParaRPr lang="en-GB" dirty="0"/>
          </a:p>
          <a:p>
            <a:pPr>
              <a:buClr>
                <a:srgbClr val="1287C3"/>
              </a:buClr>
            </a:pPr>
            <a:r>
              <a:rPr lang="en-GB">
                <a:ea typeface="+mn-lt"/>
                <a:cs typeface="+mn-lt"/>
              </a:rPr>
              <a:t>Data quality focuses on the actual content of the dataset and whether it is useful and applicable for end-users. Even if a dataset is perfectly secure, it is useless if it lacks vital details or is formatted incorrectly. [</a:t>
            </a:r>
            <a:r>
              <a:rPr lang="en-GB" dirty="0">
                <a:ea typeface="+mn-lt"/>
                <a:cs typeface="+mn-lt"/>
                <a:hlinkClick r:id="rId2"/>
              </a:rPr>
              <a:t>1</a:t>
            </a:r>
            <a:r>
              <a:rPr lang="en-GB">
                <a:ea typeface="+mn-lt"/>
                <a:cs typeface="+mn-lt"/>
              </a:rPr>
              <a:t>, </a:t>
            </a:r>
            <a:r>
              <a:rPr lang="en-GB" dirty="0">
                <a:ea typeface="+mn-lt"/>
                <a:cs typeface="+mn-lt"/>
                <a:hlinkClick r:id="rId3"/>
              </a:rPr>
              <a:t>2</a:t>
            </a:r>
            <a:r>
              <a:rPr lang="en-GB">
                <a:ea typeface="+mn-lt"/>
                <a:cs typeface="+mn-lt"/>
              </a:rPr>
              <a:t>, </a:t>
            </a:r>
            <a:r>
              <a:rPr lang="en-GB" dirty="0">
                <a:ea typeface="+mn-lt"/>
                <a:cs typeface="+mn-lt"/>
                <a:hlinkClick r:id="rId4"/>
              </a:rPr>
              <a:t>3</a:t>
            </a:r>
            <a:r>
              <a:rPr lang="en-GB">
                <a:ea typeface="+mn-lt"/>
                <a:cs typeface="+mn-lt"/>
              </a:rPr>
              <a:t>, </a:t>
            </a:r>
            <a:r>
              <a:rPr lang="en-GB" dirty="0">
                <a:ea typeface="+mn-lt"/>
                <a:cs typeface="+mn-lt"/>
                <a:hlinkClick r:id="rId5"/>
              </a:rPr>
              <a:t>4</a:t>
            </a:r>
            <a:r>
              <a:rPr lang="en-GB">
                <a:ea typeface="+mn-lt"/>
                <a:cs typeface="+mn-lt"/>
              </a:rPr>
              <a:t>]</a:t>
            </a:r>
            <a:endParaRPr lang="en-GB"/>
          </a:p>
          <a:p>
            <a:pPr>
              <a:buClr>
                <a:srgbClr val="1287C3"/>
              </a:buClr>
            </a:pPr>
            <a:r>
              <a:rPr lang="en-GB" b="1">
                <a:ea typeface="+mn-lt"/>
                <a:cs typeface="+mn-lt"/>
              </a:rPr>
              <a:t>Core Goal:</a:t>
            </a:r>
            <a:r>
              <a:rPr lang="en-GB">
                <a:ea typeface="+mn-lt"/>
                <a:cs typeface="+mn-lt"/>
              </a:rPr>
              <a:t> Ensure data is fit for use in analytics, reporting, and daily operations.</a:t>
            </a:r>
            <a:endParaRPr lang="en-GB"/>
          </a:p>
          <a:p>
            <a:pPr>
              <a:buClr>
                <a:srgbClr val="1287C3"/>
              </a:buClr>
            </a:pPr>
            <a:r>
              <a:rPr lang="en-GB" b="1">
                <a:ea typeface="+mn-lt"/>
                <a:cs typeface="+mn-lt"/>
              </a:rPr>
              <a:t>Key Attributes:</a:t>
            </a:r>
            <a:r>
              <a:rPr lang="en-GB">
                <a:ea typeface="+mn-lt"/>
                <a:cs typeface="+mn-lt"/>
              </a:rPr>
              <a:t> Accuracy, completeness, timeliness, validity, and relevance.</a:t>
            </a:r>
            <a:endParaRPr lang="en-GB"/>
          </a:p>
          <a:p>
            <a:pPr>
              <a:buClr>
                <a:srgbClr val="1287C3"/>
              </a:buClr>
            </a:pPr>
            <a:r>
              <a:rPr lang="en-GB" b="1" dirty="0">
                <a:ea typeface="+mn-lt"/>
                <a:cs typeface="+mn-lt"/>
              </a:rPr>
              <a:t>How It's Maintained:</a:t>
            </a:r>
            <a:r>
              <a:rPr lang="en-GB" dirty="0">
                <a:ea typeface="+mn-lt"/>
                <a:cs typeface="+mn-lt"/>
              </a:rPr>
              <a:t> Through data cleansing, standardization, profiling, and validation processes</a:t>
            </a:r>
            <a:endParaRPr lang="en-GB" dirty="0"/>
          </a:p>
          <a:p>
            <a:pPr>
              <a:buClr>
                <a:srgbClr val="1287C3"/>
              </a:buClr>
            </a:pPr>
            <a:endParaRPr lang="en-GB" dirty="0"/>
          </a:p>
        </p:txBody>
      </p:sp>
    </p:spTree>
    <p:extLst>
      <p:ext uri="{BB962C8B-B14F-4D97-AF65-F5344CB8AC3E}">
        <p14:creationId xmlns:p14="http://schemas.microsoft.com/office/powerpoint/2010/main" val="29375371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02F3B-F619-5780-4E96-DB3DB19D7F3F}"/>
              </a:ext>
            </a:extLst>
          </p:cNvPr>
          <p:cNvSpPr>
            <a:spLocks noGrp="1"/>
          </p:cNvSpPr>
          <p:nvPr>
            <p:ph type="title"/>
          </p:nvPr>
        </p:nvSpPr>
        <p:spPr/>
        <p:txBody>
          <a:bodyPr/>
          <a:lstStyle/>
          <a:p>
            <a:r>
              <a:rPr lang="en-GB" b="1">
                <a:solidFill>
                  <a:srgbClr val="002060"/>
                </a:solidFill>
              </a:rPr>
              <a:t>3.Introduction to Business Analyst Role</a:t>
            </a:r>
            <a:endParaRPr lang="en-US" b="1">
              <a:solidFill>
                <a:srgbClr val="002060"/>
              </a:solidFill>
            </a:endParaRPr>
          </a:p>
          <a:p>
            <a:endParaRPr lang="en-GB" dirty="0"/>
          </a:p>
        </p:txBody>
      </p:sp>
      <p:sp>
        <p:nvSpPr>
          <p:cNvPr id="3" name="Content Placeholder 2">
            <a:extLst>
              <a:ext uri="{FF2B5EF4-FFF2-40B4-BE49-F238E27FC236}">
                <a16:creationId xmlns:a16="http://schemas.microsoft.com/office/drawing/2014/main" id="{B8BF2A75-7AAE-F698-070D-A5625F732F0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158381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938F-9C41-174E-9E15-F6811986BA43}"/>
              </a:ext>
            </a:extLst>
          </p:cNvPr>
          <p:cNvSpPr>
            <a:spLocks noGrp="1"/>
          </p:cNvSpPr>
          <p:nvPr>
            <p:ph type="title"/>
          </p:nvPr>
        </p:nvSpPr>
        <p:spPr/>
        <p:txBody>
          <a:bodyPr/>
          <a:lstStyle/>
          <a:p>
            <a:pPr marL="742950" indent="-742950">
              <a:buAutoNum type="alphaUcPeriod"/>
            </a:pPr>
            <a:r>
              <a:rPr lang="en-GB">
                <a:ea typeface="+mj-lt"/>
                <a:cs typeface="+mj-lt"/>
              </a:rPr>
              <a:t>definition and responsibilities of data analyst</a:t>
            </a:r>
            <a:endParaRPr lang="en-US"/>
          </a:p>
        </p:txBody>
      </p:sp>
      <p:sp>
        <p:nvSpPr>
          <p:cNvPr id="3" name="Content Placeholder 2">
            <a:extLst>
              <a:ext uri="{FF2B5EF4-FFF2-40B4-BE49-F238E27FC236}">
                <a16:creationId xmlns:a16="http://schemas.microsoft.com/office/drawing/2014/main" id="{787A3F13-5E1C-0703-B68E-110311CBCE59}"/>
              </a:ext>
            </a:extLst>
          </p:cNvPr>
          <p:cNvSpPr>
            <a:spLocks noGrp="1"/>
          </p:cNvSpPr>
          <p:nvPr>
            <p:ph idx="1"/>
          </p:nvPr>
        </p:nvSpPr>
        <p:spPr/>
        <p:txBody>
          <a:bodyPr/>
          <a:lstStyle/>
          <a:p>
            <a:r>
              <a:rPr lang="en-GB" b="1"/>
              <a:t>What Do Business Analysts Do?</a:t>
            </a:r>
            <a:endParaRPr lang="en-GB"/>
          </a:p>
          <a:p>
            <a:pPr marL="0" indent="0">
              <a:buClr>
                <a:srgbClr val="1287C3"/>
              </a:buClr>
              <a:buNone/>
            </a:pPr>
            <a:r>
              <a:rPr lang="en-GB" dirty="0">
                <a:ea typeface="+mn-lt"/>
                <a:cs typeface="+mn-lt"/>
              </a:rPr>
              <a:t>A business analyst (BA) acts as a bridge between business stakeholders and technology teams, using data-driven insights to solve organizational problems and improve processes. They identify, document, and </a:t>
            </a:r>
            <a:r>
              <a:rPr lang="en-GB" dirty="0" err="1">
                <a:ea typeface="+mn-lt"/>
                <a:cs typeface="+mn-lt"/>
              </a:rPr>
              <a:t>analyze</a:t>
            </a:r>
            <a:r>
              <a:rPr lang="en-GB" dirty="0">
                <a:ea typeface="+mn-lt"/>
                <a:cs typeface="+mn-lt"/>
              </a:rPr>
              <a:t> business requirements to implement efficient, cost-effective solutions.</a:t>
            </a:r>
            <a:endParaRPr lang="en-GB" b="1" dirty="0">
              <a:ea typeface="+mn-lt"/>
              <a:cs typeface="+mn-lt"/>
            </a:endParaRPr>
          </a:p>
          <a:p>
            <a:pPr marL="0" indent="0">
              <a:buClr>
                <a:srgbClr val="1287C3"/>
              </a:buClr>
              <a:buNone/>
            </a:pPr>
            <a:endParaRPr lang="en-GB" dirty="0"/>
          </a:p>
        </p:txBody>
      </p:sp>
    </p:spTree>
    <p:extLst>
      <p:ext uri="{BB962C8B-B14F-4D97-AF65-F5344CB8AC3E}">
        <p14:creationId xmlns:p14="http://schemas.microsoft.com/office/powerpoint/2010/main" val="41943362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2CB0-EAA0-BCFB-7845-4FCC4628AAE2}"/>
              </a:ext>
            </a:extLst>
          </p:cNvPr>
          <p:cNvSpPr>
            <a:spLocks noGrp="1"/>
          </p:cNvSpPr>
          <p:nvPr>
            <p:ph type="title"/>
          </p:nvPr>
        </p:nvSpPr>
        <p:spPr/>
        <p:txBody>
          <a:bodyPr/>
          <a:lstStyle/>
          <a:p>
            <a:pPr marL="285750" indent="-285750" algn="l">
              <a:spcBef>
                <a:spcPct val="20000"/>
              </a:spcBef>
              <a:spcAft>
                <a:spcPts val="600"/>
              </a:spcAft>
            </a:pPr>
            <a:r>
              <a:rPr lang="en-GB" b="1">
                <a:ea typeface="+mj-lt"/>
                <a:cs typeface="+mj-lt"/>
              </a:rPr>
              <a:t>Key Responsibilities of a Business Analyst:</a:t>
            </a:r>
            <a:endParaRPr lang="en-GB">
              <a:ea typeface="+mj-lt"/>
              <a:cs typeface="+mj-lt"/>
            </a:endParaRPr>
          </a:p>
          <a:p>
            <a:endParaRPr lang="en-GB" dirty="0"/>
          </a:p>
        </p:txBody>
      </p:sp>
      <p:sp>
        <p:nvSpPr>
          <p:cNvPr id="3" name="Content Placeholder 2">
            <a:extLst>
              <a:ext uri="{FF2B5EF4-FFF2-40B4-BE49-F238E27FC236}">
                <a16:creationId xmlns:a16="http://schemas.microsoft.com/office/drawing/2014/main" id="{78DCD3CF-EC82-2370-6425-9577579BB605}"/>
              </a:ext>
            </a:extLst>
          </p:cNvPr>
          <p:cNvSpPr>
            <a:spLocks noGrp="1"/>
          </p:cNvSpPr>
          <p:nvPr>
            <p:ph idx="1"/>
          </p:nvPr>
        </p:nvSpPr>
        <p:spPr>
          <a:xfrm>
            <a:off x="1484310" y="2666999"/>
            <a:ext cx="10018713" cy="4446917"/>
          </a:xfrm>
        </p:spPr>
        <p:txBody>
          <a:bodyPr>
            <a:normAutofit fontScale="92500" lnSpcReduction="20000"/>
          </a:bodyPr>
          <a:lstStyle/>
          <a:p>
            <a:pPr>
              <a:buClr>
                <a:srgbClr val="1287C3"/>
              </a:buClr>
            </a:pPr>
            <a:r>
              <a:rPr lang="en-GB" b="1" dirty="0">
                <a:ea typeface="+mn-lt"/>
                <a:cs typeface="+mn-lt"/>
              </a:rPr>
              <a:t>Gathering &amp; </a:t>
            </a:r>
            <a:r>
              <a:rPr lang="en-GB" b="1" dirty="0" err="1">
                <a:ea typeface="+mn-lt"/>
                <a:cs typeface="+mn-lt"/>
              </a:rPr>
              <a:t>Analyzing</a:t>
            </a:r>
            <a:r>
              <a:rPr lang="en-GB" b="1" dirty="0">
                <a:ea typeface="+mn-lt"/>
                <a:cs typeface="+mn-lt"/>
              </a:rPr>
              <a:t> Requirements:</a:t>
            </a:r>
            <a:r>
              <a:rPr lang="en-GB" dirty="0">
                <a:ea typeface="+mn-lt"/>
                <a:cs typeface="+mn-lt"/>
              </a:rPr>
              <a:t> Working with stakeholders to understand needs and translating them into technical specifications.</a:t>
            </a:r>
            <a:endParaRPr lang="en-GB" dirty="0"/>
          </a:p>
          <a:p>
            <a:pPr>
              <a:buClr>
                <a:srgbClr val="1287C3"/>
              </a:buClr>
            </a:pPr>
            <a:r>
              <a:rPr lang="en-GB" b="1" dirty="0">
                <a:ea typeface="+mn-lt"/>
                <a:cs typeface="+mn-lt"/>
              </a:rPr>
              <a:t>Process Improvement:</a:t>
            </a:r>
            <a:r>
              <a:rPr lang="en-GB" dirty="0">
                <a:ea typeface="+mn-lt"/>
                <a:cs typeface="+mn-lt"/>
              </a:rPr>
              <a:t> Mapping current workflows to identify inefficiencies, bottlenecks, and opportunities for improvement.</a:t>
            </a:r>
            <a:endParaRPr lang="en-GB" dirty="0"/>
          </a:p>
          <a:p>
            <a:pPr>
              <a:buClr>
                <a:srgbClr val="1287C3"/>
              </a:buClr>
            </a:pPr>
            <a:r>
              <a:rPr lang="en-GB" b="1" dirty="0">
                <a:ea typeface="+mn-lt"/>
                <a:cs typeface="+mn-lt"/>
              </a:rPr>
              <a:t>Data-Driven Decision Making:</a:t>
            </a:r>
            <a:r>
              <a:rPr lang="en-GB" dirty="0">
                <a:ea typeface="+mn-lt"/>
                <a:cs typeface="+mn-lt"/>
              </a:rPr>
              <a:t> Using tools like SQL, Excel, or Tableau to </a:t>
            </a:r>
            <a:r>
              <a:rPr lang="en-GB" dirty="0" err="1">
                <a:ea typeface="+mn-lt"/>
                <a:cs typeface="+mn-lt"/>
              </a:rPr>
              <a:t>analyze</a:t>
            </a:r>
            <a:r>
              <a:rPr lang="en-GB" dirty="0">
                <a:ea typeface="+mn-lt"/>
                <a:cs typeface="+mn-lt"/>
              </a:rPr>
              <a:t> data, identify trends, and provide recommendations to management.</a:t>
            </a:r>
            <a:endParaRPr lang="en-GB" dirty="0"/>
          </a:p>
          <a:p>
            <a:pPr>
              <a:buClr>
                <a:srgbClr val="1287C3"/>
              </a:buClr>
            </a:pPr>
            <a:r>
              <a:rPr lang="en-GB" b="1">
                <a:ea typeface="+mn-lt"/>
                <a:cs typeface="+mn-lt"/>
              </a:rPr>
              <a:t>Stakeholder Management:</a:t>
            </a:r>
            <a:r>
              <a:rPr lang="en-GB">
                <a:ea typeface="+mn-lt"/>
                <a:cs typeface="+mn-lt"/>
              </a:rPr>
              <a:t> Acting as a liaison between business units and IT teams to ensure everyone is aligned on project goals.</a:t>
            </a:r>
            <a:endParaRPr lang="en-GB"/>
          </a:p>
          <a:p>
            <a:pPr>
              <a:buClr>
                <a:srgbClr val="1287C3"/>
              </a:buClr>
            </a:pPr>
            <a:r>
              <a:rPr lang="en-GB" b="1">
                <a:ea typeface="+mn-lt"/>
                <a:cs typeface="+mn-lt"/>
              </a:rPr>
              <a:t>Documentation &amp; Reporting:</a:t>
            </a:r>
            <a:r>
              <a:rPr lang="en-GB">
                <a:ea typeface="+mn-lt"/>
                <a:cs typeface="+mn-lt"/>
              </a:rPr>
              <a:t> Creating comprehensive reports, business cases, and requirement documentation.</a:t>
            </a:r>
            <a:endParaRPr lang="en-GB"/>
          </a:p>
          <a:p>
            <a:pPr>
              <a:buClr>
                <a:srgbClr val="1287C3"/>
              </a:buClr>
            </a:pPr>
            <a:r>
              <a:rPr lang="en-GB" b="1">
                <a:ea typeface="+mn-lt"/>
                <a:cs typeface="+mn-lt"/>
              </a:rPr>
              <a:t>Solution Testing &amp; Implementation:</a:t>
            </a:r>
            <a:r>
              <a:rPr lang="en-GB">
                <a:ea typeface="+mn-lt"/>
                <a:cs typeface="+mn-lt"/>
              </a:rPr>
              <a:t> Supporting User Acceptance Testing (UAT) to ensure the final product meets the defined requirements</a:t>
            </a:r>
            <a:endParaRPr lang="en-GB"/>
          </a:p>
          <a:p>
            <a:pPr>
              <a:buClr>
                <a:srgbClr val="1287C3"/>
              </a:buClr>
            </a:pPr>
            <a:endParaRPr lang="en-GB" dirty="0"/>
          </a:p>
        </p:txBody>
      </p:sp>
    </p:spTree>
    <p:extLst>
      <p:ext uri="{BB962C8B-B14F-4D97-AF65-F5344CB8AC3E}">
        <p14:creationId xmlns:p14="http://schemas.microsoft.com/office/powerpoint/2010/main" val="27216740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81D3-30F6-0C50-A566-ED0FC5C98704}"/>
              </a:ext>
            </a:extLst>
          </p:cNvPr>
          <p:cNvSpPr>
            <a:spLocks noGrp="1"/>
          </p:cNvSpPr>
          <p:nvPr>
            <p:ph type="title"/>
          </p:nvPr>
        </p:nvSpPr>
        <p:spPr>
          <a:xfrm>
            <a:off x="1484311" y="714555"/>
            <a:ext cx="10018713" cy="1177505"/>
          </a:xfrm>
        </p:spPr>
        <p:txBody>
          <a:bodyPr>
            <a:normAutofit fontScale="90000"/>
          </a:bodyPr>
          <a:lstStyle/>
          <a:p>
            <a:r>
              <a:rPr lang="en-GB"/>
              <a:t>B.  </a:t>
            </a:r>
            <a:r>
              <a:rPr lang="en-GB">
                <a:ea typeface="+mj-lt"/>
                <a:cs typeface="+mj-lt"/>
              </a:rPr>
              <a:t>Skills of a Business Analyst</a:t>
            </a:r>
            <a:br>
              <a:rPr lang="en-GB" dirty="0">
                <a:ea typeface="+mj-lt"/>
                <a:cs typeface="+mj-lt"/>
              </a:rPr>
            </a:br>
            <a:r>
              <a:rPr lang="en-GB" sz="2000" b="1"/>
              <a:t>Differences between Business Analysis and Business Analytics</a:t>
            </a:r>
            <a:endParaRPr lang="en-GB" sz="2000"/>
          </a:p>
          <a:p>
            <a:br>
              <a:rPr lang="en-US" dirty="0"/>
            </a:br>
            <a:endParaRPr lang="en-US" dirty="0"/>
          </a:p>
        </p:txBody>
      </p:sp>
      <p:graphicFrame>
        <p:nvGraphicFramePr>
          <p:cNvPr id="5" name="Content Placeholder 4">
            <a:extLst>
              <a:ext uri="{FF2B5EF4-FFF2-40B4-BE49-F238E27FC236}">
                <a16:creationId xmlns:a16="http://schemas.microsoft.com/office/drawing/2014/main" id="{6886EE1C-8EC0-3D41-6943-BB73A5A3A873}"/>
              </a:ext>
            </a:extLst>
          </p:cNvPr>
          <p:cNvGraphicFramePr>
            <a:graphicFrameLocks noGrp="1"/>
          </p:cNvGraphicFramePr>
          <p:nvPr>
            <p:ph idx="1"/>
            <p:extLst>
              <p:ext uri="{D42A27DB-BD31-4B8C-83A1-F6EECF244321}">
                <p14:modId xmlns:p14="http://schemas.microsoft.com/office/powerpoint/2010/main" val="3638187866"/>
              </p:ext>
            </p:extLst>
          </p:nvPr>
        </p:nvGraphicFramePr>
        <p:xfrm>
          <a:off x="1484313" y="1890664"/>
          <a:ext cx="10018712" cy="4983480"/>
        </p:xfrm>
        <a:graphic>
          <a:graphicData uri="http://schemas.openxmlformats.org/drawingml/2006/table">
            <a:tbl>
              <a:tblPr bandRow="1">
                <a:tableStyleId>{5C22544A-7EE6-4342-B048-85BDC9FD1C3A}</a:tableStyleId>
              </a:tblPr>
              <a:tblGrid>
                <a:gridCol w="5009356">
                  <a:extLst>
                    <a:ext uri="{9D8B030D-6E8A-4147-A177-3AD203B41FA5}">
                      <a16:colId xmlns:a16="http://schemas.microsoft.com/office/drawing/2014/main" val="1872717749"/>
                    </a:ext>
                  </a:extLst>
                </a:gridCol>
                <a:gridCol w="5009356">
                  <a:extLst>
                    <a:ext uri="{9D8B030D-6E8A-4147-A177-3AD203B41FA5}">
                      <a16:colId xmlns:a16="http://schemas.microsoft.com/office/drawing/2014/main" val="3723192765"/>
                    </a:ext>
                  </a:extLst>
                </a:gridCol>
              </a:tblGrid>
              <a:tr h="304800">
                <a:tc>
                  <a:txBody>
                    <a:bodyPr/>
                    <a:lstStyle/>
                    <a:p>
                      <a:pPr algn="ctr" rtl="0">
                        <a:buNone/>
                      </a:pPr>
                      <a:r>
                        <a:rPr lang="en-GB" b="1" i="0">
                          <a:solidFill>
                            <a:srgbClr val="000000"/>
                          </a:solidFill>
                          <a:effectLst/>
                          <a:latin typeface="Calibri" panose="020F0502020204030204" pitchFamily="34" charset="0"/>
                        </a:rPr>
                        <a:t>Business Analysis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a:buNone/>
                      </a:pPr>
                      <a:r>
                        <a:rPr lang="en-GB" b="1" i="0">
                          <a:solidFill>
                            <a:srgbClr val="000000"/>
                          </a:solidFill>
                          <a:effectLst/>
                          <a:latin typeface="Calibri" panose="020F0502020204030204" pitchFamily="34" charset="0"/>
                        </a:rPr>
                        <a:t>Business Analytics </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731454"/>
                  </a:ext>
                </a:extLst>
              </a:tr>
              <a:tr h="657225">
                <a:tc>
                  <a:txBody>
                    <a:bodyPr/>
                    <a:lstStyle/>
                    <a:p>
                      <a:pPr algn="just" rtl="0">
                        <a:buNone/>
                      </a:pPr>
                      <a:r>
                        <a:rPr lang="en-GB" b="0" i="0">
                          <a:solidFill>
                            <a:srgbClr val="000000"/>
                          </a:solidFill>
                          <a:effectLst/>
                          <a:latin typeface="Calibri" panose="020F0502020204030204" pitchFamily="34" charset="0"/>
                        </a:rPr>
                        <a:t>The primary focus is on processes, functions, and techniques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a:buNone/>
                      </a:pPr>
                      <a:r>
                        <a:rPr lang="en-GB" b="0" i="0">
                          <a:solidFill>
                            <a:srgbClr val="000000"/>
                          </a:solidFill>
                          <a:effectLst/>
                          <a:latin typeface="Calibri" panose="020F0502020204030204" pitchFamily="34" charset="0"/>
                        </a:rPr>
                        <a:t>The primary focus is on statistical and data-based analysis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5224233"/>
                  </a:ext>
                </a:extLst>
              </a:tr>
              <a:tr h="666750">
                <a:tc>
                  <a:txBody>
                    <a:bodyPr/>
                    <a:lstStyle/>
                    <a:p>
                      <a:pPr algn="just" rtl="0">
                        <a:buNone/>
                      </a:pPr>
                      <a:r>
                        <a:rPr lang="en-GB" b="0" i="0">
                          <a:solidFill>
                            <a:srgbClr val="000000"/>
                          </a:solidFill>
                          <a:effectLst/>
                          <a:latin typeface="Calibri" panose="020F0502020204030204" pitchFamily="34" charset="0"/>
                        </a:rPr>
                        <a:t>It is used to provide efficient solutions by solving difficult business problems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a:buNone/>
                      </a:pPr>
                      <a:r>
                        <a:rPr lang="en-GB" b="0" i="0">
                          <a:solidFill>
                            <a:srgbClr val="000000"/>
                          </a:solidFill>
                          <a:effectLst/>
                          <a:latin typeface="Calibri" panose="020F0502020204030204" pitchFamily="34" charset="0"/>
                        </a:rPr>
                        <a:t>It is used to drive future business decisions and predict future condition</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3796606"/>
                  </a:ext>
                </a:extLst>
              </a:tr>
              <a:tr h="685800">
                <a:tc>
                  <a:txBody>
                    <a:bodyPr/>
                    <a:lstStyle/>
                    <a:p>
                      <a:pPr algn="just" rtl="0">
                        <a:buNone/>
                      </a:pPr>
                      <a:r>
                        <a:rPr lang="en-GB" b="0" i="0">
                          <a:solidFill>
                            <a:srgbClr val="000000"/>
                          </a:solidFill>
                          <a:effectLst/>
                          <a:latin typeface="Calibri" panose="020F0502020204030204" pitchFamily="34" charset="0"/>
                        </a:rPr>
                        <a:t>You need functional, domain, and business knowledge to analyze the requirements of businesses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a:buNone/>
                      </a:pPr>
                      <a:r>
                        <a:rPr lang="en-GB" b="0" i="0">
                          <a:solidFill>
                            <a:srgbClr val="000000"/>
                          </a:solidFill>
                          <a:effectLst/>
                          <a:latin typeface="Calibri" panose="020F0502020204030204" pitchFamily="34" charset="0"/>
                        </a:rPr>
                        <a:t>You require statistical, programming, and mathematical expertise to carry out business analytics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0296709"/>
                  </a:ext>
                </a:extLst>
              </a:tr>
              <a:tr h="714375">
                <a:tc>
                  <a:txBody>
                    <a:bodyPr/>
                    <a:lstStyle/>
                    <a:p>
                      <a:pPr algn="just" rtl="0">
                        <a:buNone/>
                      </a:pPr>
                      <a:r>
                        <a:rPr lang="en-GB" b="0" i="0">
                          <a:solidFill>
                            <a:srgbClr val="000000"/>
                          </a:solidFill>
                          <a:effectLst/>
                          <a:latin typeface="Calibri" panose="020F0502020204030204" pitchFamily="34" charset="0"/>
                        </a:rPr>
                        <a:t>It helps you improve performance by standardizing different processes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a:buNone/>
                      </a:pPr>
                      <a:r>
                        <a:rPr lang="en-GB" b="0" i="0">
                          <a:solidFill>
                            <a:srgbClr val="000000"/>
                          </a:solidFill>
                          <a:effectLst/>
                          <a:latin typeface="Calibri" panose="020F0502020204030204" pitchFamily="34" charset="0"/>
                        </a:rPr>
                        <a:t>It comes up with data findings that can help optimize business performance</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4333299"/>
                  </a:ext>
                </a:extLst>
              </a:tr>
              <a:tr h="0">
                <a:tc>
                  <a:txBody>
                    <a:bodyPr/>
                    <a:lstStyle/>
                    <a:p>
                      <a:pPr algn="just" rtl="0">
                        <a:buNone/>
                      </a:pPr>
                      <a:r>
                        <a:rPr lang="en-GB" b="0" i="0">
                          <a:solidFill>
                            <a:srgbClr val="000000"/>
                          </a:solidFill>
                          <a:effectLst/>
                          <a:latin typeface="Calibri" panose="020F0502020204030204" pitchFamily="34" charset="0"/>
                        </a:rPr>
                        <a:t>It defines and standardizes business processes throughout the various business units in companies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a:buNone/>
                      </a:pPr>
                      <a:r>
                        <a:rPr lang="en-GB" b="0" i="0">
                          <a:solidFill>
                            <a:srgbClr val="000000"/>
                          </a:solidFill>
                          <a:effectLst/>
                          <a:latin typeface="Calibri" panose="020F0502020204030204" pitchFamily="34" charset="0"/>
                        </a:rPr>
                        <a:t>It focuses on creating the likes of dashboards to track the most important performance metrics by using statistical methods that can predict future sales based on earlier sales</a:t>
                      </a:r>
                      <a:endParaRPr lang="en-GB" b="0" i="0">
                        <a:solidFill>
                          <a:srgbClr val="686868"/>
                        </a:solidFill>
                        <a:effectLst/>
                        <a:latin typeface="__Raleway_504afd"/>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4971075"/>
                  </a:ext>
                </a:extLst>
              </a:tr>
            </a:tbl>
          </a:graphicData>
        </a:graphic>
      </p:graphicFrame>
    </p:spTree>
    <p:extLst>
      <p:ext uri="{BB962C8B-B14F-4D97-AF65-F5344CB8AC3E}">
        <p14:creationId xmlns:p14="http://schemas.microsoft.com/office/powerpoint/2010/main" val="7556129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2A0C-8C34-145B-D498-3405558572B7}"/>
              </a:ext>
            </a:extLst>
          </p:cNvPr>
          <p:cNvSpPr>
            <a:spLocks noGrp="1"/>
          </p:cNvSpPr>
          <p:nvPr>
            <p:ph type="title"/>
          </p:nvPr>
        </p:nvSpPr>
        <p:spPr/>
        <p:txBody>
          <a:bodyPr/>
          <a:lstStyle/>
          <a:p>
            <a:r>
              <a:rPr lang="en-GB">
                <a:ea typeface="+mj-lt"/>
                <a:cs typeface="+mj-lt"/>
              </a:rPr>
              <a:t>The Tools Used by Business Analysts</a:t>
            </a:r>
            <a:endParaRPr lang="en-US"/>
          </a:p>
        </p:txBody>
      </p:sp>
      <p:sp>
        <p:nvSpPr>
          <p:cNvPr id="3" name="Content Placeholder 2">
            <a:extLst>
              <a:ext uri="{FF2B5EF4-FFF2-40B4-BE49-F238E27FC236}">
                <a16:creationId xmlns:a16="http://schemas.microsoft.com/office/drawing/2014/main" id="{A62D216A-3D59-6111-27F9-9003308C9FFF}"/>
              </a:ext>
            </a:extLst>
          </p:cNvPr>
          <p:cNvSpPr>
            <a:spLocks noGrp="1"/>
          </p:cNvSpPr>
          <p:nvPr>
            <p:ph idx="1"/>
          </p:nvPr>
        </p:nvSpPr>
        <p:spPr>
          <a:xfrm>
            <a:off x="1484310" y="2666999"/>
            <a:ext cx="10018713" cy="4188125"/>
          </a:xfrm>
        </p:spPr>
        <p:txBody>
          <a:bodyPr>
            <a:normAutofit fontScale="92500"/>
          </a:bodyPr>
          <a:lstStyle/>
          <a:p>
            <a:r>
              <a:rPr lang="en-GB">
                <a:ea typeface="+mn-lt"/>
                <a:cs typeface="+mn-lt"/>
              </a:rPr>
              <a:t>To carry out all these responsibilities, business analysts rely on a variety of tools to manage their tasks efficiently. Some of the most common tools include:</a:t>
            </a:r>
          </a:p>
          <a:p>
            <a:pPr>
              <a:buClr>
                <a:srgbClr val="1287C3"/>
              </a:buClr>
            </a:pPr>
            <a:r>
              <a:rPr lang="en-GB">
                <a:ea typeface="+mn-lt"/>
                <a:cs typeface="+mn-lt"/>
              </a:rPr>
              <a:t>Requirements Management Tools: Tools like JIRA, Confluence, or Trello are used to document and track requirements, user stories, and tasks.</a:t>
            </a:r>
          </a:p>
          <a:p>
            <a:pPr>
              <a:buClr>
                <a:srgbClr val="1287C3"/>
              </a:buClr>
            </a:pPr>
            <a:r>
              <a:rPr lang="en-GB" dirty="0">
                <a:ea typeface="+mn-lt"/>
                <a:cs typeface="+mn-lt"/>
              </a:rPr>
              <a:t>Data Analysis Tools: Business analysts often use software like Microsoft Excel, Google Analytics, and Tableau to </a:t>
            </a:r>
            <a:r>
              <a:rPr lang="en-GB" dirty="0" err="1">
                <a:ea typeface="+mn-lt"/>
                <a:cs typeface="+mn-lt"/>
              </a:rPr>
              <a:t>analyze</a:t>
            </a:r>
            <a:r>
              <a:rPr lang="en-GB" dirty="0">
                <a:ea typeface="+mn-lt"/>
                <a:cs typeface="+mn-lt"/>
              </a:rPr>
              <a:t> data and create visual reports.</a:t>
            </a:r>
          </a:p>
          <a:p>
            <a:pPr>
              <a:buClr>
                <a:srgbClr val="1287C3"/>
              </a:buClr>
            </a:pPr>
            <a:r>
              <a:rPr lang="en-GB" dirty="0">
                <a:ea typeface="+mn-lt"/>
                <a:cs typeface="+mn-lt"/>
              </a:rPr>
              <a:t>Process Mapping Tools: Tools such as Microsoft Visio or </a:t>
            </a:r>
            <a:r>
              <a:rPr lang="en-GB" dirty="0" err="1">
                <a:ea typeface="+mn-lt"/>
                <a:cs typeface="+mn-lt"/>
              </a:rPr>
              <a:t>Lucidchart</a:t>
            </a:r>
            <a:r>
              <a:rPr lang="en-GB" dirty="0">
                <a:ea typeface="+mn-lt"/>
                <a:cs typeface="+mn-lt"/>
              </a:rPr>
              <a:t> help business analysts create diagrams to map processes and workflows.</a:t>
            </a:r>
          </a:p>
          <a:p>
            <a:pPr>
              <a:buClr>
                <a:srgbClr val="1287C3"/>
              </a:buClr>
            </a:pPr>
            <a:r>
              <a:rPr lang="en-GB" dirty="0">
                <a:ea typeface="+mn-lt"/>
                <a:cs typeface="+mn-lt"/>
              </a:rPr>
              <a:t>Collaboration Tools: Platforms like Slack, Zoom, and Microsoft Teams facilitate communication and collaboration with stakeholders and team members.</a:t>
            </a:r>
          </a:p>
          <a:p>
            <a:pPr>
              <a:buClr>
                <a:srgbClr val="1287C3"/>
              </a:buClr>
            </a:pPr>
            <a:endParaRPr lang="en-GB" dirty="0"/>
          </a:p>
        </p:txBody>
      </p:sp>
    </p:spTree>
    <p:extLst>
      <p:ext uri="{BB962C8B-B14F-4D97-AF65-F5344CB8AC3E}">
        <p14:creationId xmlns:p14="http://schemas.microsoft.com/office/powerpoint/2010/main" val="39627287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4C73-CC09-5779-23B3-DF9A141578F4}"/>
              </a:ext>
            </a:extLst>
          </p:cNvPr>
          <p:cNvSpPr>
            <a:spLocks noGrp="1"/>
          </p:cNvSpPr>
          <p:nvPr>
            <p:ph type="title"/>
          </p:nvPr>
        </p:nvSpPr>
        <p:spPr/>
        <p:txBody>
          <a:bodyPr/>
          <a:lstStyle/>
          <a:p>
            <a:r>
              <a:rPr lang="en-GB">
                <a:ea typeface="+mj-lt"/>
                <a:cs typeface="+mj-lt"/>
              </a:rPr>
              <a:t>C.  Business Analysis Methodologies</a:t>
            </a:r>
            <a:endParaRPr lang="en-US"/>
          </a:p>
        </p:txBody>
      </p:sp>
      <p:sp>
        <p:nvSpPr>
          <p:cNvPr id="3" name="Content Placeholder 2">
            <a:extLst>
              <a:ext uri="{FF2B5EF4-FFF2-40B4-BE49-F238E27FC236}">
                <a16:creationId xmlns:a16="http://schemas.microsoft.com/office/drawing/2014/main" id="{4E0FACB2-015D-FB3B-1BA5-F76F5C9FE67A}"/>
              </a:ext>
            </a:extLst>
          </p:cNvPr>
          <p:cNvSpPr>
            <a:spLocks noGrp="1"/>
          </p:cNvSpPr>
          <p:nvPr>
            <p:ph idx="1"/>
          </p:nvPr>
        </p:nvSpPr>
        <p:spPr/>
        <p:txBody>
          <a:bodyPr>
            <a:normAutofit/>
          </a:bodyPr>
          <a:lstStyle/>
          <a:p>
            <a:r>
              <a:rPr lang="en-GB" sz="2800" dirty="0">
                <a:ea typeface="+mn-lt"/>
                <a:cs typeface="+mn-lt"/>
              </a:rPr>
              <a:t>Business analysis techniques are research methodologies used to identify problems, define requirements, and develop solutions to improve business </a:t>
            </a:r>
            <a:r>
              <a:rPr lang="en-GB" sz="2800" dirty="0" err="1">
                <a:ea typeface="+mn-lt"/>
                <a:cs typeface="+mn-lt"/>
              </a:rPr>
              <a:t>performance.Business</a:t>
            </a:r>
            <a:r>
              <a:rPr lang="en-GB" sz="2800" dirty="0">
                <a:ea typeface="+mn-lt"/>
                <a:cs typeface="+mn-lt"/>
              </a:rPr>
              <a:t> analysis uses methodologies like Agile and </a:t>
            </a:r>
            <a:r>
              <a:rPr lang="en-GB" sz="2800" dirty="0" err="1">
                <a:ea typeface="+mn-lt"/>
                <a:cs typeface="+mn-lt"/>
              </a:rPr>
              <a:t>Water fall</a:t>
            </a:r>
            <a:r>
              <a:rPr lang="en-GB" sz="2800" dirty="0">
                <a:ea typeface="+mn-lt"/>
                <a:cs typeface="+mn-lt"/>
              </a:rPr>
              <a:t> .</a:t>
            </a:r>
          </a:p>
        </p:txBody>
      </p:sp>
    </p:spTree>
    <p:extLst>
      <p:ext uri="{BB962C8B-B14F-4D97-AF65-F5344CB8AC3E}">
        <p14:creationId xmlns:p14="http://schemas.microsoft.com/office/powerpoint/2010/main" val="1970942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DF1FE-7A58-2E0D-2B8B-BFA1BE56C8A9}"/>
              </a:ext>
            </a:extLst>
          </p:cNvPr>
          <p:cNvSpPr>
            <a:spLocks noGrp="1"/>
          </p:cNvSpPr>
          <p:nvPr>
            <p:ph type="title"/>
          </p:nvPr>
        </p:nvSpPr>
        <p:spPr/>
        <p:txBody>
          <a:bodyPr/>
          <a:lstStyle/>
          <a:p>
            <a:pPr algn="l"/>
            <a:r>
              <a:rPr lang="en-GB" dirty="0">
                <a:ea typeface="+mj-lt"/>
                <a:cs typeface="+mj-lt"/>
              </a:rPr>
              <a:t>                                       </a:t>
            </a:r>
            <a:r>
              <a:rPr lang="en-GB" dirty="0" err="1">
                <a:ea typeface="+mj-lt"/>
                <a:cs typeface="+mj-lt"/>
              </a:rPr>
              <a:t>Water fall</a:t>
            </a:r>
            <a:r>
              <a:rPr lang="en-GB" dirty="0">
                <a:ea typeface="+mj-lt"/>
                <a:cs typeface="+mj-lt"/>
              </a:rPr>
              <a:t> .</a:t>
            </a:r>
          </a:p>
          <a:p>
            <a:endParaRPr lang="en-GB" dirty="0"/>
          </a:p>
        </p:txBody>
      </p:sp>
      <p:sp>
        <p:nvSpPr>
          <p:cNvPr id="3" name="Content Placeholder 2">
            <a:extLst>
              <a:ext uri="{FF2B5EF4-FFF2-40B4-BE49-F238E27FC236}">
                <a16:creationId xmlns:a16="http://schemas.microsoft.com/office/drawing/2014/main" id="{8C0FB23B-60FC-31FD-2338-4AA542A76AA5}"/>
              </a:ext>
            </a:extLst>
          </p:cNvPr>
          <p:cNvSpPr>
            <a:spLocks noGrp="1"/>
          </p:cNvSpPr>
          <p:nvPr>
            <p:ph idx="1"/>
          </p:nvPr>
        </p:nvSpPr>
        <p:spPr>
          <a:xfrm>
            <a:off x="1484310" y="1890622"/>
            <a:ext cx="10018713" cy="4950125"/>
          </a:xfrm>
        </p:spPr>
        <p:txBody>
          <a:bodyPr>
            <a:normAutofit/>
          </a:bodyPr>
          <a:lstStyle/>
          <a:p>
            <a:r>
              <a:rPr lang="en-GB" dirty="0">
                <a:ea typeface="+mn-lt"/>
                <a:cs typeface="+mn-lt"/>
              </a:rPr>
              <a:t>The Waterfall Model is a traditional software development methodology that follows a linear, phase-by-phase approach, where each phase must be completed before moving to the next. It does not allow backtracking and permits only minimal changes once a phase is completed. The model is simple, well-structured, and easy to manage, offering high predictability and clearly defined milestones throughout the development process.</a:t>
            </a:r>
          </a:p>
          <a:p>
            <a:pPr>
              <a:buClr>
                <a:srgbClr val="1287C3"/>
              </a:buClr>
            </a:pPr>
            <a:r>
              <a:rPr lang="en-GB">
                <a:ea typeface="+mn-lt"/>
                <a:cs typeface="+mn-lt"/>
              </a:rPr>
              <a:t>Phases: Typically includes requirements gathering, design, implementation, verification, and maintenance.</a:t>
            </a:r>
            <a:endParaRPr lang="en-GB" dirty="0">
              <a:ea typeface="+mn-lt"/>
              <a:cs typeface="+mn-lt"/>
            </a:endParaRPr>
          </a:p>
        </p:txBody>
      </p:sp>
    </p:spTree>
    <p:extLst>
      <p:ext uri="{BB962C8B-B14F-4D97-AF65-F5344CB8AC3E}">
        <p14:creationId xmlns:p14="http://schemas.microsoft.com/office/powerpoint/2010/main" val="34353433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D7436-C850-E23F-1E72-BF1D763C83F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A62A21E-75DF-63FB-F3F3-346AF7E38066}"/>
              </a:ext>
            </a:extLst>
          </p:cNvPr>
          <p:cNvSpPr>
            <a:spLocks noGrp="1"/>
          </p:cNvSpPr>
          <p:nvPr>
            <p:ph idx="1"/>
          </p:nvPr>
        </p:nvSpPr>
        <p:spPr>
          <a:xfrm>
            <a:off x="1484310" y="2666999"/>
            <a:ext cx="10018713" cy="4173748"/>
          </a:xfrm>
        </p:spPr>
        <p:txBody>
          <a:bodyPr>
            <a:normAutofit fontScale="70000" lnSpcReduction="20000"/>
          </a:bodyPr>
          <a:lstStyle/>
          <a:p>
            <a:r>
              <a:rPr lang="en-GB" b="1"/>
              <a:t>Advantages</a:t>
            </a:r>
            <a:endParaRPr lang="en-GB"/>
          </a:p>
          <a:p>
            <a:pPr>
              <a:buClr>
                <a:srgbClr val="1287C3"/>
              </a:buClr>
            </a:pPr>
            <a:r>
              <a:rPr lang="en-GB" b="1">
                <a:ea typeface="+mn-lt"/>
                <a:cs typeface="+mn-lt"/>
              </a:rPr>
              <a:t>Easy to Understand:</a:t>
            </a:r>
            <a:br>
              <a:rPr lang="en-GB" b="1" dirty="0">
                <a:ea typeface="+mn-lt"/>
                <a:cs typeface="+mn-lt"/>
              </a:rPr>
            </a:br>
            <a:r>
              <a:rPr lang="en-GB" b="1">
                <a:ea typeface="+mn-lt"/>
                <a:cs typeface="+mn-lt"/>
              </a:rPr>
              <a:t>The model is straightforward and simple, making it easy to learn and follow.</a:t>
            </a:r>
            <a:endParaRPr lang="en-GB"/>
          </a:p>
          <a:p>
            <a:pPr>
              <a:buClr>
                <a:srgbClr val="1287C3"/>
              </a:buClr>
            </a:pPr>
            <a:r>
              <a:rPr lang="en-GB" b="1">
                <a:ea typeface="+mn-lt"/>
                <a:cs typeface="+mn-lt"/>
              </a:rPr>
              <a:t>Sequential Processing:</a:t>
            </a:r>
            <a:br>
              <a:rPr lang="en-GB" b="1" dirty="0">
                <a:ea typeface="+mn-lt"/>
                <a:cs typeface="+mn-lt"/>
              </a:rPr>
            </a:br>
            <a:r>
              <a:rPr lang="en-GB" b="1">
                <a:ea typeface="+mn-lt"/>
                <a:cs typeface="+mn-lt"/>
              </a:rPr>
              <a:t>Each phase is completed one at a time, ensuring an organized development flow.</a:t>
            </a:r>
            <a:endParaRPr lang="en-GB"/>
          </a:p>
          <a:p>
            <a:pPr>
              <a:buClr>
                <a:srgbClr val="1287C3"/>
              </a:buClr>
            </a:pPr>
            <a:r>
              <a:rPr lang="en-GB" b="1" dirty="0">
                <a:ea typeface="+mn-lt"/>
                <a:cs typeface="+mn-lt"/>
              </a:rPr>
              <a:t>Well-Defined Stages:</a:t>
            </a:r>
            <a:br>
              <a:rPr lang="en-GB" b="1" dirty="0">
                <a:ea typeface="+mn-lt"/>
                <a:cs typeface="+mn-lt"/>
              </a:rPr>
            </a:br>
            <a:r>
              <a:rPr lang="en-GB" b="1" dirty="0">
                <a:ea typeface="+mn-lt"/>
                <a:cs typeface="+mn-lt"/>
              </a:rPr>
              <a:t>Every phase has clear objectives and deliverables, reducing confusion.</a:t>
            </a:r>
            <a:endParaRPr lang="en-GB" dirty="0"/>
          </a:p>
          <a:p>
            <a:pPr>
              <a:buClr>
                <a:srgbClr val="1287C3"/>
              </a:buClr>
            </a:pPr>
            <a:r>
              <a:rPr lang="en-GB" b="1">
                <a:ea typeface="+mn-lt"/>
                <a:cs typeface="+mn-lt"/>
              </a:rPr>
              <a:t>Clear Milestones:</a:t>
            </a:r>
            <a:br>
              <a:rPr lang="en-GB" b="1" dirty="0">
                <a:ea typeface="+mn-lt"/>
                <a:cs typeface="+mn-lt"/>
              </a:rPr>
            </a:br>
            <a:r>
              <a:rPr lang="en-GB" b="1">
                <a:ea typeface="+mn-lt"/>
                <a:cs typeface="+mn-lt"/>
              </a:rPr>
              <a:t>Progress is easy to track due to clearly defined milestones.</a:t>
            </a:r>
            <a:endParaRPr lang="en-GB"/>
          </a:p>
          <a:p>
            <a:pPr>
              <a:buClr>
                <a:srgbClr val="1287C3"/>
              </a:buClr>
            </a:pPr>
            <a:r>
              <a:rPr lang="en-GB" b="1">
                <a:ea typeface="+mn-lt"/>
                <a:cs typeface="+mn-lt"/>
              </a:rPr>
              <a:t>Strong Documentation:</a:t>
            </a:r>
            <a:br>
              <a:rPr lang="en-GB" b="1" dirty="0">
                <a:ea typeface="+mn-lt"/>
                <a:cs typeface="+mn-lt"/>
              </a:rPr>
            </a:br>
            <a:r>
              <a:rPr lang="en-GB" b="1">
                <a:ea typeface="+mn-lt"/>
                <a:cs typeface="+mn-lt"/>
              </a:rPr>
              <a:t>All processes, actions, and results are thoroughly documented.</a:t>
            </a:r>
            <a:endParaRPr lang="en-GB"/>
          </a:p>
          <a:p>
            <a:pPr>
              <a:buClr>
                <a:srgbClr val="1287C3"/>
              </a:buClr>
            </a:pPr>
            <a:r>
              <a:rPr lang="en-GB" b="1">
                <a:ea typeface="+mn-lt"/>
                <a:cs typeface="+mn-lt"/>
              </a:rPr>
              <a:t>Encourages Best Practices:</a:t>
            </a:r>
            <a:br>
              <a:rPr lang="en-GB" b="1" dirty="0">
                <a:ea typeface="+mn-lt"/>
                <a:cs typeface="+mn-lt"/>
              </a:rPr>
            </a:br>
            <a:r>
              <a:rPr lang="en-GB" b="1">
                <a:ea typeface="+mn-lt"/>
                <a:cs typeface="+mn-lt"/>
              </a:rPr>
              <a:t>Promotes disciplined practices such as define before design and design before c</a:t>
            </a:r>
            <a:r>
              <a:rPr lang="en-GB" i="1">
                <a:ea typeface="+mn-lt"/>
                <a:cs typeface="+mn-lt"/>
              </a:rPr>
              <a:t>oding</a:t>
            </a:r>
            <a:r>
              <a:rPr lang="en-GB">
                <a:ea typeface="+mn-lt"/>
                <a:cs typeface="+mn-lt"/>
              </a:rPr>
              <a:t>.</a:t>
            </a:r>
            <a:endParaRPr lang="en-GB"/>
          </a:p>
          <a:p>
            <a:pPr>
              <a:buClr>
                <a:srgbClr val="1287C3"/>
              </a:buClr>
            </a:pPr>
            <a:r>
              <a:rPr lang="en-GB" b="1">
                <a:ea typeface="+mn-lt"/>
                <a:cs typeface="+mn-lt"/>
              </a:rPr>
              <a:t>Suitable for Small and Stable Projects:</a:t>
            </a:r>
            <a:br>
              <a:rPr lang="en-GB" b="1" dirty="0">
                <a:ea typeface="+mn-lt"/>
                <a:cs typeface="+mn-lt"/>
              </a:rPr>
            </a:br>
            <a:r>
              <a:rPr lang="en-GB" b="1">
                <a:ea typeface="+mn-lt"/>
                <a:cs typeface="+mn-lt"/>
              </a:rPr>
              <a:t>Works well for smaller projects where requirements are clearly understood and unlikely to change.</a:t>
            </a:r>
            <a:endParaRPr lang="en-GB"/>
          </a:p>
          <a:p>
            <a:pPr>
              <a:buClr>
                <a:srgbClr val="1287C3"/>
              </a:buClr>
            </a:pPr>
            <a:endParaRPr lang="en-GB" dirty="0"/>
          </a:p>
        </p:txBody>
      </p:sp>
    </p:spTree>
    <p:extLst>
      <p:ext uri="{BB962C8B-B14F-4D97-AF65-F5344CB8AC3E}">
        <p14:creationId xmlns:p14="http://schemas.microsoft.com/office/powerpoint/2010/main" val="14956195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0DBA-C2F2-8809-E109-CDB01B4563D1}"/>
              </a:ext>
            </a:extLst>
          </p:cNvPr>
          <p:cNvSpPr>
            <a:spLocks noGrp="1"/>
          </p:cNvSpPr>
          <p:nvPr>
            <p:ph type="title"/>
          </p:nvPr>
        </p:nvSpPr>
        <p:spPr/>
        <p:txBody>
          <a:bodyPr/>
          <a:lstStyle/>
          <a:p>
            <a:r>
              <a:rPr lang="en-GB" dirty="0">
                <a:ea typeface="+mj-lt"/>
                <a:cs typeface="+mj-lt"/>
              </a:rPr>
              <a:t>Agile methodology</a:t>
            </a:r>
            <a:endParaRPr lang="en-US" dirty="0"/>
          </a:p>
        </p:txBody>
      </p:sp>
      <p:sp>
        <p:nvSpPr>
          <p:cNvPr id="3" name="Content Placeholder 2">
            <a:extLst>
              <a:ext uri="{FF2B5EF4-FFF2-40B4-BE49-F238E27FC236}">
                <a16:creationId xmlns:a16="http://schemas.microsoft.com/office/drawing/2014/main" id="{B3E1FDBE-2486-CC65-DF78-2686D766DFC0}"/>
              </a:ext>
            </a:extLst>
          </p:cNvPr>
          <p:cNvSpPr>
            <a:spLocks noGrp="1"/>
          </p:cNvSpPr>
          <p:nvPr>
            <p:ph idx="1"/>
          </p:nvPr>
        </p:nvSpPr>
        <p:spPr/>
        <p:txBody>
          <a:bodyPr>
            <a:normAutofit/>
          </a:bodyPr>
          <a:lstStyle/>
          <a:p>
            <a:r>
              <a:rPr lang="en-GB" dirty="0">
                <a:ea typeface="+mn-lt"/>
                <a:cs typeface="+mn-lt"/>
              </a:rPr>
              <a:t>The Agile methodology is a collection of project management frameworks that break projects down into smaller phases. It relies on iterative cycles, allowing teams to adapt to changes and regularly refine their work. </a:t>
            </a:r>
          </a:p>
        </p:txBody>
      </p:sp>
    </p:spTree>
    <p:extLst>
      <p:ext uri="{BB962C8B-B14F-4D97-AF65-F5344CB8AC3E}">
        <p14:creationId xmlns:p14="http://schemas.microsoft.com/office/powerpoint/2010/main" val="40467156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B1E2B-B86C-0462-FE3E-329E5019733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A9C8404-430B-3850-6AE0-3775E98744F0}"/>
              </a:ext>
            </a:extLst>
          </p:cNvPr>
          <p:cNvSpPr>
            <a:spLocks noGrp="1"/>
          </p:cNvSpPr>
          <p:nvPr>
            <p:ph idx="1"/>
          </p:nvPr>
        </p:nvSpPr>
        <p:spPr>
          <a:xfrm>
            <a:off x="1340537" y="1559943"/>
            <a:ext cx="10162486" cy="5295181"/>
          </a:xfrm>
        </p:spPr>
        <p:txBody>
          <a:bodyPr>
            <a:normAutofit fontScale="92500"/>
          </a:bodyPr>
          <a:lstStyle/>
          <a:p>
            <a:r>
              <a:rPr lang="en-GB" b="1">
                <a:ea typeface="+mn-lt"/>
                <a:cs typeface="+mn-lt"/>
              </a:rPr>
              <a:t>Advantages</a:t>
            </a:r>
            <a:endParaRPr lang="en-GB">
              <a:ea typeface="+mn-lt"/>
              <a:cs typeface="+mn-lt"/>
            </a:endParaRPr>
          </a:p>
          <a:p>
            <a:pPr>
              <a:buClr>
                <a:srgbClr val="1287C3"/>
              </a:buClr>
            </a:pPr>
            <a:r>
              <a:rPr lang="en-GB">
                <a:ea typeface="+mn-lt"/>
                <a:cs typeface="+mn-lt"/>
              </a:rPr>
              <a:t>Agile stands out because it focuses on delivering value quickly while staying </a:t>
            </a:r>
            <a:r>
              <a:rPr lang="en-GB" dirty="0">
                <a:ea typeface="+mn-lt"/>
                <a:cs typeface="+mn-lt"/>
                <a:hlinkClick r:id="rId2"/>
              </a:rPr>
              <a:t>open to change</a:t>
            </a:r>
            <a:r>
              <a:rPr lang="en-GB">
                <a:ea typeface="+mn-lt"/>
                <a:cs typeface="+mn-lt"/>
              </a:rPr>
              <a:t>. This way of working brings several benefits, including:</a:t>
            </a:r>
            <a:endParaRPr lang="en-GB"/>
          </a:p>
          <a:p>
            <a:pPr>
              <a:buClr>
                <a:srgbClr val="1287C3"/>
              </a:buClr>
            </a:pPr>
            <a:r>
              <a:rPr lang="en-GB" b="1" dirty="0">
                <a:ea typeface="+mn-lt"/>
                <a:cs typeface="+mn-lt"/>
              </a:rPr>
              <a:t>Faster time to market</a:t>
            </a:r>
            <a:r>
              <a:rPr lang="en-GB" dirty="0">
                <a:ea typeface="+mn-lt"/>
                <a:cs typeface="+mn-lt"/>
              </a:rPr>
              <a:t>: </a:t>
            </a:r>
            <a:r>
              <a:rPr lang="en-GB" dirty="0" err="1">
                <a:ea typeface="+mn-lt"/>
                <a:cs typeface="+mn-lt"/>
              </a:rPr>
              <a:t>Agile’s</a:t>
            </a:r>
            <a:r>
              <a:rPr lang="en-GB" dirty="0">
                <a:ea typeface="+mn-lt"/>
                <a:cs typeface="+mn-lt"/>
              </a:rPr>
              <a:t> short, focused cycles allow teams to release updates or products earlier. This helps businesses respond to market demands faster and stay ahead of competitors.</a:t>
            </a:r>
          </a:p>
          <a:p>
            <a:pPr>
              <a:buClr>
                <a:srgbClr val="1287C3"/>
              </a:buClr>
            </a:pPr>
            <a:r>
              <a:rPr lang="en-GB" b="1">
                <a:ea typeface="+mn-lt"/>
                <a:cs typeface="+mn-lt"/>
              </a:rPr>
              <a:t>Better stakeholder involvement</a:t>
            </a:r>
            <a:r>
              <a:rPr lang="en-GB">
                <a:ea typeface="+mn-lt"/>
                <a:cs typeface="+mn-lt"/>
              </a:rPr>
              <a:t>: Regular collaboration ensures that products meet real customer needs, not assumptions. Feedback is gathered throughout the project, reducing the risk of delivering something that misses the mark.</a:t>
            </a:r>
          </a:p>
          <a:p>
            <a:pPr>
              <a:buClr>
                <a:srgbClr val="1287C3"/>
              </a:buClr>
            </a:pPr>
            <a:r>
              <a:rPr lang="en-GB" b="1">
                <a:ea typeface="+mn-lt"/>
                <a:cs typeface="+mn-lt"/>
              </a:rPr>
              <a:t>Increased team productivity</a:t>
            </a:r>
            <a:r>
              <a:rPr lang="en-GB">
                <a:ea typeface="+mn-lt"/>
                <a:cs typeface="+mn-lt"/>
              </a:rPr>
              <a:t>: Teams break work into smaller tasks and review progress often, which helps them spot obstacles early, adjust priorities quickly, and improve processes over time. This leads to better outcomes and reduces wasted effort.</a:t>
            </a:r>
          </a:p>
          <a:p>
            <a:pPr>
              <a:buClr>
                <a:srgbClr val="1287C3"/>
              </a:buClr>
            </a:pPr>
            <a:endParaRPr lang="en-GB" dirty="0"/>
          </a:p>
        </p:txBody>
      </p:sp>
    </p:spTree>
    <p:extLst>
      <p:ext uri="{BB962C8B-B14F-4D97-AF65-F5344CB8AC3E}">
        <p14:creationId xmlns:p14="http://schemas.microsoft.com/office/powerpoint/2010/main" val="25583720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B7E0-B483-61D6-5A33-248F92830421}"/>
              </a:ext>
            </a:extLst>
          </p:cNvPr>
          <p:cNvSpPr>
            <a:spLocks noGrp="1"/>
          </p:cNvSpPr>
          <p:nvPr>
            <p:ph type="title"/>
          </p:nvPr>
        </p:nvSpPr>
        <p:spPr>
          <a:xfrm>
            <a:off x="3626537" y="-4313"/>
            <a:ext cx="6136827" cy="588034"/>
          </a:xfrm>
        </p:spPr>
        <p:txBody>
          <a:bodyPr>
            <a:normAutofit/>
          </a:bodyPr>
          <a:lstStyle/>
          <a:p>
            <a:r>
              <a:rPr lang="en-GB" sz="1800" b="1"/>
              <a:t>Agile vs. </a:t>
            </a:r>
            <a:r>
              <a:rPr lang="en-GB" sz="1600" b="1"/>
              <a:t>Waterfall</a:t>
            </a:r>
            <a:endParaRPr lang="en-US"/>
          </a:p>
        </p:txBody>
      </p:sp>
      <p:graphicFrame>
        <p:nvGraphicFramePr>
          <p:cNvPr id="5" name="Content Placeholder 4">
            <a:extLst>
              <a:ext uri="{FF2B5EF4-FFF2-40B4-BE49-F238E27FC236}">
                <a16:creationId xmlns:a16="http://schemas.microsoft.com/office/drawing/2014/main" id="{936C06A3-669F-5827-CE08-2191D3CAB3A5}"/>
              </a:ext>
            </a:extLst>
          </p:cNvPr>
          <p:cNvGraphicFramePr>
            <a:graphicFrameLocks noGrp="1"/>
          </p:cNvGraphicFramePr>
          <p:nvPr>
            <p:ph idx="1"/>
            <p:extLst>
              <p:ext uri="{D42A27DB-BD31-4B8C-83A1-F6EECF244321}">
                <p14:modId xmlns:p14="http://schemas.microsoft.com/office/powerpoint/2010/main" val="433472196"/>
              </p:ext>
            </p:extLst>
          </p:nvPr>
        </p:nvGraphicFramePr>
        <p:xfrm>
          <a:off x="1955321" y="589471"/>
          <a:ext cx="10223933" cy="6377490"/>
        </p:xfrm>
        <a:graphic>
          <a:graphicData uri="http://schemas.openxmlformats.org/drawingml/2006/table">
            <a:tbl>
              <a:tblPr bandRow="1">
                <a:tableStyleId>{5C22544A-7EE6-4342-B048-85BDC9FD1C3A}</a:tableStyleId>
              </a:tblPr>
              <a:tblGrid>
                <a:gridCol w="1693505">
                  <a:extLst>
                    <a:ext uri="{9D8B030D-6E8A-4147-A177-3AD203B41FA5}">
                      <a16:colId xmlns:a16="http://schemas.microsoft.com/office/drawing/2014/main" val="2655073612"/>
                    </a:ext>
                  </a:extLst>
                </a:gridCol>
                <a:gridCol w="3865983">
                  <a:extLst>
                    <a:ext uri="{9D8B030D-6E8A-4147-A177-3AD203B41FA5}">
                      <a16:colId xmlns:a16="http://schemas.microsoft.com/office/drawing/2014/main" val="3667145662"/>
                    </a:ext>
                  </a:extLst>
                </a:gridCol>
                <a:gridCol w="4664445">
                  <a:extLst>
                    <a:ext uri="{9D8B030D-6E8A-4147-A177-3AD203B41FA5}">
                      <a16:colId xmlns:a16="http://schemas.microsoft.com/office/drawing/2014/main" val="3335449740"/>
                    </a:ext>
                  </a:extLst>
                </a:gridCol>
              </a:tblGrid>
              <a:tr h="388119">
                <a:tc>
                  <a:txBody>
                    <a:bodyPr/>
                    <a:lstStyle/>
                    <a:p>
                      <a:pPr algn="l">
                        <a:buNone/>
                      </a:pPr>
                      <a:r>
                        <a:rPr lang="en-GB" sz="1600" b="1">
                          <a:effectLst/>
                        </a:rPr>
                        <a:t>Category</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1">
                          <a:effectLst/>
                        </a:rPr>
                        <a:t>Agile</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1">
                          <a:effectLst/>
                        </a:rPr>
                        <a:t>Waterfall</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660423773"/>
                  </a:ext>
                </a:extLst>
              </a:tr>
              <a:tr h="388119">
                <a:tc>
                  <a:txBody>
                    <a:bodyPr/>
                    <a:lstStyle/>
                    <a:p>
                      <a:pPr lvl="0" algn="l">
                        <a:buNone/>
                      </a:pPr>
                      <a:endParaRPr lang="en-GB" sz="1600" b="1" dirty="0">
                        <a:effectLst/>
                      </a:endParaRPr>
                    </a:p>
                  </a:txBody>
                  <a:tcPr marL="152399" marR="152399" marT="76200" marB="76200" anchor="ctr">
                    <a:lnL w="0">
                      <a:noFill/>
                    </a:lnL>
                    <a:lnR w="0">
                      <a:noFill/>
                    </a:lnR>
                    <a:lnT w="9525" cap="flat" cmpd="sng" algn="ctr">
                      <a:solidFill>
                        <a:srgbClr val="DCE1EB"/>
                      </a:solidFill>
                      <a:prstDash val="solid"/>
                      <a:round/>
                      <a:headEnd type="none" w="med" len="med"/>
                      <a:tailEnd type="none" w="med" len="med"/>
                    </a:lnT>
                    <a:lnB w="9524">
                      <a:solidFill>
                        <a:srgbClr val="DCE1EB"/>
                      </a:solidFill>
                    </a:lnB>
                    <a:solidFill>
                      <a:srgbClr val="FFFFFF"/>
                    </a:solidFill>
                  </a:tcPr>
                </a:tc>
                <a:tc>
                  <a:txBody>
                    <a:bodyPr/>
                    <a:lstStyle/>
                    <a:p>
                      <a:pPr lvl="0" algn="l">
                        <a:buNone/>
                      </a:pPr>
                      <a:endParaRPr lang="en-GB" sz="1600" b="1" dirty="0">
                        <a:effectLst/>
                      </a:endParaRPr>
                    </a:p>
                  </a:txBody>
                  <a:tcPr marL="152399" marR="152399" marT="76200" marB="76200" anchor="ctr">
                    <a:lnL w="0">
                      <a:noFill/>
                    </a:lnL>
                    <a:lnR w="0">
                      <a:noFill/>
                    </a:lnR>
                    <a:lnT w="9525" cap="flat" cmpd="sng" algn="ctr">
                      <a:solidFill>
                        <a:srgbClr val="DCE1EB"/>
                      </a:solidFill>
                      <a:prstDash val="solid"/>
                      <a:round/>
                      <a:headEnd type="none" w="med" len="med"/>
                      <a:tailEnd type="none" w="med" len="med"/>
                    </a:lnT>
                    <a:lnB w="9524">
                      <a:solidFill>
                        <a:srgbClr val="DCE1EB"/>
                      </a:solidFill>
                    </a:lnB>
                    <a:solidFill>
                      <a:srgbClr val="FFFFFF"/>
                    </a:solidFill>
                  </a:tcPr>
                </a:tc>
                <a:tc>
                  <a:txBody>
                    <a:bodyPr/>
                    <a:lstStyle/>
                    <a:p>
                      <a:pPr lvl="0" algn="l">
                        <a:buNone/>
                      </a:pPr>
                      <a:endParaRPr lang="en-GB" sz="1600" b="1" dirty="0">
                        <a:effectLst/>
                      </a:endParaRPr>
                    </a:p>
                  </a:txBody>
                  <a:tcPr marL="152399" marR="152399" marT="76200" marB="76200" anchor="ctr">
                    <a:lnL w="0">
                      <a:noFill/>
                    </a:lnL>
                    <a:lnR w="0">
                      <a:noFill/>
                    </a:lnR>
                    <a:lnT w="9525" cap="flat" cmpd="sng" algn="ctr">
                      <a:solidFill>
                        <a:srgbClr val="DCE1EB"/>
                      </a:solidFill>
                      <a:prstDash val="solid"/>
                      <a:round/>
                      <a:headEnd type="none" w="med" len="med"/>
                      <a:tailEnd type="none" w="med" len="med"/>
                    </a:lnT>
                    <a:lnB w="9524">
                      <a:solidFill>
                        <a:srgbClr val="DCE1EB"/>
                      </a:solidFill>
                    </a:lnB>
                    <a:solidFill>
                      <a:srgbClr val="FFFFFF"/>
                    </a:solidFill>
                  </a:tcPr>
                </a:tc>
                <a:extLst>
                  <a:ext uri="{0D108BD9-81ED-4DB2-BD59-A6C34878D82A}">
                    <a16:rowId xmlns:a16="http://schemas.microsoft.com/office/drawing/2014/main" val="3308253319"/>
                  </a:ext>
                </a:extLst>
              </a:tr>
              <a:tr h="860610">
                <a:tc>
                  <a:txBody>
                    <a:bodyPr/>
                    <a:lstStyle/>
                    <a:p>
                      <a:pPr algn="l">
                        <a:buNone/>
                      </a:pPr>
                      <a:r>
                        <a:rPr lang="en-GB" sz="1600" b="1">
                          <a:effectLst/>
                        </a:rPr>
                        <a:t>Planning</a:t>
                      </a:r>
                      <a:endParaRPr lang="en-GB" sz="1600">
                        <a:effectLst/>
                      </a:endParaRPr>
                    </a:p>
                  </a:txBody>
                  <a:tcPr marL="152400" marR="152400" marT="76200" marB="76200" anchor="ctr">
                    <a:lnL>
                      <a:noFill/>
                    </a:lnL>
                    <a:lnR>
                      <a:noFill/>
                    </a:lnR>
                    <a:lnT w="9524"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Plans at multiple levels, with near-term work defined in detail and longer-term work kept flexible.</a:t>
                      </a:r>
                      <a:endParaRPr lang="en-GB" sz="1600">
                        <a:effectLst/>
                      </a:endParaRPr>
                    </a:p>
                  </a:txBody>
                  <a:tcPr marL="152400" marR="152400" marT="76200" marB="76200" anchor="ctr">
                    <a:lnL>
                      <a:noFill/>
                    </a:lnL>
                    <a:lnR>
                      <a:noFill/>
                    </a:lnR>
                    <a:lnT w="9524"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Plans heavily up front, aiming to </a:t>
                      </a:r>
                      <a:r>
                        <a:rPr lang="en-GB" sz="1600" b="0" u="none" strike="noStrike" dirty="0">
                          <a:solidFill>
                            <a:srgbClr val="0073D3"/>
                          </a:solidFill>
                          <a:effectLst/>
                          <a:latin typeface="inherit"/>
                          <a:hlinkClick r:id="rId2"/>
                        </a:rPr>
                        <a:t>define scope</a:t>
                      </a:r>
                      <a:r>
                        <a:rPr lang="en-GB" sz="1600" b="0">
                          <a:effectLst/>
                        </a:rPr>
                        <a:t>, schedule, and deliverables early.</a:t>
                      </a:r>
                      <a:endParaRPr lang="en-GB" sz="1600">
                        <a:effectLst/>
                      </a:endParaRPr>
                    </a:p>
                  </a:txBody>
                  <a:tcPr marL="152400" marR="152400" marT="76200" marB="76200" anchor="ctr">
                    <a:lnL>
                      <a:noFill/>
                    </a:lnL>
                    <a:lnR>
                      <a:noFill/>
                    </a:lnR>
                    <a:lnT w="9524"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3378543876"/>
                  </a:ext>
                </a:extLst>
              </a:tr>
              <a:tr h="624364">
                <a:tc>
                  <a:txBody>
                    <a:bodyPr/>
                    <a:lstStyle/>
                    <a:p>
                      <a:pPr algn="l">
                        <a:buNone/>
                      </a:pPr>
                      <a:r>
                        <a:rPr lang="en-GB" sz="1600" b="1">
                          <a:effectLst/>
                        </a:rPr>
                        <a:t>Flexibility</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High: change is expected and folded into the backlog and next cycles.</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Lower: change typically triggers rework, approvals, and formal change control.</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910666848"/>
                  </a:ext>
                </a:extLst>
              </a:tr>
              <a:tr h="624364">
                <a:tc>
                  <a:txBody>
                    <a:bodyPr/>
                    <a:lstStyle/>
                    <a:p>
                      <a:pPr algn="l">
                        <a:buNone/>
                      </a:pPr>
                      <a:r>
                        <a:rPr lang="en-GB" sz="1600" b="1">
                          <a:effectLst/>
                        </a:rPr>
                        <a:t>Documentation</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Just enough to support alignment, handoffs, and compliance needs.</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dirty="0">
                          <a:effectLst/>
                        </a:rPr>
                        <a:t>More comprehensive by default, often required for phase gates and sign-offs.</a:t>
                      </a:r>
                      <a:endParaRPr lang="en-GB" sz="1600" dirty="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3214410632"/>
                  </a:ext>
                </a:extLst>
              </a:tr>
              <a:tr h="624364">
                <a:tc>
                  <a:txBody>
                    <a:bodyPr/>
                    <a:lstStyle/>
                    <a:p>
                      <a:pPr algn="l">
                        <a:buNone/>
                      </a:pPr>
                      <a:r>
                        <a:rPr lang="en-GB" sz="1600" b="1">
                          <a:effectLst/>
                        </a:rPr>
                        <a:t>Customer involvement</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Ongoing, frequent reviews and feedback shape what moves next.</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Heavier at the start and at major milestones, with less day-to-day input.</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407239313"/>
                  </a:ext>
                </a:extLst>
              </a:tr>
              <a:tr h="624364">
                <a:tc>
                  <a:txBody>
                    <a:bodyPr/>
                    <a:lstStyle/>
                    <a:p>
                      <a:pPr algn="l">
                        <a:buNone/>
                      </a:pPr>
                      <a:r>
                        <a:rPr lang="en-GB" sz="1600" b="1">
                          <a:effectLst/>
                        </a:rPr>
                        <a:t>Risk management</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dirty="0">
                          <a:effectLst/>
                        </a:rPr>
                        <a:t>Reduces risk by validating assumptions early and often.</a:t>
                      </a:r>
                      <a:endParaRPr lang="en-GB" sz="1600" dirty="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Reduces risk by clarifying requirements early and minimizing midstream change.</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1038863326"/>
                  </a:ext>
                </a:extLst>
              </a:tr>
              <a:tr h="624364">
                <a:tc>
                  <a:txBody>
                    <a:bodyPr/>
                    <a:lstStyle/>
                    <a:p>
                      <a:pPr algn="l">
                        <a:buNone/>
                      </a:pPr>
                      <a:r>
                        <a:rPr lang="en-GB" sz="1600" b="1">
                          <a:effectLst/>
                        </a:rPr>
                        <a:t>Delivery speed</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Faster to first value, with incremental releases.</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Slower to the first value, with a larger release near the end.</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1514272032"/>
                  </a:ext>
                </a:extLst>
              </a:tr>
              <a:tr h="860610">
                <a:tc>
                  <a:txBody>
                    <a:bodyPr/>
                    <a:lstStyle/>
                    <a:p>
                      <a:pPr algn="l">
                        <a:buNone/>
                      </a:pPr>
                      <a:r>
                        <a:rPr lang="en-GB" sz="1600" b="1">
                          <a:effectLst/>
                        </a:rPr>
                        <a:t>Budget control</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Managed through scope trade-offs and prioritization as learning happens.</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tc>
                  <a:txBody>
                    <a:bodyPr/>
                    <a:lstStyle/>
                    <a:p>
                      <a:pPr algn="l">
                        <a:buNone/>
                      </a:pPr>
                      <a:r>
                        <a:rPr lang="en-GB" sz="1600" b="0">
                          <a:effectLst/>
                        </a:rPr>
                        <a:t>Managed through a locked scope and detailed estimates, changes require renegotiation.</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w="9525" cap="flat" cmpd="sng" algn="ctr">
                      <a:solidFill>
                        <a:srgbClr val="DCE1EB"/>
                      </a:solidFill>
                      <a:prstDash val="solid"/>
                      <a:round/>
                      <a:headEnd type="none" w="med" len="med"/>
                      <a:tailEnd type="none" w="med" len="med"/>
                    </a:lnB>
                    <a:solidFill>
                      <a:srgbClr val="FFFFFF"/>
                    </a:solidFill>
                  </a:tcPr>
                </a:tc>
                <a:extLst>
                  <a:ext uri="{0D108BD9-81ED-4DB2-BD59-A6C34878D82A}">
                    <a16:rowId xmlns:a16="http://schemas.microsoft.com/office/drawing/2014/main" val="2095698078"/>
                  </a:ext>
                </a:extLst>
              </a:tr>
              <a:tr h="624364">
                <a:tc>
                  <a:txBody>
                    <a:bodyPr/>
                    <a:lstStyle/>
                    <a:p>
                      <a:pPr algn="l">
                        <a:buNone/>
                      </a:pPr>
                      <a:r>
                        <a:rPr lang="en-GB" sz="1600" b="1">
                          <a:effectLst/>
                        </a:rPr>
                        <a:t>Team structure</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a:noFill/>
                    </a:lnB>
                    <a:solidFill>
                      <a:srgbClr val="F2F5FA"/>
                    </a:solidFill>
                  </a:tcPr>
                </a:tc>
                <a:tc>
                  <a:txBody>
                    <a:bodyPr/>
                    <a:lstStyle/>
                    <a:p>
                      <a:pPr algn="l">
                        <a:buNone/>
                      </a:pPr>
                      <a:r>
                        <a:rPr lang="en-GB" sz="1600" b="0" u="none" strike="noStrike" dirty="0">
                          <a:solidFill>
                            <a:srgbClr val="0073D3"/>
                          </a:solidFill>
                          <a:effectLst/>
                          <a:latin typeface="inherit"/>
                          <a:hlinkClick r:id="rId3"/>
                        </a:rPr>
                        <a:t>Cross-functional teams</a:t>
                      </a:r>
                      <a:r>
                        <a:rPr lang="en-GB" sz="1600" b="0">
                          <a:effectLst/>
                        </a:rPr>
                        <a:t> that can deliver end-to-end.</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a:noFill/>
                    </a:lnB>
                    <a:solidFill>
                      <a:srgbClr val="F2F5FA"/>
                    </a:solidFill>
                  </a:tcPr>
                </a:tc>
                <a:tc>
                  <a:txBody>
                    <a:bodyPr/>
                    <a:lstStyle/>
                    <a:p>
                      <a:pPr algn="l">
                        <a:buNone/>
                      </a:pPr>
                      <a:r>
                        <a:rPr lang="en-GB" sz="1600" b="0">
                          <a:effectLst/>
                        </a:rPr>
                        <a:t>Specialized teams that are aligned to phases, with more handoffs between groups.</a:t>
                      </a:r>
                      <a:endParaRPr lang="en-GB" sz="1600">
                        <a:effectLst/>
                      </a:endParaRPr>
                    </a:p>
                  </a:txBody>
                  <a:tcPr marL="152400" marR="152400" marT="76200" marB="76200" anchor="ctr">
                    <a:lnL>
                      <a:noFill/>
                    </a:lnL>
                    <a:lnR>
                      <a:noFill/>
                    </a:lnR>
                    <a:lnT w="9525" cap="flat" cmpd="sng" algn="ctr">
                      <a:solidFill>
                        <a:srgbClr val="DCE1EB"/>
                      </a:solidFill>
                      <a:prstDash val="solid"/>
                      <a:round/>
                      <a:headEnd type="none" w="med" len="med"/>
                      <a:tailEnd type="none" w="med" len="med"/>
                    </a:lnT>
                    <a:lnB>
                      <a:noFill/>
                    </a:lnB>
                    <a:solidFill>
                      <a:srgbClr val="F2F5FA"/>
                    </a:solidFill>
                  </a:tcPr>
                </a:tc>
                <a:extLst>
                  <a:ext uri="{0D108BD9-81ED-4DB2-BD59-A6C34878D82A}">
                    <a16:rowId xmlns:a16="http://schemas.microsoft.com/office/drawing/2014/main" val="1737222945"/>
                  </a:ext>
                </a:extLst>
              </a:tr>
            </a:tbl>
          </a:graphicData>
        </a:graphic>
      </p:graphicFrame>
    </p:spTree>
    <p:extLst>
      <p:ext uri="{BB962C8B-B14F-4D97-AF65-F5344CB8AC3E}">
        <p14:creationId xmlns:p14="http://schemas.microsoft.com/office/powerpoint/2010/main" val="27168835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4208EC-C4C7-3B56-862D-8CA9EF24FA03}"/>
              </a:ext>
            </a:extLst>
          </p:cNvPr>
          <p:cNvSpPr txBox="1"/>
          <p:nvPr/>
        </p:nvSpPr>
        <p:spPr>
          <a:xfrm>
            <a:off x="1984075" y="740434"/>
            <a:ext cx="10207925"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GB" sz="2400" b="1" i="0" u="none" strike="noStrike" baseline="0">
                <a:solidFill>
                  <a:srgbClr val="000000"/>
                </a:solidFill>
                <a:latin typeface="Corbel"/>
                <a:ea typeface="Arial"/>
                <a:cs typeface="Arial"/>
              </a:rPr>
              <a:t>When to Use Waterfall</a:t>
            </a:r>
            <a:r>
              <a:rPr lang="en-US" sz="2400" b="0" i="0">
                <a:solidFill>
                  <a:srgbClr val="000000"/>
                </a:solidFill>
                <a:latin typeface="Corbel"/>
                <a:ea typeface="Arial"/>
                <a:cs typeface="Arial"/>
              </a:rPr>
              <a:t>​</a:t>
            </a:r>
          </a:p>
          <a:p>
            <a:pPr marL="228600" indent="-228600">
              <a:buFont typeface=""/>
              <a:buChar char="•"/>
            </a:pPr>
            <a:r>
              <a:rPr lang="en-GB" sz="2000" b="1" i="0" u="none" strike="noStrike" baseline="0">
                <a:solidFill>
                  <a:srgbClr val="000000"/>
                </a:solidFill>
                <a:latin typeface="Corbel"/>
                <a:ea typeface="Arial"/>
                <a:cs typeface="Arial"/>
              </a:rPr>
              <a:t>Stable Requirements:</a:t>
            </a:r>
            <a:r>
              <a:rPr lang="en-GB" sz="2000" b="0" i="0" u="none" strike="noStrike" baseline="0">
                <a:solidFill>
                  <a:srgbClr val="000000"/>
                </a:solidFill>
                <a:latin typeface="Corbel"/>
                <a:ea typeface="Arial"/>
                <a:cs typeface="Arial"/>
              </a:rPr>
              <a:t> The project scope is locked in upfront. Mid-project changes will be </a:t>
            </a:r>
            <a:r>
              <a:rPr lang="en-GB" sz="2000">
                <a:solidFill>
                  <a:srgbClr val="000000"/>
                </a:solidFill>
                <a:latin typeface="Corbel"/>
                <a:ea typeface="Arial"/>
                <a:cs typeface="Arial"/>
              </a:rPr>
              <a:t>highly disruptive</a:t>
            </a:r>
            <a:r>
              <a:rPr lang="en-GB" sz="2000" b="0" i="0" u="none" strike="noStrike" baseline="0">
                <a:solidFill>
                  <a:srgbClr val="000000"/>
                </a:solidFill>
                <a:latin typeface="Corbel"/>
                <a:ea typeface="Arial"/>
                <a:cs typeface="Arial"/>
              </a:rPr>
              <a:t> or costly.</a:t>
            </a:r>
            <a:r>
              <a:rPr lang="en-GB" sz="2000" b="0" i="0">
                <a:solidFill>
                  <a:srgbClr val="000000"/>
                </a:solidFill>
                <a:latin typeface="Corbel"/>
                <a:ea typeface="Arial"/>
                <a:cs typeface="Arial"/>
              </a:rPr>
              <a:t>​</a:t>
            </a:r>
          </a:p>
          <a:p>
            <a:pPr marL="228600" indent="-228600">
              <a:buFont typeface=""/>
              <a:buChar char="•"/>
            </a:pPr>
            <a:r>
              <a:rPr lang="en-GB" sz="2000" b="1" i="0" u="none" strike="noStrike" baseline="0">
                <a:solidFill>
                  <a:srgbClr val="000000"/>
                </a:solidFill>
                <a:latin typeface="Corbel"/>
                <a:ea typeface="Arial"/>
                <a:cs typeface="Arial"/>
              </a:rPr>
              <a:t>Strict Compliance:</a:t>
            </a:r>
            <a:r>
              <a:rPr lang="en-GB" sz="2000" b="0" i="0" u="none" strike="noStrike" baseline="0">
                <a:solidFill>
                  <a:srgbClr val="000000"/>
                </a:solidFill>
                <a:latin typeface="Corbel"/>
                <a:ea typeface="Arial"/>
                <a:cs typeface="Arial"/>
              </a:rPr>
              <a:t> The industry requires rigorous documentation, compliance trails, and </a:t>
            </a:r>
            <a:r>
              <a:rPr lang="en-GB" sz="2000">
                <a:solidFill>
                  <a:srgbClr val="000000"/>
                </a:solidFill>
                <a:latin typeface="Corbel"/>
                <a:ea typeface="Arial"/>
                <a:cs typeface="Arial"/>
              </a:rPr>
              <a:t>strict gate</a:t>
            </a:r>
            <a:r>
              <a:rPr lang="en-GB" sz="2000" b="0" i="0" u="none" strike="noStrike" baseline="0">
                <a:solidFill>
                  <a:srgbClr val="000000"/>
                </a:solidFill>
                <a:latin typeface="Corbel"/>
                <a:ea typeface="Arial"/>
                <a:cs typeface="Arial"/>
              </a:rPr>
              <a:t> reviews (e.g., healthcare or finance).</a:t>
            </a:r>
            <a:r>
              <a:rPr lang="en-GB" sz="2000" b="0" i="0">
                <a:solidFill>
                  <a:srgbClr val="000000"/>
                </a:solidFill>
                <a:latin typeface="Corbel"/>
                <a:ea typeface="Arial"/>
                <a:cs typeface="Arial"/>
              </a:rPr>
              <a:t>​</a:t>
            </a:r>
          </a:p>
          <a:p>
            <a:pPr marL="228600" indent="-228600">
              <a:buFont typeface=""/>
              <a:buChar char="•"/>
            </a:pPr>
            <a:r>
              <a:rPr lang="en-GB" sz="2000" b="1" i="0" u="none" strike="noStrike" baseline="0">
                <a:solidFill>
                  <a:srgbClr val="000000"/>
                </a:solidFill>
                <a:latin typeface="Corbel"/>
                <a:ea typeface="Arial"/>
                <a:cs typeface="Arial"/>
              </a:rPr>
              <a:t>Well-Understood Tech:</a:t>
            </a:r>
            <a:r>
              <a:rPr lang="en-GB" sz="2000" b="0" i="0" u="none" strike="noStrike" baseline="0">
                <a:solidFill>
                  <a:srgbClr val="000000"/>
                </a:solidFill>
                <a:latin typeface="Corbel"/>
                <a:ea typeface="Arial"/>
                <a:cs typeface="Arial"/>
              </a:rPr>
              <a:t> Your team has historical knowledge and complete familiarity with </a:t>
            </a:r>
            <a:r>
              <a:rPr lang="en-GB" sz="2000">
                <a:solidFill>
                  <a:srgbClr val="000000"/>
                </a:solidFill>
                <a:latin typeface="Corbel"/>
                <a:ea typeface="Arial"/>
                <a:cs typeface="Arial"/>
              </a:rPr>
              <a:t>the technology</a:t>
            </a:r>
            <a:r>
              <a:rPr lang="en-GB" sz="2000" b="0" i="0" u="none" strike="noStrike" baseline="0">
                <a:solidFill>
                  <a:srgbClr val="000000"/>
                </a:solidFill>
                <a:latin typeface="Corbel"/>
                <a:ea typeface="Arial"/>
                <a:cs typeface="Arial"/>
              </a:rPr>
              <a:t> or process.</a:t>
            </a:r>
            <a:r>
              <a:rPr lang="en-GB" sz="2000" b="0" i="0">
                <a:solidFill>
                  <a:srgbClr val="000000"/>
                </a:solidFill>
                <a:latin typeface="Corbel"/>
                <a:ea typeface="Arial"/>
                <a:cs typeface="Arial"/>
              </a:rPr>
              <a:t>​</a:t>
            </a:r>
          </a:p>
          <a:p>
            <a:pPr marL="228600" indent="-228600">
              <a:buFont typeface=""/>
              <a:buChar char="•"/>
            </a:pPr>
            <a:r>
              <a:rPr lang="en-GB" sz="2000" b="1" i="0" u="none" strike="noStrike" baseline="0">
                <a:solidFill>
                  <a:srgbClr val="000000"/>
                </a:solidFill>
                <a:latin typeface="Corbel"/>
                <a:ea typeface="Arial"/>
                <a:cs typeface="Arial"/>
              </a:rPr>
              <a:t>Defined Deadlines &amp; Budgets:</a:t>
            </a:r>
            <a:r>
              <a:rPr lang="en-GB" sz="2000" b="0" i="0" u="none" strike="noStrike" baseline="0">
                <a:solidFill>
                  <a:srgbClr val="000000"/>
                </a:solidFill>
                <a:latin typeface="Corbel"/>
                <a:ea typeface="Arial"/>
                <a:cs typeface="Arial"/>
              </a:rPr>
              <a:t> Ideal for fixed-price contracts or capital projects where the </a:t>
            </a:r>
            <a:r>
              <a:rPr lang="en-GB" sz="2000">
                <a:solidFill>
                  <a:srgbClr val="000000"/>
                </a:solidFill>
                <a:latin typeface="Corbel"/>
                <a:ea typeface="Arial"/>
                <a:cs typeface="Arial"/>
              </a:rPr>
              <a:t>exact timeline</a:t>
            </a:r>
            <a:r>
              <a:rPr lang="en-GB" sz="2000" b="0" i="0" u="none" strike="noStrike" baseline="0">
                <a:solidFill>
                  <a:srgbClr val="000000"/>
                </a:solidFill>
                <a:latin typeface="Corbel"/>
                <a:ea typeface="Arial"/>
                <a:cs typeface="Arial"/>
              </a:rPr>
              <a:t> is mapped out before day one.</a:t>
            </a:r>
            <a:r>
              <a:rPr lang="en-GB" sz="2000" b="0" i="0">
                <a:solidFill>
                  <a:srgbClr val="000000"/>
                </a:solidFill>
                <a:latin typeface="Corbel"/>
                <a:ea typeface="Arial"/>
                <a:cs typeface="Arial"/>
              </a:rPr>
              <a:t>​</a:t>
            </a:r>
          </a:p>
          <a:p>
            <a:pPr algn="l" rtl="0"/>
            <a:r>
              <a:rPr lang="en-GB" sz="2400" b="1" i="0" u="none" strike="noStrike" baseline="0">
                <a:solidFill>
                  <a:srgbClr val="000000"/>
                </a:solidFill>
                <a:latin typeface="Corbel"/>
                <a:ea typeface="Arial"/>
                <a:cs typeface="Arial"/>
              </a:rPr>
              <a:t>When to Use Agile</a:t>
            </a:r>
            <a:r>
              <a:rPr lang="en-US" sz="2400" b="0" i="0">
                <a:solidFill>
                  <a:srgbClr val="000000"/>
                </a:solidFill>
                <a:latin typeface="Corbel"/>
                <a:ea typeface="Arial"/>
                <a:cs typeface="Arial"/>
              </a:rPr>
              <a:t>​</a:t>
            </a:r>
          </a:p>
          <a:p>
            <a:pPr marL="228600" indent="-228600">
              <a:buFont typeface=""/>
              <a:buChar char="•"/>
            </a:pPr>
            <a:r>
              <a:rPr lang="en-GB" sz="2000" b="1" i="0" u="none" strike="noStrike" baseline="0">
                <a:solidFill>
                  <a:srgbClr val="000000"/>
                </a:solidFill>
                <a:latin typeface="Corbel"/>
                <a:ea typeface="Arial"/>
                <a:cs typeface="Arial"/>
              </a:rPr>
              <a:t>Unclear Requirements:</a:t>
            </a:r>
            <a:r>
              <a:rPr lang="en-GB" sz="2000" b="0" i="0" u="none" strike="noStrike" baseline="0">
                <a:solidFill>
                  <a:srgbClr val="000000"/>
                </a:solidFill>
                <a:latin typeface="Corbel"/>
                <a:ea typeface="Arial"/>
                <a:cs typeface="Arial"/>
              </a:rPr>
              <a:t> When the end goal is known, but the exact path or features </a:t>
            </a:r>
            <a:r>
              <a:rPr lang="en-GB" sz="2000">
                <a:solidFill>
                  <a:srgbClr val="000000"/>
                </a:solidFill>
                <a:latin typeface="Corbel"/>
                <a:ea typeface="Arial"/>
                <a:cs typeface="Arial"/>
              </a:rPr>
              <a:t>are undefined</a:t>
            </a:r>
            <a:r>
              <a:rPr lang="en-GB" sz="2000" b="0" i="0" u="none" strike="noStrike" baseline="0">
                <a:solidFill>
                  <a:srgbClr val="000000"/>
                </a:solidFill>
                <a:latin typeface="Corbel"/>
                <a:ea typeface="Arial"/>
                <a:cs typeface="Arial"/>
              </a:rPr>
              <a:t>.</a:t>
            </a:r>
            <a:r>
              <a:rPr lang="en-GB" sz="2000" b="0" i="0">
                <a:solidFill>
                  <a:srgbClr val="000000"/>
                </a:solidFill>
                <a:latin typeface="Corbel"/>
                <a:ea typeface="Arial"/>
                <a:cs typeface="Arial"/>
              </a:rPr>
              <a:t>​</a:t>
            </a:r>
          </a:p>
          <a:p>
            <a:pPr marL="228600" indent="-228600">
              <a:buFont typeface=""/>
              <a:buChar char="•"/>
            </a:pPr>
            <a:r>
              <a:rPr lang="en-GB" sz="2000" b="1" i="0" u="none" strike="noStrike" baseline="0">
                <a:solidFill>
                  <a:srgbClr val="000000"/>
                </a:solidFill>
                <a:latin typeface="Corbel"/>
                <a:ea typeface="Arial"/>
                <a:cs typeface="Arial"/>
              </a:rPr>
              <a:t>Rapid Market Entry:</a:t>
            </a:r>
            <a:r>
              <a:rPr lang="en-GB" sz="2000" b="0" i="0" u="none" strike="noStrike" baseline="0">
                <a:solidFill>
                  <a:srgbClr val="000000"/>
                </a:solidFill>
                <a:latin typeface="Corbel"/>
                <a:ea typeface="Arial"/>
                <a:cs typeface="Arial"/>
              </a:rPr>
              <a:t> When you need to release a Minimum Viable Product (MVP) quickly togather real user feedback.</a:t>
            </a:r>
            <a:r>
              <a:rPr lang="en-GB" sz="2000" b="0" i="0">
                <a:solidFill>
                  <a:srgbClr val="000000"/>
                </a:solidFill>
                <a:latin typeface="Corbel"/>
                <a:ea typeface="Arial"/>
                <a:cs typeface="Arial"/>
              </a:rPr>
              <a:t>​</a:t>
            </a:r>
          </a:p>
          <a:p>
            <a:pPr marL="228600" indent="-228600">
              <a:buFont typeface=""/>
              <a:buChar char="•"/>
            </a:pPr>
            <a:r>
              <a:rPr lang="en-GB" sz="2000" b="1" i="0" u="none" strike="noStrike" baseline="0" dirty="0">
                <a:solidFill>
                  <a:srgbClr val="000000"/>
                </a:solidFill>
                <a:latin typeface="Corbel"/>
                <a:ea typeface="Arial"/>
                <a:cs typeface="Arial"/>
              </a:rPr>
              <a:t>High Innovation/Uncertainty:</a:t>
            </a:r>
            <a:r>
              <a:rPr lang="en-GB" sz="2000" b="0" i="0" u="none" strike="noStrike" baseline="0" dirty="0">
                <a:solidFill>
                  <a:srgbClr val="000000"/>
                </a:solidFill>
                <a:latin typeface="Corbel"/>
                <a:ea typeface="Arial"/>
                <a:cs typeface="Arial"/>
              </a:rPr>
              <a:t> Projects that involve new technologies,</a:t>
            </a:r>
            <a:r>
              <a:rPr lang="en-GB" sz="2000" dirty="0">
                <a:solidFill>
                  <a:srgbClr val="000000"/>
                </a:solidFill>
                <a:latin typeface="Corbel"/>
                <a:ea typeface="Arial"/>
                <a:cs typeface="Arial"/>
              </a:rPr>
              <a:t> </a:t>
            </a:r>
            <a:r>
              <a:rPr lang="en-GB" sz="2000" b="0" i="0" u="none" strike="noStrike" baseline="0" dirty="0">
                <a:solidFill>
                  <a:srgbClr val="000000"/>
                </a:solidFill>
                <a:latin typeface="Corbel"/>
                <a:ea typeface="Arial"/>
                <a:cs typeface="Arial"/>
              </a:rPr>
              <a:t> shifting user preferences,</a:t>
            </a:r>
            <a:r>
              <a:rPr lang="en-GB" sz="2000" dirty="0">
                <a:solidFill>
                  <a:srgbClr val="000000"/>
                </a:solidFill>
                <a:latin typeface="Corbel"/>
                <a:ea typeface="Arial"/>
                <a:cs typeface="Arial"/>
              </a:rPr>
              <a:t> </a:t>
            </a:r>
            <a:r>
              <a:rPr lang="en-GB" sz="2000" b="0" i="0" u="none" strike="noStrike" baseline="0" dirty="0">
                <a:solidFill>
                  <a:srgbClr val="000000"/>
                </a:solidFill>
                <a:latin typeface="Corbel"/>
                <a:ea typeface="Arial"/>
                <a:cs typeface="Arial"/>
              </a:rPr>
              <a:t>or </a:t>
            </a:r>
            <a:r>
              <a:rPr lang="en-GB" sz="2000" dirty="0">
                <a:solidFill>
                  <a:srgbClr val="000000"/>
                </a:solidFill>
                <a:latin typeface="Corbel"/>
                <a:ea typeface="Arial"/>
                <a:cs typeface="Arial"/>
              </a:rPr>
              <a:t>high risk</a:t>
            </a:r>
            <a:r>
              <a:rPr lang="en-GB" sz="2000" b="0" i="0" u="none" strike="noStrike" baseline="0" dirty="0">
                <a:solidFill>
                  <a:srgbClr val="000000"/>
                </a:solidFill>
                <a:latin typeface="Corbel"/>
                <a:ea typeface="Arial"/>
                <a:cs typeface="Arial"/>
              </a:rPr>
              <a:t>.</a:t>
            </a:r>
            <a:r>
              <a:rPr lang="en-GB" sz="2000" b="0" i="0" dirty="0">
                <a:solidFill>
                  <a:srgbClr val="000000"/>
                </a:solidFill>
                <a:latin typeface="Corbel"/>
                <a:ea typeface="Arial"/>
                <a:cs typeface="Arial"/>
              </a:rPr>
              <a:t>​</a:t>
            </a:r>
          </a:p>
          <a:p>
            <a:pPr marL="228600" lvl="0" indent="-228600" algn="l" rtl="0">
              <a:buFont typeface=""/>
              <a:buChar char="•"/>
            </a:pPr>
            <a:endParaRPr lang="en-GB" b="0" i="0">
              <a:solidFill>
                <a:srgbClr val="000000"/>
              </a:solidFill>
              <a:latin typeface="Arial"/>
              <a:ea typeface="Arial"/>
              <a:cs typeface="Arial"/>
            </a:endParaRPr>
          </a:p>
          <a:p>
            <a:pPr algn="ctr"/>
            <a:endParaRPr lang="en-GB"/>
          </a:p>
        </p:txBody>
      </p:sp>
    </p:spTree>
    <p:extLst>
      <p:ext uri="{BB962C8B-B14F-4D97-AF65-F5344CB8AC3E}">
        <p14:creationId xmlns:p14="http://schemas.microsoft.com/office/powerpoint/2010/main" val="17379220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3597-2CEE-8AE7-9F55-4191A3CB12A6}"/>
              </a:ext>
            </a:extLst>
          </p:cNvPr>
          <p:cNvSpPr>
            <a:spLocks noGrp="1"/>
          </p:cNvSpPr>
          <p:nvPr>
            <p:ph type="title"/>
          </p:nvPr>
        </p:nvSpPr>
        <p:spPr/>
        <p:txBody>
          <a:bodyPr/>
          <a:lstStyle/>
          <a:p>
            <a:r>
              <a:rPr lang="en-GB">
                <a:ea typeface="+mj-lt"/>
                <a:cs typeface="+mj-lt"/>
              </a:rPr>
              <a:t>D.  Stakeholder management</a:t>
            </a:r>
            <a:endParaRPr lang="en-US">
              <a:ea typeface="+mj-lt"/>
              <a:cs typeface="+mj-lt"/>
            </a:endParaRPr>
          </a:p>
        </p:txBody>
      </p:sp>
      <p:sp>
        <p:nvSpPr>
          <p:cNvPr id="3" name="Content Placeholder 2">
            <a:extLst>
              <a:ext uri="{FF2B5EF4-FFF2-40B4-BE49-F238E27FC236}">
                <a16:creationId xmlns:a16="http://schemas.microsoft.com/office/drawing/2014/main" id="{D074F452-FF83-F1DE-7887-1B9CD6D92246}"/>
              </a:ext>
            </a:extLst>
          </p:cNvPr>
          <p:cNvSpPr>
            <a:spLocks noGrp="1"/>
          </p:cNvSpPr>
          <p:nvPr>
            <p:ph idx="1"/>
          </p:nvPr>
        </p:nvSpPr>
        <p:spPr/>
        <p:txBody>
          <a:bodyPr/>
          <a:lstStyle/>
          <a:p>
            <a:r>
              <a:rPr lang="en-GB" dirty="0">
                <a:ea typeface="+mn-lt"/>
                <a:cs typeface="+mn-lt"/>
              </a:rPr>
              <a:t>Stakeholder management is the systematic process of identifying, </a:t>
            </a:r>
            <a:r>
              <a:rPr lang="en-GB" dirty="0" err="1">
                <a:ea typeface="+mn-lt"/>
                <a:cs typeface="+mn-lt"/>
              </a:rPr>
              <a:t>analyzing</a:t>
            </a:r>
            <a:r>
              <a:rPr lang="en-GB" dirty="0">
                <a:ea typeface="+mn-lt"/>
                <a:cs typeface="+mn-lt"/>
              </a:rPr>
              <a:t>, and engaging individuals or groups who can affect or be affected by a project, product, or business initiative. It involves managing their needs and expectations to build positive relationships, reduce resistance, and ensure successful project outcomes</a:t>
            </a:r>
          </a:p>
        </p:txBody>
      </p:sp>
    </p:spTree>
    <p:extLst>
      <p:ext uri="{BB962C8B-B14F-4D97-AF65-F5344CB8AC3E}">
        <p14:creationId xmlns:p14="http://schemas.microsoft.com/office/powerpoint/2010/main" val="29048942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3A98D-AC9E-D8A5-8C63-3D1B6C3B994E}"/>
              </a:ext>
            </a:extLst>
          </p:cNvPr>
          <p:cNvSpPr>
            <a:spLocks noGrp="1"/>
          </p:cNvSpPr>
          <p:nvPr>
            <p:ph type="ctrTitle"/>
          </p:nvPr>
        </p:nvSpPr>
        <p:spPr/>
        <p:txBody>
          <a:bodyPr/>
          <a:lstStyle/>
          <a:p>
            <a:pPr algn="l"/>
            <a:r>
              <a:rPr lang="en-GB" b="1">
                <a:solidFill>
                  <a:srgbClr val="002060"/>
                </a:solidFill>
              </a:rPr>
              <a:t>4.  Data vs. Information</a:t>
            </a:r>
            <a:endParaRPr lang="en-US">
              <a:solidFill>
                <a:srgbClr val="002060"/>
              </a:solidFill>
            </a:endParaRPr>
          </a:p>
          <a:p>
            <a:endParaRPr lang="en-GB" dirty="0"/>
          </a:p>
        </p:txBody>
      </p:sp>
      <p:sp>
        <p:nvSpPr>
          <p:cNvPr id="3" name="Subtitle 2">
            <a:extLst>
              <a:ext uri="{FF2B5EF4-FFF2-40B4-BE49-F238E27FC236}">
                <a16:creationId xmlns:a16="http://schemas.microsoft.com/office/drawing/2014/main" id="{036FF3DA-E850-8384-C7FC-2979FC9240A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6353595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A811-1CF2-8805-BFBA-88AB23F0D836}"/>
              </a:ext>
            </a:extLst>
          </p:cNvPr>
          <p:cNvSpPr>
            <a:spLocks noGrp="1"/>
          </p:cNvSpPr>
          <p:nvPr>
            <p:ph type="title"/>
          </p:nvPr>
        </p:nvSpPr>
        <p:spPr/>
        <p:txBody>
          <a:bodyPr/>
          <a:lstStyle/>
          <a:p>
            <a:pPr marL="742950" indent="-742950">
              <a:buAutoNum type="alphaUcPeriod"/>
            </a:pPr>
            <a:r>
              <a:rPr lang="en-GB"/>
              <a:t> Distinguishing Raw data</a:t>
            </a:r>
            <a:r>
              <a:rPr lang="en-GB" dirty="0"/>
              <a:t> from processed information</a:t>
            </a:r>
            <a:endParaRPr lang="en-US"/>
          </a:p>
        </p:txBody>
      </p:sp>
      <p:sp>
        <p:nvSpPr>
          <p:cNvPr id="3" name="Content Placeholder 2">
            <a:extLst>
              <a:ext uri="{FF2B5EF4-FFF2-40B4-BE49-F238E27FC236}">
                <a16:creationId xmlns:a16="http://schemas.microsoft.com/office/drawing/2014/main" id="{CE0F662C-118E-830A-F95A-761FA53E1CE5}"/>
              </a:ext>
            </a:extLst>
          </p:cNvPr>
          <p:cNvSpPr>
            <a:spLocks noGrp="1"/>
          </p:cNvSpPr>
          <p:nvPr>
            <p:ph idx="1"/>
          </p:nvPr>
        </p:nvSpPr>
        <p:spPr/>
        <p:txBody>
          <a:bodyPr/>
          <a:lstStyle/>
          <a:p>
            <a:r>
              <a:rPr lang="en-GB" b="1" dirty="0"/>
              <a:t>Raw Data</a:t>
            </a:r>
            <a:r>
              <a:rPr lang="en-GB" dirty="0"/>
              <a:t> : </a:t>
            </a:r>
            <a:r>
              <a:rPr lang="en-GB" dirty="0">
                <a:ea typeface="+mn-lt"/>
                <a:cs typeface="+mn-lt"/>
              </a:rPr>
              <a:t>Raw data, or primary/source data, is unprocessed information collected directly from sources like surveys, sensors, or logs, often containing errors, inconsistencies, or redundant information. </a:t>
            </a:r>
          </a:p>
          <a:p>
            <a:pPr>
              <a:buClr>
                <a:srgbClr val="1287C3"/>
              </a:buClr>
            </a:pPr>
            <a:r>
              <a:rPr lang="en-GB" b="1" dirty="0">
                <a:ea typeface="+mn-lt"/>
                <a:cs typeface="+mn-lt"/>
              </a:rPr>
              <a:t>Processed </a:t>
            </a:r>
            <a:r>
              <a:rPr lang="en-GB" b="1">
                <a:ea typeface="+mn-lt"/>
                <a:cs typeface="+mn-lt"/>
              </a:rPr>
              <a:t>data : </a:t>
            </a:r>
            <a:r>
              <a:rPr lang="en-GB" dirty="0">
                <a:ea typeface="+mn-lt"/>
                <a:cs typeface="+mn-lt"/>
              </a:rPr>
              <a:t>Processed data is raw data that has been cleaned, organized, and transformed into meaningful information (e.g., reports, charts) for easy interpretation and decision-making.</a:t>
            </a:r>
          </a:p>
        </p:txBody>
      </p:sp>
    </p:spTree>
    <p:extLst>
      <p:ext uri="{BB962C8B-B14F-4D97-AF65-F5344CB8AC3E}">
        <p14:creationId xmlns:p14="http://schemas.microsoft.com/office/powerpoint/2010/main" val="27829575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330B-0F07-2866-C801-6CE436929636}"/>
              </a:ext>
            </a:extLst>
          </p:cNvPr>
          <p:cNvSpPr>
            <a:spLocks noGrp="1"/>
          </p:cNvSpPr>
          <p:nvPr>
            <p:ph type="ctrTitle"/>
          </p:nvPr>
        </p:nvSpPr>
        <p:spPr>
          <a:xfrm>
            <a:off x="1576930" y="1380068"/>
            <a:ext cx="10371791" cy="2616199"/>
          </a:xfrm>
        </p:spPr>
        <p:txBody>
          <a:bodyPr/>
          <a:lstStyle/>
          <a:p>
            <a:r>
              <a:rPr lang="en-GB" sz="4800">
                <a:solidFill>
                  <a:srgbClr val="002060"/>
                </a:solidFill>
              </a:rPr>
              <a:t>5.  </a:t>
            </a:r>
            <a:r>
              <a:rPr lang="en-GB" sz="4800" b="1">
                <a:solidFill>
                  <a:srgbClr val="002060"/>
                </a:solidFill>
              </a:rPr>
              <a:t>Overview of Data-Driven Decision Making</a:t>
            </a:r>
            <a:endParaRPr lang="en-US" sz="4800">
              <a:solidFill>
                <a:srgbClr val="002060"/>
              </a:solidFill>
            </a:endParaRPr>
          </a:p>
          <a:p>
            <a:endParaRPr lang="en-GB" dirty="0"/>
          </a:p>
        </p:txBody>
      </p:sp>
      <p:sp>
        <p:nvSpPr>
          <p:cNvPr id="3" name="Subtitle 2">
            <a:extLst>
              <a:ext uri="{FF2B5EF4-FFF2-40B4-BE49-F238E27FC236}">
                <a16:creationId xmlns:a16="http://schemas.microsoft.com/office/drawing/2014/main" id="{CD5CB6F2-DE80-1F2D-8D28-ED36F8ABB7A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468404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B8FF01-F309-DDED-5312-A01F7DD67722}"/>
              </a:ext>
            </a:extLst>
          </p:cNvPr>
          <p:cNvSpPr txBox="1"/>
          <p:nvPr/>
        </p:nvSpPr>
        <p:spPr>
          <a:xfrm>
            <a:off x="1998452" y="596660"/>
            <a:ext cx="10078528" cy="6309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0" u="none" strike="noStrike" dirty="0">
                <a:latin typeface="Google Sans"/>
                <a:ea typeface="Google Sans"/>
                <a:cs typeface="Google Sans"/>
              </a:rPr>
              <a:t>Data-driven decision-making</a:t>
            </a:r>
            <a:r>
              <a:rPr lang="en-US" sz="2400" dirty="0"/>
              <a:t> (DDDM)</a:t>
            </a:r>
            <a:r>
              <a:rPr lang="en-US" sz="2000" dirty="0"/>
              <a:t> is the process of using facts, metrics, and data to guide strategic business decisions rather than relying on intuition or gut feelings. It involves collecting, analyzing, and interpreting data to optimize performance, minimize risks, and achieve organizational goals. This approach fosters a culture of objectivity, efficiency, and continuous improvement.</a:t>
            </a:r>
          </a:p>
          <a:p>
            <a:endParaRPr lang="en-US" sz="2000" dirty="0"/>
          </a:p>
          <a:p>
            <a:pPr marL="285750" indent="-285750">
              <a:buFont typeface="Arial"/>
              <a:buChar char="•"/>
            </a:pPr>
            <a:r>
              <a:rPr lang="en-US" sz="2000" b="1">
                <a:ea typeface="+mn-lt"/>
                <a:cs typeface="+mn-lt"/>
              </a:rPr>
              <a:t>Process:</a:t>
            </a:r>
            <a:r>
              <a:rPr lang="en-US" sz="2000">
                <a:ea typeface="+mn-lt"/>
                <a:cs typeface="+mn-lt"/>
              </a:rPr>
              <a:t> The process requires a structured approach: setting clear goals, gathering relevant data, analyzing it, and implementing changes based on findings.</a:t>
            </a:r>
            <a:endParaRPr lang="en-US" sz="2000" dirty="0"/>
          </a:p>
          <a:p>
            <a:pPr marL="285750" indent="-285750">
              <a:buFont typeface="Arial"/>
              <a:buChar char="•"/>
            </a:pPr>
            <a:r>
              <a:rPr lang="en-US" sz="2000" b="1">
                <a:ea typeface="+mn-lt"/>
                <a:cs typeface="+mn-lt"/>
              </a:rPr>
              <a:t>Data Types:</a:t>
            </a:r>
            <a:r>
              <a:rPr lang="en-US" sz="2000">
                <a:ea typeface="+mn-lt"/>
                <a:cs typeface="+mn-lt"/>
              </a:rPr>
              <a:t> Effective decisions often combine quantitative data (numbers, metrics) with qualitative data (customer feedback).</a:t>
            </a:r>
            <a:endParaRPr lang="en-US" sz="2000" dirty="0"/>
          </a:p>
          <a:p>
            <a:pPr marL="285750" indent="-285750">
              <a:buFont typeface="Arial"/>
              <a:buChar char="•"/>
            </a:pPr>
            <a:r>
              <a:rPr lang="en-US" sz="2000" b="1" dirty="0">
                <a:ea typeface="+mn-lt"/>
                <a:cs typeface="+mn-lt"/>
              </a:rPr>
              <a:t>Key Capabilities:</a:t>
            </a:r>
            <a:r>
              <a:rPr lang="en-US" sz="2000" dirty="0">
                <a:ea typeface="+mn-lt"/>
                <a:cs typeface="+mn-lt"/>
              </a:rPr>
              <a:t> Successful implementation requires cultivating a data-driven culture, improving data proficiency, and ensuring analytics agility.</a:t>
            </a:r>
            <a:endParaRPr lang="en-US" sz="2000" dirty="0"/>
          </a:p>
          <a:p>
            <a:endParaRPr lang="en-US" sz="2000" dirty="0"/>
          </a:p>
          <a:p>
            <a:r>
              <a:rPr lang="en-GB" sz="2000" b="1">
                <a:ea typeface="+mn-lt"/>
                <a:cs typeface="+mn-lt"/>
              </a:rPr>
              <a:t>Benefits of a Data-Driven Approach</a:t>
            </a:r>
            <a:endParaRPr lang="en-GB" sz="2000" dirty="0"/>
          </a:p>
          <a:p>
            <a:pPr marL="285750" indent="-285750">
              <a:buFont typeface="Arial"/>
              <a:buChar char="•"/>
            </a:pPr>
            <a:r>
              <a:rPr lang="en-GB" sz="2000" b="1">
                <a:ea typeface="+mn-lt"/>
                <a:cs typeface="+mn-lt"/>
              </a:rPr>
              <a:t>Increased Confidence:</a:t>
            </a:r>
            <a:r>
              <a:rPr lang="en-GB" sz="2000">
                <a:ea typeface="+mn-lt"/>
                <a:cs typeface="+mn-lt"/>
              </a:rPr>
              <a:t> Decisions backed by data reduce uncertainty and risk.</a:t>
            </a:r>
            <a:endParaRPr lang="en-GB" sz="2000" dirty="0"/>
          </a:p>
          <a:p>
            <a:pPr marL="285750" indent="-285750">
              <a:buFont typeface="Arial"/>
              <a:buChar char="•"/>
            </a:pPr>
            <a:r>
              <a:rPr lang="en-GB" sz="2000" b="1">
                <a:ea typeface="+mn-lt"/>
                <a:cs typeface="+mn-lt"/>
              </a:rPr>
              <a:t>Improved Efficiency:</a:t>
            </a:r>
            <a:r>
              <a:rPr lang="en-GB" sz="2000">
                <a:ea typeface="+mn-lt"/>
                <a:cs typeface="+mn-lt"/>
              </a:rPr>
              <a:t> Data reveals where time or money is wasted, allowing for better optimization.</a:t>
            </a:r>
            <a:endParaRPr lang="en-GB" sz="2000" dirty="0"/>
          </a:p>
          <a:p>
            <a:pPr marL="285750" indent="-285750">
              <a:buFont typeface="Arial"/>
              <a:buChar char="•"/>
            </a:pPr>
            <a:r>
              <a:rPr lang="en-GB" sz="2000" b="1" dirty="0">
                <a:ea typeface="+mn-lt"/>
                <a:cs typeface="+mn-lt"/>
              </a:rPr>
              <a:t>Enhanced Customer Experience:</a:t>
            </a:r>
            <a:r>
              <a:rPr lang="en-GB" sz="2000" dirty="0">
                <a:ea typeface="+mn-lt"/>
                <a:cs typeface="+mn-lt"/>
              </a:rPr>
              <a:t> Understanding user </a:t>
            </a:r>
            <a:r>
              <a:rPr lang="en-GB" sz="2000" dirty="0" err="1">
                <a:ea typeface="+mn-lt"/>
                <a:cs typeface="+mn-lt"/>
              </a:rPr>
              <a:t>behavior</a:t>
            </a:r>
            <a:r>
              <a:rPr lang="en-GB" sz="2000" dirty="0">
                <a:ea typeface="+mn-lt"/>
                <a:cs typeface="+mn-lt"/>
              </a:rPr>
              <a:t> through data helps tailor better products and services.</a:t>
            </a:r>
            <a:endParaRPr lang="en-GB" sz="2000" dirty="0"/>
          </a:p>
          <a:p>
            <a:endParaRPr lang="en-GB" sz="2000" dirty="0"/>
          </a:p>
        </p:txBody>
      </p:sp>
    </p:spTree>
    <p:extLst>
      <p:ext uri="{BB962C8B-B14F-4D97-AF65-F5344CB8AC3E}">
        <p14:creationId xmlns:p14="http://schemas.microsoft.com/office/powerpoint/2010/main" val="32009293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C83EC-930D-AABC-9623-38A9A246B175}"/>
              </a:ext>
            </a:extLst>
          </p:cNvPr>
          <p:cNvSpPr>
            <a:spLocks noGrp="1"/>
          </p:cNvSpPr>
          <p:nvPr>
            <p:ph type="ctrTitle"/>
          </p:nvPr>
        </p:nvSpPr>
        <p:spPr>
          <a:xfrm>
            <a:off x="1878854" y="1380068"/>
            <a:ext cx="10012358" cy="2616199"/>
          </a:xfrm>
        </p:spPr>
        <p:txBody>
          <a:bodyPr/>
          <a:lstStyle/>
          <a:p>
            <a:pPr algn="l"/>
            <a:r>
              <a:rPr lang="en-GB" dirty="0">
                <a:solidFill>
                  <a:srgbClr val="002060"/>
                </a:solidFill>
              </a:rPr>
              <a:t>6.  </a:t>
            </a:r>
            <a:r>
              <a:rPr lang="en-GB" sz="4800" b="1" dirty="0">
                <a:solidFill>
                  <a:srgbClr val="002060"/>
                </a:solidFill>
              </a:rPr>
              <a:t>Case Discussions / Real-</a:t>
            </a:r>
            <a:r>
              <a:rPr lang="en-GB" sz="4800" b="1">
                <a:solidFill>
                  <a:srgbClr val="002060"/>
                </a:solidFill>
              </a:rPr>
              <a:t>Life Examples</a:t>
            </a:r>
            <a:endParaRPr lang="en-US" sz="4800">
              <a:solidFill>
                <a:srgbClr val="002060"/>
              </a:solidFill>
            </a:endParaRPr>
          </a:p>
          <a:p>
            <a:endParaRPr lang="en-GB" dirty="0"/>
          </a:p>
        </p:txBody>
      </p:sp>
      <p:sp>
        <p:nvSpPr>
          <p:cNvPr id="3" name="Subtitle 2">
            <a:extLst>
              <a:ext uri="{FF2B5EF4-FFF2-40B4-BE49-F238E27FC236}">
                <a16:creationId xmlns:a16="http://schemas.microsoft.com/office/drawing/2014/main" id="{4D3605B5-5A19-FD86-A0C9-FE3961AAC0F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767416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881A-272A-3FAC-8BC3-229AE3DA65B2}"/>
              </a:ext>
            </a:extLst>
          </p:cNvPr>
          <p:cNvSpPr>
            <a:spLocks noGrp="1"/>
          </p:cNvSpPr>
          <p:nvPr>
            <p:ph type="title"/>
          </p:nvPr>
        </p:nvSpPr>
        <p:spPr/>
        <p:txBody>
          <a:bodyPr/>
          <a:lstStyle/>
          <a:p>
            <a:pPr marL="742950" indent="-742950">
              <a:buAutoNum type="alphaUcPeriod"/>
            </a:pPr>
            <a:r>
              <a:rPr lang="en-GB">
                <a:ea typeface="+mj-lt"/>
                <a:cs typeface="+mj-lt"/>
              </a:rPr>
              <a:t> What Is Scenario Analysis?</a:t>
            </a:r>
            <a:endParaRPr lang="en-US">
              <a:ea typeface="+mj-lt"/>
              <a:cs typeface="+mj-lt"/>
            </a:endParaRPr>
          </a:p>
          <a:p>
            <a:endParaRPr lang="en-GB" dirty="0"/>
          </a:p>
        </p:txBody>
      </p:sp>
      <p:sp>
        <p:nvSpPr>
          <p:cNvPr id="3" name="Content Placeholder 2">
            <a:extLst>
              <a:ext uri="{FF2B5EF4-FFF2-40B4-BE49-F238E27FC236}">
                <a16:creationId xmlns:a16="http://schemas.microsoft.com/office/drawing/2014/main" id="{C30E356D-1EF4-6D76-D0A5-6C7432641AFD}"/>
              </a:ext>
            </a:extLst>
          </p:cNvPr>
          <p:cNvSpPr>
            <a:spLocks noGrp="1"/>
          </p:cNvSpPr>
          <p:nvPr>
            <p:ph idx="1"/>
          </p:nvPr>
        </p:nvSpPr>
        <p:spPr/>
        <p:txBody>
          <a:bodyPr>
            <a:normAutofit/>
          </a:bodyPr>
          <a:lstStyle/>
          <a:p>
            <a:r>
              <a:rPr lang="en-GB">
                <a:ea typeface="+mn-lt"/>
                <a:cs typeface="+mn-lt"/>
              </a:rPr>
              <a:t>Scenario analysis is a strategic planning and risk management technique used to forecast potential future outcomes by simulating changes in key variables. Rather than relying on a single prediction, it models multiple plausible "what-if" situations—such as best-case, base-case, and worst-case scenarios—to guide data-driven decision-making and contingency planning</a:t>
            </a:r>
          </a:p>
        </p:txBody>
      </p:sp>
    </p:spTree>
    <p:extLst>
      <p:ext uri="{BB962C8B-B14F-4D97-AF65-F5344CB8AC3E}">
        <p14:creationId xmlns:p14="http://schemas.microsoft.com/office/powerpoint/2010/main" val="1704589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963D36-2CDF-C49B-C78B-CFE31D4039EA}"/>
              </a:ext>
            </a:extLst>
          </p:cNvPr>
          <p:cNvSpPr txBox="1"/>
          <p:nvPr/>
        </p:nvSpPr>
        <p:spPr>
          <a:xfrm>
            <a:off x="1854680" y="553528"/>
            <a:ext cx="10035395"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rtl="0">
              <a:buFont typeface=""/>
              <a:buChar char="•"/>
            </a:pPr>
            <a:r>
              <a:rPr lang="en-GB" sz="2000" b="1" baseline="0"/>
              <a:t>Common Scenario Types</a:t>
            </a:r>
            <a:r>
              <a:rPr lang="en-GB" sz="2000"/>
              <a:t>​</a:t>
            </a:r>
            <a:endParaRPr lang="en-GB" sz="2000" dirty="0"/>
          </a:p>
          <a:p>
            <a:pPr marL="228600" indent="-228600" rtl="0">
              <a:buFont typeface=""/>
              <a:buChar char="•"/>
            </a:pPr>
            <a:r>
              <a:rPr lang="en-GB" sz="2000" b="1" baseline="0" dirty="0"/>
              <a:t>Base Case:</a:t>
            </a:r>
            <a:r>
              <a:rPr lang="en-GB" sz="2000" baseline="0" dirty="0"/>
              <a:t> The status quo or the most likely outcome based on current forecasting and trends.</a:t>
            </a:r>
            <a:r>
              <a:rPr lang="en-GB" sz="2000" dirty="0"/>
              <a:t>​</a:t>
            </a:r>
          </a:p>
          <a:p>
            <a:pPr marL="228600" indent="-228600" rtl="0">
              <a:buFont typeface=""/>
              <a:buChar char="•"/>
            </a:pPr>
            <a:r>
              <a:rPr lang="en-GB" sz="2000" b="1" baseline="0" dirty="0"/>
              <a:t>Worst Case:</a:t>
            </a:r>
            <a:r>
              <a:rPr lang="en-GB" sz="2000" baseline="0" dirty="0"/>
              <a:t> A pessimistic projection estimating how a business or portfolio would perform during severe economic downturns, crises, or supply </a:t>
            </a:r>
            <a:r>
              <a:rPr lang="en-GB" sz="2000" baseline="0" dirty="0" err="1"/>
              <a:t>chainfailures</a:t>
            </a:r>
            <a:r>
              <a:rPr lang="en-GB" sz="2000" baseline="0" dirty="0"/>
              <a:t>.</a:t>
            </a:r>
            <a:r>
              <a:rPr lang="en-GB" sz="2000" dirty="0"/>
              <a:t>​</a:t>
            </a:r>
          </a:p>
          <a:p>
            <a:pPr marL="228600" indent="-228600" rtl="0">
              <a:buFont typeface=""/>
              <a:buChar char="•"/>
            </a:pPr>
            <a:r>
              <a:rPr lang="en-GB" sz="2000" b="1" baseline="0"/>
              <a:t>Best Case:</a:t>
            </a:r>
            <a:r>
              <a:rPr lang="en-GB" sz="2000" baseline="0"/>
              <a:t> An optimistic projection that outlines maximum potential growth and positive market conditions</a:t>
            </a:r>
            <a:r>
              <a:rPr lang="en-GB" sz="2000"/>
              <a:t>​</a:t>
            </a:r>
            <a:endParaRPr lang="en-GB" sz="2000" dirty="0"/>
          </a:p>
          <a:p>
            <a:pPr>
              <a:buFont typeface="Arial"/>
              <a:buChar char="•"/>
            </a:pPr>
            <a:r>
              <a:rPr lang="en-GB" sz="2000" b="1"/>
              <a:t>Benefits of Scenario Analysis</a:t>
            </a:r>
            <a:endParaRPr lang="en-GB" sz="2000" dirty="0"/>
          </a:p>
          <a:p>
            <a:pPr>
              <a:buFont typeface="Arial"/>
              <a:buChar char="•"/>
            </a:pPr>
            <a:r>
              <a:rPr lang="en-GB" sz="2000">
                <a:ea typeface="+mn-lt"/>
                <a:cs typeface="+mn-lt"/>
              </a:rPr>
              <a:t>Key benefits of scenario analysis include:</a:t>
            </a:r>
            <a:endParaRPr lang="en-GB" sz="2000" dirty="0"/>
          </a:p>
          <a:p>
            <a:pPr>
              <a:buFont typeface="Arial"/>
              <a:buChar char="•"/>
            </a:pPr>
            <a:r>
              <a:rPr lang="en-GB" sz="2000">
                <a:ea typeface="+mn-lt"/>
                <a:cs typeface="+mn-lt"/>
              </a:rPr>
              <a:t>It helps companies manage risks more proactively by assessing the impact of potential future events and situations.</a:t>
            </a:r>
            <a:endParaRPr lang="en-GB" sz="2000" dirty="0"/>
          </a:p>
          <a:p>
            <a:pPr>
              <a:buFont typeface="Arial"/>
              <a:buChar char="•"/>
            </a:pPr>
            <a:r>
              <a:rPr lang="en-GB" sz="2000">
                <a:ea typeface="+mn-lt"/>
                <a:cs typeface="+mn-lt"/>
              </a:rPr>
              <a:t>It can help businesses make better decisions by investigating the risks and benefits of different options.</a:t>
            </a:r>
            <a:endParaRPr lang="en-GB" sz="2000" dirty="0"/>
          </a:p>
          <a:p>
            <a:pPr>
              <a:buFont typeface="Arial"/>
              <a:buChar char="•"/>
            </a:pPr>
            <a:r>
              <a:rPr lang="en-GB" sz="2000" dirty="0">
                <a:ea typeface="+mn-lt"/>
                <a:cs typeface="+mn-lt"/>
              </a:rPr>
              <a:t>The methodical approach to </a:t>
            </a:r>
            <a:r>
              <a:rPr lang="en-GB" sz="2000" dirty="0" err="1">
                <a:ea typeface="+mn-lt"/>
                <a:cs typeface="+mn-lt"/>
              </a:rPr>
              <a:t>analyzing</a:t>
            </a:r>
            <a:r>
              <a:rPr lang="en-GB" sz="2000" dirty="0">
                <a:ea typeface="+mn-lt"/>
                <a:cs typeface="+mn-lt"/>
              </a:rPr>
              <a:t> the future may enable companies to spot opportunities or risks that might otherwise be overlooked.</a:t>
            </a:r>
            <a:endParaRPr lang="en-GB" sz="2000" dirty="0"/>
          </a:p>
          <a:p>
            <a:pPr>
              <a:buFont typeface="Arial"/>
              <a:buChar char="•"/>
            </a:pPr>
            <a:r>
              <a:rPr lang="en-GB" sz="2000">
                <a:ea typeface="+mn-lt"/>
                <a:cs typeface="+mn-lt"/>
              </a:rPr>
              <a:t>It can make communication with stakeholders more productive by using well-defined future scenarios. It also increases the likelihood of gaining support for strategic decisions.</a:t>
            </a:r>
            <a:endParaRPr lang="en-GB" sz="2000" dirty="0"/>
          </a:p>
          <a:p>
            <a:pPr>
              <a:buFont typeface="Arial"/>
              <a:buChar char="•"/>
            </a:pPr>
            <a:r>
              <a:rPr lang="en-GB" sz="2000">
                <a:ea typeface="+mn-lt"/>
                <a:cs typeface="+mn-lt"/>
              </a:rPr>
              <a:t>It improves resource allocation by helping organizations prioritize investments and efforts based on potential future impacts.</a:t>
            </a:r>
            <a:endParaRPr lang="en-GB" sz="2000" dirty="0"/>
          </a:p>
          <a:p>
            <a:pPr marL="228600" indent="-228600">
              <a:buFont typeface=""/>
              <a:buChar char="•"/>
            </a:pPr>
            <a:endParaRPr lang="en-GB" sz="2000" dirty="0"/>
          </a:p>
          <a:p>
            <a:pPr algn="ctr"/>
            <a:endParaRPr lang="en-GB" sz="2000" dirty="0"/>
          </a:p>
        </p:txBody>
      </p:sp>
    </p:spTree>
    <p:extLst>
      <p:ext uri="{BB962C8B-B14F-4D97-AF65-F5344CB8AC3E}">
        <p14:creationId xmlns:p14="http://schemas.microsoft.com/office/powerpoint/2010/main" val="35149928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4E06B-5EE4-AD8F-15BB-121F42B5EA1A}"/>
              </a:ext>
            </a:extLst>
          </p:cNvPr>
          <p:cNvSpPr>
            <a:spLocks noGrp="1"/>
          </p:cNvSpPr>
          <p:nvPr>
            <p:ph type="ctrTitle"/>
          </p:nvPr>
        </p:nvSpPr>
        <p:spPr/>
        <p:txBody>
          <a:bodyPr>
            <a:normAutofit fontScale="90000"/>
          </a:bodyPr>
          <a:lstStyle/>
          <a:p>
            <a:r>
              <a:rPr lang="en-GB">
                <a:solidFill>
                  <a:srgbClr val="002060"/>
                </a:solidFill>
              </a:rPr>
              <a:t>7.  </a:t>
            </a:r>
            <a:r>
              <a:rPr lang="en-GB" b="1">
                <a:solidFill>
                  <a:srgbClr val="002060"/>
                </a:solidFill>
              </a:rPr>
              <a:t>Introduction to Data Governance &amp; Data Ethics</a:t>
            </a:r>
            <a:endParaRPr lang="en-US">
              <a:solidFill>
                <a:srgbClr val="002060"/>
              </a:solidFill>
            </a:endParaRPr>
          </a:p>
          <a:p>
            <a:endParaRPr lang="en-GB" dirty="0"/>
          </a:p>
        </p:txBody>
      </p:sp>
      <p:sp>
        <p:nvSpPr>
          <p:cNvPr id="3" name="Subtitle 2">
            <a:extLst>
              <a:ext uri="{FF2B5EF4-FFF2-40B4-BE49-F238E27FC236}">
                <a16:creationId xmlns:a16="http://schemas.microsoft.com/office/drawing/2014/main" id="{A35B68C5-8E95-96A1-41B0-B4ADA9C0D6B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924681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3629-137D-01B9-6E1E-6E55DE832BE1}"/>
              </a:ext>
            </a:extLst>
          </p:cNvPr>
          <p:cNvSpPr>
            <a:spLocks noGrp="1"/>
          </p:cNvSpPr>
          <p:nvPr>
            <p:ph type="title"/>
          </p:nvPr>
        </p:nvSpPr>
        <p:spPr/>
        <p:txBody>
          <a:bodyPr/>
          <a:lstStyle/>
          <a:p>
            <a:r>
              <a:rPr lang="en-GB">
                <a:ea typeface="+mj-lt"/>
                <a:cs typeface="+mj-lt"/>
              </a:rPr>
              <a:t>What is data governance?</a:t>
            </a:r>
            <a:endParaRPr lang="en-US">
              <a:ea typeface="+mj-lt"/>
              <a:cs typeface="+mj-lt"/>
            </a:endParaRPr>
          </a:p>
        </p:txBody>
      </p:sp>
      <p:sp>
        <p:nvSpPr>
          <p:cNvPr id="3" name="Content Placeholder 2">
            <a:extLst>
              <a:ext uri="{FF2B5EF4-FFF2-40B4-BE49-F238E27FC236}">
                <a16:creationId xmlns:a16="http://schemas.microsoft.com/office/drawing/2014/main" id="{E3B5C04A-09D6-5DC7-98A9-3455D8B28B84}"/>
              </a:ext>
            </a:extLst>
          </p:cNvPr>
          <p:cNvSpPr>
            <a:spLocks noGrp="1"/>
          </p:cNvSpPr>
          <p:nvPr>
            <p:ph idx="1"/>
          </p:nvPr>
        </p:nvSpPr>
        <p:spPr/>
        <p:txBody>
          <a:bodyPr>
            <a:normAutofit/>
          </a:bodyPr>
          <a:lstStyle/>
          <a:p>
            <a:r>
              <a:rPr lang="en-GB">
                <a:ea typeface="+mn-lt"/>
                <a:cs typeface="+mn-lt"/>
              </a:rPr>
              <a:t>Data governance is the structured, organization-wide framework of policies, roles, and standards that manages data as a strategic asset. It ensures that data remains high-quality, secure, and accessible throughout its lifecycle, enabling trusted, compliant, and efficient usage for business analytics, AI, and decision-making</a:t>
            </a:r>
          </a:p>
        </p:txBody>
      </p:sp>
    </p:spTree>
    <p:extLst>
      <p:ext uri="{BB962C8B-B14F-4D97-AF65-F5344CB8AC3E}">
        <p14:creationId xmlns:p14="http://schemas.microsoft.com/office/powerpoint/2010/main" val="363891195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83BDC5-9EDE-7A5C-48B0-9FC5C7D0D984}"/>
              </a:ext>
            </a:extLst>
          </p:cNvPr>
          <p:cNvSpPr txBox="1"/>
          <p:nvPr/>
        </p:nvSpPr>
        <p:spPr>
          <a:xfrm>
            <a:off x="1509623" y="380999"/>
            <a:ext cx="10509849" cy="60847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000000"/>
                </a:solidFill>
                <a:latin typeface="Corbel"/>
                <a:ea typeface="Segoe UI"/>
                <a:cs typeface="Segoe UI"/>
              </a:rPr>
              <a:t>Benefits</a:t>
            </a:r>
            <a:endParaRPr lang="en-GB" sz="2400">
              <a:solidFill>
                <a:srgbClr val="000000"/>
              </a:solidFill>
              <a:latin typeface="Corbel"/>
              <a:ea typeface="Segoe UI"/>
              <a:cs typeface="Segoe UI"/>
            </a:endParaRPr>
          </a:p>
          <a:p>
            <a:pPr marL="342900" indent="-342900">
              <a:spcBef>
                <a:spcPct val="20000"/>
              </a:spcBef>
              <a:spcAft>
                <a:spcPts val="600"/>
              </a:spcAft>
              <a:buFont typeface="Arial"/>
              <a:buChar char="•"/>
            </a:pPr>
            <a:r>
              <a:rPr lang="en-GB" sz="2400" b="1" dirty="0">
                <a:solidFill>
                  <a:srgbClr val="000000"/>
                </a:solidFill>
                <a:latin typeface="Corbel"/>
                <a:ea typeface="Segoe UI"/>
                <a:cs typeface="Segoe UI"/>
              </a:rPr>
              <a:t>Improved Decision Making:</a:t>
            </a:r>
            <a:r>
              <a:rPr lang="en-GB" sz="2400" dirty="0">
                <a:solidFill>
                  <a:srgbClr val="000000"/>
                </a:solidFill>
                <a:latin typeface="Corbel"/>
                <a:ea typeface="Segoe UI"/>
                <a:cs typeface="Segoe UI"/>
              </a:rPr>
              <a:t> Decisions are based on accurate and </a:t>
            </a:r>
            <a:r>
              <a:rPr lang="en-GB" sz="2400" dirty="0" err="1">
                <a:solidFill>
                  <a:srgbClr val="000000"/>
                </a:solidFill>
                <a:latin typeface="Corbel"/>
                <a:ea typeface="Segoe UI"/>
                <a:cs typeface="Segoe UI"/>
              </a:rPr>
              <a:t>trusteddata</a:t>
            </a:r>
            <a:r>
              <a:rPr lang="en-GB" sz="2400" dirty="0">
                <a:solidFill>
                  <a:srgbClr val="000000"/>
                </a:solidFill>
                <a:latin typeface="Corbel"/>
                <a:ea typeface="Segoe UI"/>
                <a:cs typeface="Segoe UI"/>
              </a:rPr>
              <a:t>, reducing risk and operational inefficiencies.</a:t>
            </a:r>
            <a:endParaRPr lang="en-US" sz="2400">
              <a:solidFill>
                <a:srgbClr val="000000"/>
              </a:solidFill>
              <a:latin typeface="Corbel"/>
              <a:ea typeface="Segoe UI"/>
              <a:cs typeface="Segoe UI"/>
            </a:endParaRPr>
          </a:p>
          <a:p>
            <a:pPr marL="285750" indent="-285750">
              <a:spcBef>
                <a:spcPct val="20000"/>
              </a:spcBef>
              <a:spcAft>
                <a:spcPts val="600"/>
              </a:spcAft>
              <a:buFont typeface="Arial"/>
              <a:buChar char="•"/>
            </a:pPr>
            <a:r>
              <a:rPr lang="en-GB" sz="2400" b="1" dirty="0">
                <a:solidFill>
                  <a:srgbClr val="000000"/>
                </a:solidFill>
                <a:latin typeface="Corbel"/>
                <a:ea typeface="Segoe UI"/>
                <a:cs typeface="Segoe UI"/>
              </a:rPr>
              <a:t>Increased Security:</a:t>
            </a:r>
            <a:r>
              <a:rPr lang="en-GB" sz="2400" dirty="0">
                <a:solidFill>
                  <a:srgbClr val="000000"/>
                </a:solidFill>
                <a:latin typeface="Corbel"/>
                <a:ea typeface="Segoe UI"/>
                <a:cs typeface="Segoe UI"/>
              </a:rPr>
              <a:t> Proactive, strict data access controls protect </a:t>
            </a:r>
            <a:r>
              <a:rPr lang="en-GB" sz="2400" dirty="0" err="1">
                <a:solidFill>
                  <a:srgbClr val="000000"/>
                </a:solidFill>
                <a:latin typeface="Corbel"/>
                <a:ea typeface="Segoe UI"/>
                <a:cs typeface="Segoe UI"/>
              </a:rPr>
              <a:t>againstcyberattacks</a:t>
            </a:r>
            <a:r>
              <a:rPr lang="en-GB" sz="2400" dirty="0">
                <a:solidFill>
                  <a:srgbClr val="000000"/>
                </a:solidFill>
                <a:latin typeface="Corbel"/>
                <a:ea typeface="Segoe UI"/>
                <a:cs typeface="Segoe UI"/>
              </a:rPr>
              <a:t> and data leaks.</a:t>
            </a:r>
            <a:endParaRPr lang="en-US" sz="2400" dirty="0">
              <a:solidFill>
                <a:srgbClr val="000000"/>
              </a:solidFill>
              <a:latin typeface="Corbel"/>
              <a:ea typeface="Segoe UI"/>
              <a:cs typeface="Segoe UI"/>
            </a:endParaRPr>
          </a:p>
          <a:p>
            <a:pPr marL="285750" indent="-285750">
              <a:spcBef>
                <a:spcPct val="20000"/>
              </a:spcBef>
              <a:spcAft>
                <a:spcPts val="600"/>
              </a:spcAft>
              <a:buFont typeface="Arial"/>
              <a:buChar char="•"/>
            </a:pPr>
            <a:r>
              <a:rPr lang="en-GB" sz="2400" b="1" dirty="0">
                <a:solidFill>
                  <a:srgbClr val="000000"/>
                </a:solidFill>
                <a:latin typeface="Corbel"/>
                <a:ea typeface="Segoe UI"/>
                <a:cs typeface="Segoe UI"/>
              </a:rPr>
              <a:t>Regulatory Compliance:</a:t>
            </a:r>
            <a:r>
              <a:rPr lang="en-GB" sz="2400" dirty="0">
                <a:solidFill>
                  <a:srgbClr val="000000"/>
                </a:solidFill>
                <a:latin typeface="Corbel"/>
                <a:ea typeface="Segoe UI"/>
                <a:cs typeface="Segoe UI"/>
              </a:rPr>
              <a:t> Reduces risk of fines from regulations like GDPR </a:t>
            </a:r>
            <a:r>
              <a:rPr lang="en-GB" sz="2400">
                <a:solidFill>
                  <a:srgbClr val="000000"/>
                </a:solidFill>
                <a:latin typeface="Corbel"/>
                <a:ea typeface="Segoe UI"/>
                <a:cs typeface="Segoe UI"/>
              </a:rPr>
              <a:t>orCCPA</a:t>
            </a:r>
            <a:endParaRPr lang="en-US" sz="2400">
              <a:solidFill>
                <a:srgbClr val="000000"/>
              </a:solidFill>
              <a:latin typeface="Corbel"/>
              <a:ea typeface="Segoe UI"/>
              <a:cs typeface="Segoe UI"/>
            </a:endParaRPr>
          </a:p>
          <a:p>
            <a:r>
              <a:rPr lang="en-GB" sz="2400" b="1"/>
              <a:t>How data governance works </a:t>
            </a:r>
          </a:p>
          <a:p>
            <a:pPr>
              <a:buFont typeface="Arial"/>
              <a:buChar char="•"/>
            </a:pPr>
            <a:r>
              <a:rPr lang="en-GB" sz="2400" dirty="0">
                <a:solidFill>
                  <a:srgbClr val="000000"/>
                </a:solidFill>
                <a:ea typeface="+mn-lt"/>
                <a:cs typeface="+mn-lt"/>
              </a:rPr>
              <a:t>Data governance works by establishing clear guidelines and procedures for data management. This includes: </a:t>
            </a:r>
            <a:endParaRPr lang="en-GB" dirty="0">
              <a:ea typeface="+mn-lt"/>
              <a:cs typeface="+mn-lt"/>
            </a:endParaRPr>
          </a:p>
          <a:p>
            <a:pPr>
              <a:buFont typeface="Arial"/>
              <a:buChar char="•"/>
            </a:pPr>
            <a:r>
              <a:rPr lang="en-GB" sz="2400">
                <a:solidFill>
                  <a:srgbClr val="000000"/>
                </a:solidFill>
                <a:ea typeface="+mn-lt"/>
                <a:cs typeface="+mn-lt"/>
              </a:rPr>
              <a:t>defining who can access data, </a:t>
            </a:r>
            <a:endParaRPr lang="en-GB">
              <a:ea typeface="+mn-lt"/>
              <a:cs typeface="+mn-lt"/>
            </a:endParaRPr>
          </a:p>
          <a:p>
            <a:pPr>
              <a:buFont typeface="Arial"/>
              <a:buChar char="•"/>
            </a:pPr>
            <a:r>
              <a:rPr lang="en-GB" sz="2400">
                <a:solidFill>
                  <a:srgbClr val="000000"/>
                </a:solidFill>
                <a:ea typeface="+mn-lt"/>
                <a:cs typeface="+mn-lt"/>
              </a:rPr>
              <a:t>how it can be used, </a:t>
            </a:r>
            <a:endParaRPr lang="en-GB">
              <a:ea typeface="+mn-lt"/>
              <a:cs typeface="+mn-lt"/>
            </a:endParaRPr>
          </a:p>
          <a:p>
            <a:pPr>
              <a:buFont typeface="Arial"/>
              <a:buChar char="•"/>
            </a:pPr>
            <a:r>
              <a:rPr lang="en-GB" sz="2400" dirty="0">
                <a:solidFill>
                  <a:srgbClr val="000000"/>
                </a:solidFill>
                <a:ea typeface="+mn-lt"/>
                <a:cs typeface="+mn-lt"/>
              </a:rPr>
              <a:t>and who is responsible for maintaining its accuracy and security. </a:t>
            </a:r>
            <a:endParaRPr lang="en-GB" dirty="0">
              <a:ea typeface="+mn-lt"/>
              <a:cs typeface="+mn-lt"/>
            </a:endParaRPr>
          </a:p>
          <a:p>
            <a:pPr>
              <a:buFont typeface="Arial"/>
              <a:buChar char="•"/>
            </a:pPr>
            <a:r>
              <a:rPr lang="en-GB" sz="2400">
                <a:solidFill>
                  <a:srgbClr val="000000"/>
                </a:solidFill>
                <a:ea typeface="+mn-lt"/>
                <a:cs typeface="+mn-lt"/>
              </a:rPr>
              <a:t>It involves collaboration across different departments to align data management with organisational goals and compliance requirements.</a:t>
            </a:r>
            <a:endParaRPr lang="en-GB">
              <a:ea typeface="+mn-lt"/>
              <a:cs typeface="+mn-lt"/>
            </a:endParaRPr>
          </a:p>
        </p:txBody>
      </p:sp>
    </p:spTree>
    <p:extLst>
      <p:ext uri="{BB962C8B-B14F-4D97-AF65-F5344CB8AC3E}">
        <p14:creationId xmlns:p14="http://schemas.microsoft.com/office/powerpoint/2010/main" val="30606465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8EAB-AFA5-D435-448B-F93B22A145EA}"/>
              </a:ext>
            </a:extLst>
          </p:cNvPr>
          <p:cNvSpPr>
            <a:spLocks noGrp="1"/>
          </p:cNvSpPr>
          <p:nvPr>
            <p:ph type="title"/>
          </p:nvPr>
        </p:nvSpPr>
        <p:spPr/>
        <p:txBody>
          <a:bodyPr>
            <a:normAutofit/>
          </a:bodyPr>
          <a:lstStyle/>
          <a:p>
            <a:r>
              <a:rPr lang="en-GB">
                <a:ea typeface="+mj-lt"/>
                <a:cs typeface="+mj-lt"/>
              </a:rPr>
              <a:t>What is meant by the ethical use of data?</a:t>
            </a:r>
            <a:endParaRPr lang="en-US">
              <a:ea typeface="+mj-lt"/>
              <a:cs typeface="+mj-lt"/>
            </a:endParaRPr>
          </a:p>
        </p:txBody>
      </p:sp>
      <p:sp>
        <p:nvSpPr>
          <p:cNvPr id="3" name="Content Placeholder 2">
            <a:extLst>
              <a:ext uri="{FF2B5EF4-FFF2-40B4-BE49-F238E27FC236}">
                <a16:creationId xmlns:a16="http://schemas.microsoft.com/office/drawing/2014/main" id="{3A062C7E-219B-9349-118A-1348D13DC303}"/>
              </a:ext>
            </a:extLst>
          </p:cNvPr>
          <p:cNvSpPr>
            <a:spLocks noGrp="1"/>
          </p:cNvSpPr>
          <p:nvPr>
            <p:ph idx="1"/>
          </p:nvPr>
        </p:nvSpPr>
        <p:spPr/>
        <p:txBody>
          <a:bodyPr/>
          <a:lstStyle/>
          <a:p>
            <a:r>
              <a:rPr lang="en-GB">
                <a:ea typeface="+mn-lt"/>
                <a:cs typeface="+mn-lt"/>
              </a:rPr>
              <a:t>A branch of ethics that evaluates data practices with the potential to adversely impact on people and society - in data collection, sharing and use." This means ethics in data isn't just about compliance; it's about considering the impact of data activities at every stage of the data lifecycle</a:t>
            </a:r>
          </a:p>
        </p:txBody>
      </p:sp>
    </p:spTree>
    <p:extLst>
      <p:ext uri="{BB962C8B-B14F-4D97-AF65-F5344CB8AC3E}">
        <p14:creationId xmlns:p14="http://schemas.microsoft.com/office/powerpoint/2010/main" val="41031236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9188</Words>
  <Application>Microsoft Office PowerPoint</Application>
  <PresentationFormat>Widescreen</PresentationFormat>
  <Paragraphs>583</Paragraphs>
  <Slides>103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103</vt:i4>
      </vt:variant>
    </vt:vector>
  </HeadingPairs>
  <TitlesOfParts>
    <vt:vector size="113" baseType="lpstr">
      <vt:lpstr>__Raleway_504afd</vt:lpstr>
      <vt:lpstr>Arial</vt:lpstr>
      <vt:lpstr>Calibri</vt:lpstr>
      <vt:lpstr>Consolas</vt:lpstr>
      <vt:lpstr>Corbel</vt:lpstr>
      <vt:lpstr>Google Sans</vt:lpstr>
      <vt:lpstr>inherit</vt:lpstr>
      <vt:lpstr>Lato</vt:lpstr>
      <vt:lpstr>Verdana</vt:lpstr>
      <vt:lpstr>Parallax</vt:lpstr>
      <vt:lpstr>INFORMATION  TECHNOLOGY</vt:lpstr>
      <vt:lpstr>       1.Introduction to IT and Business System </vt:lpstr>
      <vt:lpstr>WHAT IS INFORMATION TECHNOLOGY?</vt:lpstr>
      <vt:lpstr>DIFFERENCE BETWEEN IT AND COMPUTER SCIENCE? </vt:lpstr>
      <vt:lpstr>WHY IS INFORMATION TECHNOLOGY IMPORTANT? </vt:lpstr>
      <vt:lpstr>CORE COMPONENTS OF IT</vt:lpstr>
      <vt:lpstr>COMPUTER HARDWARE</vt:lpstr>
      <vt:lpstr>COMPUTER - SOFTWARE  TYPE</vt:lpstr>
      <vt:lpstr>System Software   </vt:lpstr>
      <vt:lpstr>Language Processor</vt:lpstr>
      <vt:lpstr>Networks Software </vt:lpstr>
      <vt:lpstr>Database Management Systems (DBMS)</vt:lpstr>
      <vt:lpstr>Type of DBMS</vt:lpstr>
      <vt:lpstr>My SQL vs. SQL</vt:lpstr>
      <vt:lpstr>Excel and SQL</vt:lpstr>
      <vt:lpstr>Excel vs. SQL: What’s the Difference? </vt:lpstr>
      <vt:lpstr>SQL Command Categories </vt:lpstr>
      <vt:lpstr>Data Definition Language (DDL) </vt:lpstr>
      <vt:lpstr>Data Manipulation Language (DML)</vt:lpstr>
      <vt:lpstr>Data Control Language (DCL)</vt:lpstr>
      <vt:lpstr>Transaction Control Language (TCL) </vt:lpstr>
      <vt:lpstr>Security Systems</vt:lpstr>
      <vt:lpstr>Cloud Computing</vt:lpstr>
      <vt:lpstr>Emerging technologies</vt:lpstr>
      <vt:lpstr>Application of IT in Business</vt:lpstr>
      <vt:lpstr>PowerPoint Presentation</vt:lpstr>
      <vt:lpstr>PowerPoint Presentation</vt:lpstr>
      <vt:lpstr>IT Impact on Education</vt:lpstr>
      <vt:lpstr>IT Impact on Society</vt:lpstr>
      <vt:lpstr>The role of Information Technology in Modern Business</vt:lpstr>
      <vt:lpstr>Key role of IT in modern business </vt:lpstr>
      <vt:lpstr>      Importance of information systems for businesses.</vt:lpstr>
      <vt:lpstr>Enterprise Resource Planning</vt:lpstr>
      <vt:lpstr>Key Features of  ERP Systems</vt:lpstr>
      <vt:lpstr>PowerPoint Presentation</vt:lpstr>
      <vt:lpstr>Core Modules in ERP</vt:lpstr>
      <vt:lpstr>Benefits of ERP </vt:lpstr>
      <vt:lpstr>Popular ERP systems </vt:lpstr>
      <vt:lpstr>How Enterprise Resource Planning Platforms Work</vt:lpstr>
      <vt:lpstr>Comprehensive integration of core business functions...  </vt:lpstr>
      <vt:lpstr>                        A centralized database  </vt:lpstr>
      <vt:lpstr>Automation of routine tasks  </vt:lpstr>
      <vt:lpstr>Real-time analytics and reporting  </vt:lpstr>
      <vt:lpstr>Cloud-based deployment options  </vt:lpstr>
      <vt:lpstr>Compliance and risk management  </vt:lpstr>
      <vt:lpstr>A modular architecture and mobile accessibility  </vt:lpstr>
      <vt:lpstr>Types of ERP software  </vt:lpstr>
      <vt:lpstr>PowerPoint Presentation</vt:lpstr>
      <vt:lpstr>              Key benefits of ERP for businesses  </vt:lpstr>
      <vt:lpstr>PowerPoint Presentation</vt:lpstr>
      <vt:lpstr>PowerPoint Presentation</vt:lpstr>
      <vt:lpstr>Customer Relationship Management(CRM)</vt:lpstr>
      <vt:lpstr>Differences between ERP and CRM </vt:lpstr>
      <vt:lpstr>Differences between ERP and CRM  </vt:lpstr>
      <vt:lpstr>Disadvantage of ERP</vt:lpstr>
      <vt:lpstr>The relationship between Business strategy ,IT strategy and Alignment capability</vt:lpstr>
      <vt:lpstr>1. Business Strategy  </vt:lpstr>
      <vt:lpstr>2. IT Strategy  </vt:lpstr>
      <vt:lpstr>3. Alignment Capability   </vt:lpstr>
      <vt:lpstr>How they Work Together</vt:lpstr>
      <vt:lpstr>PowerPoint Presentation</vt:lpstr>
      <vt:lpstr>PowerPoint Presentation</vt:lpstr>
      <vt:lpstr>2.Data types , Sources and Lifecycle </vt:lpstr>
      <vt:lpstr>A. Understanding different Data types Difference between Structured, Semi-structured and Unstructured data  </vt:lpstr>
      <vt:lpstr>Structured data</vt:lpstr>
      <vt:lpstr>Semi-Structured data</vt:lpstr>
      <vt:lpstr>Unstructured data </vt:lpstr>
      <vt:lpstr>B. Common Data sources</vt:lpstr>
      <vt:lpstr>1. Internal Data </vt:lpstr>
      <vt:lpstr>2. External Data</vt:lpstr>
      <vt:lpstr>3. Third-Party Data</vt:lpstr>
      <vt:lpstr>4. Open Data</vt:lpstr>
      <vt:lpstr>C. Data collection methods</vt:lpstr>
      <vt:lpstr>                           Qualitative Data </vt:lpstr>
      <vt:lpstr>                     Quantitative Data  </vt:lpstr>
      <vt:lpstr>Primary data </vt:lpstr>
      <vt:lpstr>Secondary data</vt:lpstr>
      <vt:lpstr>D. data lifecycle management  </vt:lpstr>
      <vt:lpstr>E.  Data Integrity and Data Quality </vt:lpstr>
      <vt:lpstr>3.Introduction to Business Analyst Role </vt:lpstr>
      <vt:lpstr>definition and responsibilities of data analyst</vt:lpstr>
      <vt:lpstr>Key Responsibilities of a Business Analyst: </vt:lpstr>
      <vt:lpstr>B.  Skills of a Business Analyst Differences between Business Analysis and Business Analytics  </vt:lpstr>
      <vt:lpstr>The Tools Used by Business Analysts</vt:lpstr>
      <vt:lpstr>C.  Business Analysis Methodologies</vt:lpstr>
      <vt:lpstr>                                       Water fall . </vt:lpstr>
      <vt:lpstr>PowerPoint Presentation</vt:lpstr>
      <vt:lpstr>Agile methodology</vt:lpstr>
      <vt:lpstr>PowerPoint Presentation</vt:lpstr>
      <vt:lpstr>Agile vs. Waterfall</vt:lpstr>
      <vt:lpstr>PowerPoint Presentation</vt:lpstr>
      <vt:lpstr>D.  Stakeholder management</vt:lpstr>
      <vt:lpstr>4.  Data vs. Information </vt:lpstr>
      <vt:lpstr> Distinguishing Raw data from processed information</vt:lpstr>
      <vt:lpstr>5.  Overview of Data-Driven Decision Making </vt:lpstr>
      <vt:lpstr>PowerPoint Presentation</vt:lpstr>
      <vt:lpstr>6.  Case Discussions / Real-Life Examples </vt:lpstr>
      <vt:lpstr> What Is Scenario Analysis? </vt:lpstr>
      <vt:lpstr>PowerPoint Presentation</vt:lpstr>
      <vt:lpstr>7.  Introduction to Data Governance &amp; Data Ethics </vt:lpstr>
      <vt:lpstr>What is data governance?</vt:lpstr>
      <vt:lpstr>PowerPoint Presentation</vt:lpstr>
      <vt:lpstr>What is meant by the ethical use of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Rittika Ghosh</dc:creator>
  <cp:lastModifiedBy>Rittika Ghosh</cp:lastModifiedBy>
  <cp:revision>1551</cp:revision>
  <dcterms:created xsi:type="dcterms:W3CDTF">2026-05-06T15:55:30Z</dcterms:created>
  <dcterms:modified xsi:type="dcterms:W3CDTF">2026-05-14T17:03:54Z</dcterms:modified>
</cp:coreProperties>
</file>