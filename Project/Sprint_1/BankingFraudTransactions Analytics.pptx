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Telegraf" panose="020B0604020202020204" charset="0"/>
      <p:regular r:id="rId21"/>
    </p:embeddedFont>
    <p:embeddedFont>
      <p:font typeface="Telegraf Bold" panose="020B0604020202020204" charset="0"/>
      <p:regular r:id="rId22"/>
    </p:embeddedFont>
    <p:embeddedFont>
      <p:font typeface="Telegraf Medium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8" d="100"/>
          <a:sy n="48" d="100"/>
        </p:scale>
        <p:origin x="420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134817"/>
            <a:ext cx="4262392" cy="669144"/>
            <a:chOff x="0" y="0"/>
            <a:chExt cx="3367816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67816" cy="528706"/>
            </a:xfrm>
            <a:custGeom>
              <a:avLst/>
              <a:gdLst/>
              <a:ahLst/>
              <a:cxnLst/>
              <a:rect l="l" t="t" r="r" b="b"/>
              <a:pathLst>
                <a:path w="3367816" h="528706">
                  <a:moveTo>
                    <a:pt x="36327" y="0"/>
                  </a:moveTo>
                  <a:lnTo>
                    <a:pt x="3331489" y="0"/>
                  </a:lnTo>
                  <a:cubicBezTo>
                    <a:pt x="3341124" y="0"/>
                    <a:pt x="3350363" y="3827"/>
                    <a:pt x="3357176" y="10640"/>
                  </a:cubicBezTo>
                  <a:cubicBezTo>
                    <a:pt x="3363988" y="17452"/>
                    <a:pt x="3367816" y="26692"/>
                    <a:pt x="3367816" y="36327"/>
                  </a:cubicBezTo>
                  <a:lnTo>
                    <a:pt x="3367816" y="492380"/>
                  </a:lnTo>
                  <a:cubicBezTo>
                    <a:pt x="3367816" y="502014"/>
                    <a:pt x="3363988" y="511254"/>
                    <a:pt x="3357176" y="518066"/>
                  </a:cubicBezTo>
                  <a:cubicBezTo>
                    <a:pt x="3350363" y="524879"/>
                    <a:pt x="3341124" y="528706"/>
                    <a:pt x="3331489" y="528706"/>
                  </a:cubicBezTo>
                  <a:lnTo>
                    <a:pt x="36327" y="528706"/>
                  </a:lnTo>
                  <a:cubicBezTo>
                    <a:pt x="26692" y="528706"/>
                    <a:pt x="17452" y="524879"/>
                    <a:pt x="10640" y="518066"/>
                  </a:cubicBezTo>
                  <a:cubicBezTo>
                    <a:pt x="3827" y="511254"/>
                    <a:pt x="0" y="502014"/>
                    <a:pt x="0" y="492380"/>
                  </a:cubicBezTo>
                  <a:lnTo>
                    <a:pt x="0" y="36327"/>
                  </a:lnTo>
                  <a:cubicBezTo>
                    <a:pt x="0" y="26692"/>
                    <a:pt x="3827" y="17452"/>
                    <a:pt x="10640" y="10640"/>
                  </a:cubicBezTo>
                  <a:cubicBezTo>
                    <a:pt x="17452" y="3827"/>
                    <a:pt x="26692" y="0"/>
                    <a:pt x="36327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367816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30350" y="1028700"/>
            <a:ext cx="3028950" cy="8229600"/>
            <a:chOff x="0" y="0"/>
            <a:chExt cx="2393244" cy="6502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93244" cy="6502400"/>
            </a:xfrm>
            <a:custGeom>
              <a:avLst/>
              <a:gdLst/>
              <a:ahLst/>
              <a:cxnLst/>
              <a:rect l="l" t="t" r="r" b="b"/>
              <a:pathLst>
                <a:path w="2393244" h="6502400">
                  <a:moveTo>
                    <a:pt x="89459" y="0"/>
                  </a:moveTo>
                  <a:lnTo>
                    <a:pt x="2303785" y="0"/>
                  </a:lnTo>
                  <a:cubicBezTo>
                    <a:pt x="2353192" y="0"/>
                    <a:pt x="2393244" y="40052"/>
                    <a:pt x="2393244" y="89459"/>
                  </a:cubicBezTo>
                  <a:lnTo>
                    <a:pt x="2393244" y="6412941"/>
                  </a:lnTo>
                  <a:cubicBezTo>
                    <a:pt x="2393244" y="6462348"/>
                    <a:pt x="2353192" y="6502400"/>
                    <a:pt x="2303785" y="6502400"/>
                  </a:cubicBezTo>
                  <a:lnTo>
                    <a:pt x="89459" y="6502400"/>
                  </a:lnTo>
                  <a:cubicBezTo>
                    <a:pt x="40052" y="6502400"/>
                    <a:pt x="0" y="6462348"/>
                    <a:pt x="0" y="6412941"/>
                  </a:cubicBezTo>
                  <a:lnTo>
                    <a:pt x="0" y="89459"/>
                  </a:lnTo>
                  <a:cubicBezTo>
                    <a:pt x="0" y="40052"/>
                    <a:pt x="40052" y="0"/>
                    <a:pt x="894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393244" cy="6569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34142" y="1028700"/>
            <a:ext cx="5395958" cy="4081510"/>
            <a:chOff x="0" y="0"/>
            <a:chExt cx="835975" cy="632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5975" cy="632333"/>
            </a:xfrm>
            <a:custGeom>
              <a:avLst/>
              <a:gdLst/>
              <a:ahLst/>
              <a:cxnLst/>
              <a:rect l="l" t="t" r="r" b="b"/>
              <a:pathLst>
                <a:path w="835975" h="632333">
                  <a:moveTo>
                    <a:pt x="50217" y="0"/>
                  </a:moveTo>
                  <a:lnTo>
                    <a:pt x="785758" y="0"/>
                  </a:lnTo>
                  <a:cubicBezTo>
                    <a:pt x="799077" y="0"/>
                    <a:pt x="811850" y="5291"/>
                    <a:pt x="821267" y="14708"/>
                  </a:cubicBezTo>
                  <a:cubicBezTo>
                    <a:pt x="830684" y="24126"/>
                    <a:pt x="835975" y="36898"/>
                    <a:pt x="835975" y="50217"/>
                  </a:cubicBezTo>
                  <a:lnTo>
                    <a:pt x="835975" y="582116"/>
                  </a:lnTo>
                  <a:cubicBezTo>
                    <a:pt x="835975" y="595434"/>
                    <a:pt x="830684" y="608207"/>
                    <a:pt x="821267" y="617625"/>
                  </a:cubicBezTo>
                  <a:cubicBezTo>
                    <a:pt x="811850" y="627042"/>
                    <a:pt x="799077" y="632333"/>
                    <a:pt x="785758" y="632333"/>
                  </a:cubicBezTo>
                  <a:lnTo>
                    <a:pt x="50217" y="632333"/>
                  </a:lnTo>
                  <a:cubicBezTo>
                    <a:pt x="36898" y="632333"/>
                    <a:pt x="24126" y="627042"/>
                    <a:pt x="14708" y="617625"/>
                  </a:cubicBezTo>
                  <a:cubicBezTo>
                    <a:pt x="5291" y="608207"/>
                    <a:pt x="0" y="595434"/>
                    <a:pt x="0" y="582116"/>
                  </a:cubicBezTo>
                  <a:lnTo>
                    <a:pt x="0" y="50217"/>
                  </a:lnTo>
                  <a:cubicBezTo>
                    <a:pt x="0" y="36898"/>
                    <a:pt x="5291" y="24126"/>
                    <a:pt x="14708" y="14708"/>
                  </a:cubicBezTo>
                  <a:cubicBezTo>
                    <a:pt x="24126" y="5291"/>
                    <a:pt x="36898" y="0"/>
                    <a:pt x="50217" y="0"/>
                  </a:cubicBezTo>
                  <a:close/>
                </a:path>
              </a:pathLst>
            </a:custGeom>
            <a:blipFill>
              <a:blip r:embed="rId2"/>
              <a:stretch>
                <a:fillRect t="-20766" r="-36897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flipH="1">
            <a:off x="13466936" y="1028700"/>
            <a:ext cx="3792364" cy="2555105"/>
          </a:xfrm>
          <a:custGeom>
            <a:avLst/>
            <a:gdLst/>
            <a:ahLst/>
            <a:cxnLst/>
            <a:rect l="l" t="t" r="r" b="b"/>
            <a:pathLst>
              <a:path w="3792364" h="2555105">
                <a:moveTo>
                  <a:pt x="3792364" y="0"/>
                </a:moveTo>
                <a:lnTo>
                  <a:pt x="0" y="0"/>
                </a:lnTo>
                <a:lnTo>
                  <a:pt x="0" y="2555105"/>
                </a:lnTo>
                <a:lnTo>
                  <a:pt x="3792364" y="2555105"/>
                </a:lnTo>
                <a:lnTo>
                  <a:pt x="379236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590027" y="2555105"/>
            <a:ext cx="3758464" cy="2057400"/>
            <a:chOff x="0" y="0"/>
            <a:chExt cx="2969651" cy="1625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69651" cy="1625600"/>
            </a:xfrm>
            <a:custGeom>
              <a:avLst/>
              <a:gdLst/>
              <a:ahLst/>
              <a:cxnLst/>
              <a:rect l="l" t="t" r="r" b="b"/>
              <a:pathLst>
                <a:path w="2969651" h="1625600">
                  <a:moveTo>
                    <a:pt x="72095" y="0"/>
                  </a:moveTo>
                  <a:lnTo>
                    <a:pt x="2897556" y="0"/>
                  </a:lnTo>
                  <a:cubicBezTo>
                    <a:pt x="2916677" y="0"/>
                    <a:pt x="2935014" y="7596"/>
                    <a:pt x="2948535" y="21116"/>
                  </a:cubicBezTo>
                  <a:cubicBezTo>
                    <a:pt x="2962055" y="34637"/>
                    <a:pt x="2969651" y="52974"/>
                    <a:pt x="2969651" y="72095"/>
                  </a:cubicBezTo>
                  <a:lnTo>
                    <a:pt x="2969651" y="1553505"/>
                  </a:lnTo>
                  <a:cubicBezTo>
                    <a:pt x="2969651" y="1572626"/>
                    <a:pt x="2962055" y="1590963"/>
                    <a:pt x="2948535" y="1604484"/>
                  </a:cubicBezTo>
                  <a:cubicBezTo>
                    <a:pt x="2935014" y="1618004"/>
                    <a:pt x="2916677" y="1625600"/>
                    <a:pt x="2897556" y="1625600"/>
                  </a:cubicBezTo>
                  <a:lnTo>
                    <a:pt x="72095" y="1625600"/>
                  </a:lnTo>
                  <a:cubicBezTo>
                    <a:pt x="52974" y="1625600"/>
                    <a:pt x="34637" y="1618004"/>
                    <a:pt x="21116" y="1604484"/>
                  </a:cubicBezTo>
                  <a:cubicBezTo>
                    <a:pt x="7596" y="1590963"/>
                    <a:pt x="0" y="1572626"/>
                    <a:pt x="0" y="1553505"/>
                  </a:cubicBezTo>
                  <a:lnTo>
                    <a:pt x="0" y="72095"/>
                  </a:lnTo>
                  <a:cubicBezTo>
                    <a:pt x="0" y="52974"/>
                    <a:pt x="7596" y="34637"/>
                    <a:pt x="21116" y="21116"/>
                  </a:cubicBezTo>
                  <a:cubicBezTo>
                    <a:pt x="34637" y="7596"/>
                    <a:pt x="52974" y="0"/>
                    <a:pt x="7209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969651" cy="1692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397146" y="2362224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3" y="0"/>
                </a:lnTo>
                <a:lnTo>
                  <a:pt x="385763" y="385762"/>
                </a:lnTo>
                <a:lnTo>
                  <a:pt x="0" y="385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1271241" y="7744715"/>
            <a:ext cx="3514725" cy="2401839"/>
            <a:chOff x="0" y="0"/>
            <a:chExt cx="2777067" cy="18977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77067" cy="1897749"/>
            </a:xfrm>
            <a:custGeom>
              <a:avLst/>
              <a:gdLst/>
              <a:ahLst/>
              <a:cxnLst/>
              <a:rect l="l" t="t" r="r" b="b"/>
              <a:pathLst>
                <a:path w="2777067" h="1897749">
                  <a:moveTo>
                    <a:pt x="77095" y="0"/>
                  </a:moveTo>
                  <a:lnTo>
                    <a:pt x="2699972" y="0"/>
                  </a:lnTo>
                  <a:cubicBezTo>
                    <a:pt x="2720419" y="0"/>
                    <a:pt x="2740028" y="8122"/>
                    <a:pt x="2754486" y="22581"/>
                  </a:cubicBezTo>
                  <a:cubicBezTo>
                    <a:pt x="2768944" y="37039"/>
                    <a:pt x="2777067" y="56648"/>
                    <a:pt x="2777067" y="77095"/>
                  </a:cubicBezTo>
                  <a:lnTo>
                    <a:pt x="2777067" y="1820654"/>
                  </a:lnTo>
                  <a:cubicBezTo>
                    <a:pt x="2777067" y="1841101"/>
                    <a:pt x="2768944" y="1860710"/>
                    <a:pt x="2754486" y="1875168"/>
                  </a:cubicBezTo>
                  <a:cubicBezTo>
                    <a:pt x="2740028" y="1889627"/>
                    <a:pt x="2720419" y="1897749"/>
                    <a:pt x="2699972" y="1897749"/>
                  </a:cubicBezTo>
                  <a:lnTo>
                    <a:pt x="77095" y="1897749"/>
                  </a:lnTo>
                  <a:cubicBezTo>
                    <a:pt x="56648" y="1897749"/>
                    <a:pt x="37039" y="1889627"/>
                    <a:pt x="22581" y="1875168"/>
                  </a:cubicBezTo>
                  <a:cubicBezTo>
                    <a:pt x="8122" y="1860710"/>
                    <a:pt x="0" y="1841101"/>
                    <a:pt x="0" y="1820654"/>
                  </a:cubicBezTo>
                  <a:lnTo>
                    <a:pt x="0" y="77095"/>
                  </a:lnTo>
                  <a:cubicBezTo>
                    <a:pt x="0" y="56648"/>
                    <a:pt x="8122" y="37039"/>
                    <a:pt x="22581" y="22581"/>
                  </a:cubicBezTo>
                  <a:cubicBezTo>
                    <a:pt x="37039" y="8122"/>
                    <a:pt x="56648" y="0"/>
                    <a:pt x="77095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2777067" cy="1964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15259050" y="9258300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028700" y="5699186"/>
            <a:ext cx="17102494" cy="411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00"/>
              </a:lnSpc>
              <a:spcBef>
                <a:spcPct val="0"/>
              </a:spcBef>
            </a:pPr>
            <a:r>
              <a:rPr lang="en-US" sz="11500" b="1" spc="-862" dirty="0" err="1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BankingFraudTransactions</a:t>
            </a:r>
            <a:r>
              <a:rPr lang="en-US" sz="11500" b="1" spc="-862" dirty="0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9884" y="5268395"/>
            <a:ext cx="5340024" cy="335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Empowering Fraud Prevention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79926" y="3172960"/>
            <a:ext cx="1978666" cy="76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An </a:t>
            </a:r>
            <a:r>
              <a:rPr lang="en-US" sz="14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overview of banking fraud transactions, detection, and Analysis.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64742" y="7849599"/>
            <a:ext cx="2252789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Presented by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42431" y="8305600"/>
            <a:ext cx="2387919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 b="1" dirty="0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RITTIKA GHOSH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43325" y="8778784"/>
            <a:ext cx="2252789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Student code 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42431" y="9182100"/>
            <a:ext cx="2387919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AFO5173453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94312"/>
            <a:ext cx="9144000" cy="284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50"/>
              </a:lnSpc>
            </a:pPr>
            <a:r>
              <a:rPr lang="en-US" sz="11500" b="1" spc="-862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What is Banking fraud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4230350" y="5205157"/>
            <a:ext cx="3028950" cy="4053143"/>
            <a:chOff x="0" y="0"/>
            <a:chExt cx="2393244" cy="32024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93244" cy="3202484"/>
            </a:xfrm>
            <a:custGeom>
              <a:avLst/>
              <a:gdLst/>
              <a:ahLst/>
              <a:cxnLst/>
              <a:rect l="l" t="t" r="r" b="b"/>
              <a:pathLst>
                <a:path w="2393244" h="3202484">
                  <a:moveTo>
                    <a:pt x="89459" y="0"/>
                  </a:moveTo>
                  <a:lnTo>
                    <a:pt x="2303785" y="0"/>
                  </a:lnTo>
                  <a:cubicBezTo>
                    <a:pt x="2353192" y="0"/>
                    <a:pt x="2393244" y="40052"/>
                    <a:pt x="2393244" y="89459"/>
                  </a:cubicBezTo>
                  <a:lnTo>
                    <a:pt x="2393244" y="3113025"/>
                  </a:lnTo>
                  <a:cubicBezTo>
                    <a:pt x="2393244" y="3162431"/>
                    <a:pt x="2353192" y="3202484"/>
                    <a:pt x="2303785" y="3202484"/>
                  </a:cubicBezTo>
                  <a:lnTo>
                    <a:pt x="89459" y="3202484"/>
                  </a:lnTo>
                  <a:cubicBezTo>
                    <a:pt x="40052" y="3202484"/>
                    <a:pt x="0" y="3162431"/>
                    <a:pt x="0" y="3113025"/>
                  </a:cubicBezTo>
                  <a:lnTo>
                    <a:pt x="0" y="89459"/>
                  </a:lnTo>
                  <a:cubicBezTo>
                    <a:pt x="0" y="40052"/>
                    <a:pt x="40052" y="0"/>
                    <a:pt x="894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393244" cy="3269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172700" y="1028700"/>
            <a:ext cx="7086600" cy="6502642"/>
            <a:chOff x="0" y="0"/>
            <a:chExt cx="1097900" cy="1007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900" cy="1007429"/>
            </a:xfrm>
            <a:custGeom>
              <a:avLst/>
              <a:gdLst/>
              <a:ahLst/>
              <a:cxnLst/>
              <a:rect l="l" t="t" r="r" b="b"/>
              <a:pathLst>
                <a:path w="1097900" h="1007429">
                  <a:moveTo>
                    <a:pt x="38237" y="0"/>
                  </a:moveTo>
                  <a:lnTo>
                    <a:pt x="1059663" y="0"/>
                  </a:lnTo>
                  <a:cubicBezTo>
                    <a:pt x="1080781" y="0"/>
                    <a:pt x="1097900" y="17119"/>
                    <a:pt x="1097900" y="38237"/>
                  </a:cubicBezTo>
                  <a:lnTo>
                    <a:pt x="1097900" y="969193"/>
                  </a:lnTo>
                  <a:cubicBezTo>
                    <a:pt x="1097900" y="990310"/>
                    <a:pt x="1080781" y="1007429"/>
                    <a:pt x="1059663" y="1007429"/>
                  </a:cubicBezTo>
                  <a:lnTo>
                    <a:pt x="38237" y="1007429"/>
                  </a:lnTo>
                  <a:cubicBezTo>
                    <a:pt x="17119" y="1007429"/>
                    <a:pt x="0" y="990310"/>
                    <a:pt x="0" y="969193"/>
                  </a:cubicBezTo>
                  <a:lnTo>
                    <a:pt x="0" y="38237"/>
                  </a:lnTo>
                  <a:cubicBezTo>
                    <a:pt x="0" y="17119"/>
                    <a:pt x="17119" y="0"/>
                    <a:pt x="38237" y="0"/>
                  </a:cubicBezTo>
                  <a:close/>
                </a:path>
              </a:pathLst>
            </a:custGeom>
            <a:blipFill>
              <a:blip r:embed="rId2"/>
              <a:stretch>
                <a:fillRect l="-54663" r="-606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5205157"/>
            <a:ext cx="3543300" cy="669144"/>
            <a:chOff x="0" y="0"/>
            <a:chExt cx="2799644" cy="5287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99644" cy="528706"/>
            </a:xfrm>
            <a:custGeom>
              <a:avLst/>
              <a:gdLst/>
              <a:ahLst/>
              <a:cxnLst/>
              <a:rect l="l" t="t" r="r" b="b"/>
              <a:pathLst>
                <a:path w="2799644" h="528706">
                  <a:moveTo>
                    <a:pt x="43699" y="0"/>
                  </a:moveTo>
                  <a:lnTo>
                    <a:pt x="2755946" y="0"/>
                  </a:lnTo>
                  <a:cubicBezTo>
                    <a:pt x="2780080" y="0"/>
                    <a:pt x="2799644" y="19565"/>
                    <a:pt x="2799644" y="43699"/>
                  </a:cubicBezTo>
                  <a:lnTo>
                    <a:pt x="2799644" y="485007"/>
                  </a:lnTo>
                  <a:cubicBezTo>
                    <a:pt x="2799644" y="509142"/>
                    <a:pt x="2780080" y="528706"/>
                    <a:pt x="2755946" y="528706"/>
                  </a:cubicBezTo>
                  <a:lnTo>
                    <a:pt x="43699" y="528706"/>
                  </a:lnTo>
                  <a:cubicBezTo>
                    <a:pt x="19565" y="528706"/>
                    <a:pt x="0" y="509142"/>
                    <a:pt x="0" y="485007"/>
                  </a:cubicBezTo>
                  <a:lnTo>
                    <a:pt x="0" y="43699"/>
                  </a:lnTo>
                  <a:cubicBezTo>
                    <a:pt x="0" y="19565"/>
                    <a:pt x="19565" y="0"/>
                    <a:pt x="43699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799644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58350" y="7016992"/>
            <a:ext cx="4388495" cy="2737401"/>
            <a:chOff x="0" y="0"/>
            <a:chExt cx="3467453" cy="21628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67453" cy="2162885"/>
            </a:xfrm>
            <a:custGeom>
              <a:avLst/>
              <a:gdLst/>
              <a:ahLst/>
              <a:cxnLst/>
              <a:rect l="l" t="t" r="r" b="b"/>
              <a:pathLst>
                <a:path w="3467453" h="2162885">
                  <a:moveTo>
                    <a:pt x="61745" y="0"/>
                  </a:moveTo>
                  <a:lnTo>
                    <a:pt x="3405708" y="0"/>
                  </a:lnTo>
                  <a:cubicBezTo>
                    <a:pt x="3422084" y="0"/>
                    <a:pt x="3437789" y="6505"/>
                    <a:pt x="3449369" y="18085"/>
                  </a:cubicBezTo>
                  <a:cubicBezTo>
                    <a:pt x="3460948" y="29664"/>
                    <a:pt x="3467453" y="45369"/>
                    <a:pt x="3467453" y="61745"/>
                  </a:cubicBezTo>
                  <a:lnTo>
                    <a:pt x="3467453" y="2101140"/>
                  </a:lnTo>
                  <a:cubicBezTo>
                    <a:pt x="3467453" y="2117516"/>
                    <a:pt x="3460948" y="2133221"/>
                    <a:pt x="3449369" y="2144800"/>
                  </a:cubicBezTo>
                  <a:cubicBezTo>
                    <a:pt x="3437789" y="2156380"/>
                    <a:pt x="3422084" y="2162885"/>
                    <a:pt x="3405708" y="2162885"/>
                  </a:cubicBezTo>
                  <a:lnTo>
                    <a:pt x="61745" y="2162885"/>
                  </a:lnTo>
                  <a:cubicBezTo>
                    <a:pt x="45369" y="2162885"/>
                    <a:pt x="29664" y="2156380"/>
                    <a:pt x="18085" y="2144800"/>
                  </a:cubicBezTo>
                  <a:cubicBezTo>
                    <a:pt x="6505" y="2133221"/>
                    <a:pt x="0" y="2117516"/>
                    <a:pt x="0" y="2101140"/>
                  </a:cubicBezTo>
                  <a:lnTo>
                    <a:pt x="0" y="61745"/>
                  </a:lnTo>
                  <a:cubicBezTo>
                    <a:pt x="0" y="45369"/>
                    <a:pt x="6505" y="29664"/>
                    <a:pt x="18085" y="18085"/>
                  </a:cubicBezTo>
                  <a:cubicBezTo>
                    <a:pt x="29664" y="6505"/>
                    <a:pt x="45369" y="0"/>
                    <a:pt x="61745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3467453" cy="2229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5259050" y="9258300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7922419" y="1028700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2"/>
                </a:lnTo>
                <a:lnTo>
                  <a:pt x="0" y="385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47700" y="5357801"/>
            <a:ext cx="430530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Understanding the Basics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5354" y="6490577"/>
            <a:ext cx="8071804" cy="221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Bank </a:t>
            </a:r>
            <a:r>
              <a:rPr lang="en-US" sz="24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fraud is the act of illegally obtaining money, assets, or sensitive financial information by deceiving a bank, its customers, or financial institutions. It involves unauthorized or fraudulent transactions carried out for financial gain.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9381" y="7450576"/>
            <a:ext cx="2807283" cy="335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61097" y="7938891"/>
            <a:ext cx="4185748" cy="1375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0332" lvl="1" indent="-210166" algn="l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1946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rotecting customer accounts</a:t>
            </a:r>
          </a:p>
          <a:p>
            <a:pPr marL="420332" lvl="1" indent="-210166" algn="l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Detecting fraudulent transactions</a:t>
            </a:r>
          </a:p>
          <a:p>
            <a:pPr algn="l">
              <a:lnSpc>
                <a:spcPts val="2725"/>
              </a:lnSpc>
              <a:spcBef>
                <a:spcPct val="0"/>
              </a:spcBef>
            </a:pPr>
            <a:endParaRPr lang="en-US" sz="1946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51269" y="470030"/>
            <a:ext cx="13340824" cy="246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b="1" spc="-749" dirty="0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Types of Banking Fraud</a:t>
            </a:r>
          </a:p>
          <a:p>
            <a:pPr algn="l">
              <a:lnSpc>
                <a:spcPts val="8999"/>
              </a:lnSpc>
            </a:pPr>
            <a:endParaRPr lang="en-US" sz="9999" b="1" spc="-749" dirty="0">
              <a:solidFill>
                <a:srgbClr val="F9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028700" y="1028700"/>
            <a:ext cx="3028950" cy="8229600"/>
            <a:chOff x="0" y="0"/>
            <a:chExt cx="2393244" cy="6502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93244" cy="6502400"/>
            </a:xfrm>
            <a:custGeom>
              <a:avLst/>
              <a:gdLst/>
              <a:ahLst/>
              <a:cxnLst/>
              <a:rect l="l" t="t" r="r" b="b"/>
              <a:pathLst>
                <a:path w="2393244" h="6502400">
                  <a:moveTo>
                    <a:pt x="89459" y="0"/>
                  </a:moveTo>
                  <a:lnTo>
                    <a:pt x="2303785" y="0"/>
                  </a:lnTo>
                  <a:cubicBezTo>
                    <a:pt x="2353192" y="0"/>
                    <a:pt x="2393244" y="40052"/>
                    <a:pt x="2393244" y="89459"/>
                  </a:cubicBezTo>
                  <a:lnTo>
                    <a:pt x="2393244" y="6412941"/>
                  </a:lnTo>
                  <a:cubicBezTo>
                    <a:pt x="2393244" y="6462348"/>
                    <a:pt x="2353192" y="6502400"/>
                    <a:pt x="2303785" y="6502400"/>
                  </a:cubicBezTo>
                  <a:lnTo>
                    <a:pt x="89459" y="6502400"/>
                  </a:lnTo>
                  <a:cubicBezTo>
                    <a:pt x="40052" y="6502400"/>
                    <a:pt x="0" y="6462348"/>
                    <a:pt x="0" y="6412941"/>
                  </a:cubicBezTo>
                  <a:lnTo>
                    <a:pt x="0" y="89459"/>
                  </a:lnTo>
                  <a:cubicBezTo>
                    <a:pt x="0" y="40052"/>
                    <a:pt x="40052" y="0"/>
                    <a:pt x="894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393244" cy="6569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451222"/>
            <a:ext cx="7086600" cy="5807078"/>
            <a:chOff x="0" y="0"/>
            <a:chExt cx="1097900" cy="899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900" cy="899668"/>
            </a:xfrm>
            <a:custGeom>
              <a:avLst/>
              <a:gdLst/>
              <a:ahLst/>
              <a:cxnLst/>
              <a:rect l="l" t="t" r="r" b="b"/>
              <a:pathLst>
                <a:path w="1097900" h="899668">
                  <a:moveTo>
                    <a:pt x="38237" y="0"/>
                  </a:moveTo>
                  <a:lnTo>
                    <a:pt x="1059663" y="0"/>
                  </a:lnTo>
                  <a:cubicBezTo>
                    <a:pt x="1080781" y="0"/>
                    <a:pt x="1097900" y="17119"/>
                    <a:pt x="1097900" y="38237"/>
                  </a:cubicBezTo>
                  <a:lnTo>
                    <a:pt x="1097900" y="861432"/>
                  </a:lnTo>
                  <a:cubicBezTo>
                    <a:pt x="1097900" y="882549"/>
                    <a:pt x="1080781" y="899668"/>
                    <a:pt x="1059663" y="899668"/>
                  </a:cubicBezTo>
                  <a:lnTo>
                    <a:pt x="38237" y="899668"/>
                  </a:lnTo>
                  <a:cubicBezTo>
                    <a:pt x="17119" y="899668"/>
                    <a:pt x="0" y="882549"/>
                    <a:pt x="0" y="861432"/>
                  </a:cubicBezTo>
                  <a:lnTo>
                    <a:pt x="0" y="38237"/>
                  </a:lnTo>
                  <a:cubicBezTo>
                    <a:pt x="0" y="17119"/>
                    <a:pt x="17119" y="0"/>
                    <a:pt x="38237" y="0"/>
                  </a:cubicBezTo>
                  <a:close/>
                </a:path>
              </a:pathLst>
            </a:custGeom>
            <a:blipFill>
              <a:blip r:embed="rId2"/>
              <a:stretch>
                <a:fillRect r="-2624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011614" y="2068564"/>
            <a:ext cx="3854798" cy="970050"/>
            <a:chOff x="0" y="0"/>
            <a:chExt cx="3045767" cy="7664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5767" cy="766459"/>
            </a:xfrm>
            <a:custGeom>
              <a:avLst/>
              <a:gdLst/>
              <a:ahLst/>
              <a:cxnLst/>
              <a:rect l="l" t="t" r="r" b="b"/>
              <a:pathLst>
                <a:path w="3045767" h="766459">
                  <a:moveTo>
                    <a:pt x="40168" y="0"/>
                  </a:moveTo>
                  <a:lnTo>
                    <a:pt x="3005599" y="0"/>
                  </a:lnTo>
                  <a:cubicBezTo>
                    <a:pt x="3027783" y="0"/>
                    <a:pt x="3045767" y="17984"/>
                    <a:pt x="3045767" y="40168"/>
                  </a:cubicBezTo>
                  <a:lnTo>
                    <a:pt x="3045767" y="726292"/>
                  </a:lnTo>
                  <a:cubicBezTo>
                    <a:pt x="3045767" y="748476"/>
                    <a:pt x="3027783" y="766459"/>
                    <a:pt x="3005599" y="766459"/>
                  </a:cubicBezTo>
                  <a:lnTo>
                    <a:pt x="40168" y="766459"/>
                  </a:lnTo>
                  <a:cubicBezTo>
                    <a:pt x="17984" y="766459"/>
                    <a:pt x="0" y="748476"/>
                    <a:pt x="0" y="726292"/>
                  </a:cubicBezTo>
                  <a:lnTo>
                    <a:pt x="0" y="40168"/>
                  </a:lnTo>
                  <a:cubicBezTo>
                    <a:pt x="0" y="17984"/>
                    <a:pt x="17984" y="0"/>
                    <a:pt x="40168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045767" cy="833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2057400" y="1028700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8680103" y="3649280"/>
            <a:ext cx="7418303" cy="2174261"/>
            <a:chOff x="0" y="0"/>
            <a:chExt cx="5861375" cy="17179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61375" cy="1717934"/>
            </a:xfrm>
            <a:custGeom>
              <a:avLst/>
              <a:gdLst/>
              <a:ahLst/>
              <a:cxnLst/>
              <a:rect l="l" t="t" r="r" b="b"/>
              <a:pathLst>
                <a:path w="5861375" h="1717934">
                  <a:moveTo>
                    <a:pt x="36527" y="0"/>
                  </a:moveTo>
                  <a:lnTo>
                    <a:pt x="5824848" y="0"/>
                  </a:lnTo>
                  <a:cubicBezTo>
                    <a:pt x="5834536" y="0"/>
                    <a:pt x="5843827" y="3848"/>
                    <a:pt x="5850677" y="10698"/>
                  </a:cubicBezTo>
                  <a:cubicBezTo>
                    <a:pt x="5857527" y="17549"/>
                    <a:pt x="5861375" y="26839"/>
                    <a:pt x="5861375" y="36527"/>
                  </a:cubicBezTo>
                  <a:lnTo>
                    <a:pt x="5861375" y="1681408"/>
                  </a:lnTo>
                  <a:cubicBezTo>
                    <a:pt x="5861375" y="1691095"/>
                    <a:pt x="5857527" y="1700386"/>
                    <a:pt x="5850677" y="1707236"/>
                  </a:cubicBezTo>
                  <a:cubicBezTo>
                    <a:pt x="5843827" y="1714086"/>
                    <a:pt x="5834536" y="1717934"/>
                    <a:pt x="5824848" y="1717934"/>
                  </a:cubicBezTo>
                  <a:lnTo>
                    <a:pt x="36527" y="1717934"/>
                  </a:lnTo>
                  <a:cubicBezTo>
                    <a:pt x="26839" y="1717934"/>
                    <a:pt x="17549" y="1714086"/>
                    <a:pt x="10698" y="1707236"/>
                  </a:cubicBezTo>
                  <a:cubicBezTo>
                    <a:pt x="3848" y="1700386"/>
                    <a:pt x="0" y="1691095"/>
                    <a:pt x="0" y="1681408"/>
                  </a:cubicBezTo>
                  <a:lnTo>
                    <a:pt x="0" y="36527"/>
                  </a:lnTo>
                  <a:cubicBezTo>
                    <a:pt x="0" y="26839"/>
                    <a:pt x="3848" y="17549"/>
                    <a:pt x="10698" y="10698"/>
                  </a:cubicBezTo>
                  <a:cubicBezTo>
                    <a:pt x="17549" y="3848"/>
                    <a:pt x="26839" y="0"/>
                    <a:pt x="36527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5861375" cy="1784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554200" y="1581482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2"/>
                </a:lnTo>
                <a:lnTo>
                  <a:pt x="0" y="385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515514" y="2194469"/>
            <a:ext cx="2119839" cy="964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ctr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Credit</a:t>
            </a:r>
          </a:p>
          <a:p>
            <a:pPr marL="388620" lvl="1" indent="-194310" algn="ctr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Debit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800" b="1" spc="-36">
              <a:solidFill>
                <a:srgbClr val="F9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011614" y="3858216"/>
            <a:ext cx="8507563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1. OFFLINE FRAUD (PHYSICAL/</a:t>
            </a:r>
            <a:r>
              <a:rPr lang="en-US" sz="18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BRANCH-BASED FRAUD)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79523" y="4314781"/>
            <a:ext cx="3855742" cy="150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Cheque Fraud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Loan Fraud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Cash Theft</a:t>
            </a:r>
          </a:p>
          <a:p>
            <a:pPr algn="l">
              <a:lnSpc>
                <a:spcPts val="2939"/>
              </a:lnSpc>
            </a:pPr>
            <a:endParaRPr lang="en-US" sz="2099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8611301" y="6004516"/>
            <a:ext cx="7418303" cy="3253784"/>
            <a:chOff x="0" y="0"/>
            <a:chExt cx="5861375" cy="25708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61375" cy="2570891"/>
            </a:xfrm>
            <a:custGeom>
              <a:avLst/>
              <a:gdLst/>
              <a:ahLst/>
              <a:cxnLst/>
              <a:rect l="l" t="t" r="r" b="b"/>
              <a:pathLst>
                <a:path w="5861375" h="2570891">
                  <a:moveTo>
                    <a:pt x="36527" y="0"/>
                  </a:moveTo>
                  <a:lnTo>
                    <a:pt x="5824848" y="0"/>
                  </a:lnTo>
                  <a:cubicBezTo>
                    <a:pt x="5834536" y="0"/>
                    <a:pt x="5843827" y="3848"/>
                    <a:pt x="5850677" y="10698"/>
                  </a:cubicBezTo>
                  <a:cubicBezTo>
                    <a:pt x="5857527" y="17549"/>
                    <a:pt x="5861375" y="26839"/>
                    <a:pt x="5861375" y="36527"/>
                  </a:cubicBezTo>
                  <a:lnTo>
                    <a:pt x="5861375" y="2534364"/>
                  </a:lnTo>
                  <a:cubicBezTo>
                    <a:pt x="5861375" y="2544052"/>
                    <a:pt x="5857527" y="2553343"/>
                    <a:pt x="5850677" y="2560193"/>
                  </a:cubicBezTo>
                  <a:cubicBezTo>
                    <a:pt x="5843827" y="2567043"/>
                    <a:pt x="5834536" y="2570891"/>
                    <a:pt x="5824848" y="2570891"/>
                  </a:cubicBezTo>
                  <a:lnTo>
                    <a:pt x="36527" y="2570891"/>
                  </a:lnTo>
                  <a:cubicBezTo>
                    <a:pt x="26839" y="2570891"/>
                    <a:pt x="17549" y="2567043"/>
                    <a:pt x="10698" y="2560193"/>
                  </a:cubicBezTo>
                  <a:cubicBezTo>
                    <a:pt x="3848" y="2553343"/>
                    <a:pt x="0" y="2544052"/>
                    <a:pt x="0" y="2534364"/>
                  </a:cubicBezTo>
                  <a:lnTo>
                    <a:pt x="0" y="36527"/>
                  </a:lnTo>
                  <a:cubicBezTo>
                    <a:pt x="0" y="26839"/>
                    <a:pt x="3848" y="17549"/>
                    <a:pt x="10698" y="10698"/>
                  </a:cubicBezTo>
                  <a:cubicBezTo>
                    <a:pt x="17549" y="3848"/>
                    <a:pt x="26839" y="0"/>
                    <a:pt x="36527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5861375" cy="2637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011614" y="6065642"/>
            <a:ext cx="8541256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  <a:r>
              <a:rPr lang="en-US" sz="18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. ONLINE FRAUD (DIGITAL/CYBER FRAUD)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79523" y="6650007"/>
            <a:ext cx="6635041" cy="225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Phishing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Smishing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Vishing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Net Banking Fraud 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UPI Fraud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Duplicate website and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65585" y="2879712"/>
            <a:ext cx="3756829" cy="669144"/>
            <a:chOff x="0" y="0"/>
            <a:chExt cx="2968359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68359" cy="528706"/>
            </a:xfrm>
            <a:custGeom>
              <a:avLst/>
              <a:gdLst/>
              <a:ahLst/>
              <a:cxnLst/>
              <a:rect l="l" t="t" r="r" b="b"/>
              <a:pathLst>
                <a:path w="2968359" h="528706">
                  <a:moveTo>
                    <a:pt x="41215" y="0"/>
                  </a:moveTo>
                  <a:lnTo>
                    <a:pt x="2927144" y="0"/>
                  </a:lnTo>
                  <a:cubicBezTo>
                    <a:pt x="2949906" y="0"/>
                    <a:pt x="2968359" y="18453"/>
                    <a:pt x="2968359" y="41215"/>
                  </a:cubicBezTo>
                  <a:lnTo>
                    <a:pt x="2968359" y="487491"/>
                  </a:lnTo>
                  <a:cubicBezTo>
                    <a:pt x="2968359" y="498422"/>
                    <a:pt x="2964017" y="508905"/>
                    <a:pt x="2956287" y="516635"/>
                  </a:cubicBezTo>
                  <a:cubicBezTo>
                    <a:pt x="2948558" y="524364"/>
                    <a:pt x="2938075" y="528706"/>
                    <a:pt x="2927144" y="528706"/>
                  </a:cubicBezTo>
                  <a:lnTo>
                    <a:pt x="41215" y="528706"/>
                  </a:lnTo>
                  <a:cubicBezTo>
                    <a:pt x="30284" y="528706"/>
                    <a:pt x="19801" y="524364"/>
                    <a:pt x="12072" y="516635"/>
                  </a:cubicBezTo>
                  <a:cubicBezTo>
                    <a:pt x="4342" y="508905"/>
                    <a:pt x="0" y="498422"/>
                    <a:pt x="0" y="487491"/>
                  </a:cubicBezTo>
                  <a:lnTo>
                    <a:pt x="0" y="41215"/>
                  </a:lnTo>
                  <a:cubicBezTo>
                    <a:pt x="0" y="30284"/>
                    <a:pt x="4342" y="19801"/>
                    <a:pt x="12072" y="12072"/>
                  </a:cubicBezTo>
                  <a:cubicBezTo>
                    <a:pt x="19801" y="4342"/>
                    <a:pt x="30284" y="0"/>
                    <a:pt x="41215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968359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422762"/>
            <a:ext cx="3665135" cy="4835538"/>
            <a:chOff x="0" y="0"/>
            <a:chExt cx="567825" cy="7491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7825" cy="749151"/>
            </a:xfrm>
            <a:custGeom>
              <a:avLst/>
              <a:gdLst/>
              <a:ahLst/>
              <a:cxnLst/>
              <a:rect l="l" t="t" r="r" b="b"/>
              <a:pathLst>
                <a:path w="567825" h="749151">
                  <a:moveTo>
                    <a:pt x="73931" y="0"/>
                  </a:moveTo>
                  <a:lnTo>
                    <a:pt x="493894" y="0"/>
                  </a:lnTo>
                  <a:cubicBezTo>
                    <a:pt x="513502" y="0"/>
                    <a:pt x="532307" y="7789"/>
                    <a:pt x="546171" y="21654"/>
                  </a:cubicBezTo>
                  <a:cubicBezTo>
                    <a:pt x="560036" y="35519"/>
                    <a:pt x="567825" y="54323"/>
                    <a:pt x="567825" y="73931"/>
                  </a:cubicBezTo>
                  <a:lnTo>
                    <a:pt x="567825" y="675220"/>
                  </a:lnTo>
                  <a:cubicBezTo>
                    <a:pt x="567825" y="716051"/>
                    <a:pt x="534725" y="749151"/>
                    <a:pt x="493894" y="749151"/>
                  </a:cubicBezTo>
                  <a:lnTo>
                    <a:pt x="73931" y="749151"/>
                  </a:lnTo>
                  <a:cubicBezTo>
                    <a:pt x="54323" y="749151"/>
                    <a:pt x="35519" y="741362"/>
                    <a:pt x="21654" y="727497"/>
                  </a:cubicBezTo>
                  <a:cubicBezTo>
                    <a:pt x="7789" y="713633"/>
                    <a:pt x="0" y="694828"/>
                    <a:pt x="0" y="675220"/>
                  </a:cubicBezTo>
                  <a:lnTo>
                    <a:pt x="0" y="73931"/>
                  </a:lnTo>
                  <a:cubicBezTo>
                    <a:pt x="0" y="54323"/>
                    <a:pt x="7789" y="35519"/>
                    <a:pt x="21654" y="21654"/>
                  </a:cubicBezTo>
                  <a:cubicBezTo>
                    <a:pt x="35519" y="7789"/>
                    <a:pt x="54323" y="0"/>
                    <a:pt x="73931" y="0"/>
                  </a:cubicBezTo>
                  <a:close/>
                </a:path>
              </a:pathLst>
            </a:custGeom>
            <a:blipFill>
              <a:blip r:embed="rId2"/>
              <a:stretch>
                <a:fillRect t="-6795" b="-679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10800000">
            <a:off x="5722535" y="5681332"/>
            <a:ext cx="6842929" cy="3576968"/>
            <a:chOff x="0" y="0"/>
            <a:chExt cx="5406759" cy="28262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06759" cy="2826246"/>
            </a:xfrm>
            <a:custGeom>
              <a:avLst/>
              <a:gdLst/>
              <a:ahLst/>
              <a:cxnLst/>
              <a:rect l="l" t="t" r="r" b="b"/>
              <a:pathLst>
                <a:path w="5406759" h="2826246">
                  <a:moveTo>
                    <a:pt x="39598" y="0"/>
                  </a:moveTo>
                  <a:lnTo>
                    <a:pt x="5367161" y="0"/>
                  </a:lnTo>
                  <a:cubicBezTo>
                    <a:pt x="5389030" y="0"/>
                    <a:pt x="5406759" y="17729"/>
                    <a:pt x="5406759" y="39598"/>
                  </a:cubicBezTo>
                  <a:lnTo>
                    <a:pt x="5406759" y="2786648"/>
                  </a:lnTo>
                  <a:cubicBezTo>
                    <a:pt x="5406759" y="2808517"/>
                    <a:pt x="5389030" y="2826246"/>
                    <a:pt x="5367161" y="2826246"/>
                  </a:cubicBezTo>
                  <a:lnTo>
                    <a:pt x="39598" y="2826246"/>
                  </a:lnTo>
                  <a:cubicBezTo>
                    <a:pt x="17729" y="2826246"/>
                    <a:pt x="0" y="2808517"/>
                    <a:pt x="0" y="2786648"/>
                  </a:cubicBezTo>
                  <a:lnTo>
                    <a:pt x="0" y="39598"/>
                  </a:lnTo>
                  <a:cubicBezTo>
                    <a:pt x="0" y="17729"/>
                    <a:pt x="17729" y="0"/>
                    <a:pt x="3959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5406759" cy="2892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94165" y="4422762"/>
            <a:ext cx="3665135" cy="4835538"/>
            <a:chOff x="0" y="0"/>
            <a:chExt cx="567825" cy="7491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7825" cy="749151"/>
            </a:xfrm>
            <a:custGeom>
              <a:avLst/>
              <a:gdLst/>
              <a:ahLst/>
              <a:cxnLst/>
              <a:rect l="l" t="t" r="r" b="b"/>
              <a:pathLst>
                <a:path w="567825" h="749151">
                  <a:moveTo>
                    <a:pt x="73931" y="0"/>
                  </a:moveTo>
                  <a:lnTo>
                    <a:pt x="493894" y="0"/>
                  </a:lnTo>
                  <a:cubicBezTo>
                    <a:pt x="513502" y="0"/>
                    <a:pt x="532307" y="7789"/>
                    <a:pt x="546171" y="21654"/>
                  </a:cubicBezTo>
                  <a:cubicBezTo>
                    <a:pt x="560036" y="35519"/>
                    <a:pt x="567825" y="54323"/>
                    <a:pt x="567825" y="73931"/>
                  </a:cubicBezTo>
                  <a:lnTo>
                    <a:pt x="567825" y="675220"/>
                  </a:lnTo>
                  <a:cubicBezTo>
                    <a:pt x="567825" y="716051"/>
                    <a:pt x="534725" y="749151"/>
                    <a:pt x="493894" y="749151"/>
                  </a:cubicBezTo>
                  <a:lnTo>
                    <a:pt x="73931" y="749151"/>
                  </a:lnTo>
                  <a:cubicBezTo>
                    <a:pt x="54323" y="749151"/>
                    <a:pt x="35519" y="741362"/>
                    <a:pt x="21654" y="727497"/>
                  </a:cubicBezTo>
                  <a:cubicBezTo>
                    <a:pt x="7789" y="713633"/>
                    <a:pt x="0" y="694828"/>
                    <a:pt x="0" y="675220"/>
                  </a:cubicBezTo>
                  <a:lnTo>
                    <a:pt x="0" y="73931"/>
                  </a:lnTo>
                  <a:cubicBezTo>
                    <a:pt x="0" y="54323"/>
                    <a:pt x="7789" y="35519"/>
                    <a:pt x="21654" y="21654"/>
                  </a:cubicBezTo>
                  <a:cubicBezTo>
                    <a:pt x="35519" y="7789"/>
                    <a:pt x="54323" y="0"/>
                    <a:pt x="73931" y="0"/>
                  </a:cubicBezTo>
                  <a:close/>
                </a:path>
              </a:pathLst>
            </a:custGeom>
            <a:blipFill>
              <a:blip r:embed="rId3"/>
              <a:stretch>
                <a:fillRect t="-6795" b="-679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8658225" y="5681332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5722535" y="3548856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3" y="0"/>
                </a:lnTo>
                <a:lnTo>
                  <a:pt x="385763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86490" y="1238250"/>
            <a:ext cx="15315020" cy="153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44"/>
              </a:lnSpc>
              <a:spcBef>
                <a:spcPct val="0"/>
              </a:spcBef>
            </a:pPr>
            <a:r>
              <a:rPr lang="en-US" sz="11494" b="1" spc="-862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</a:t>
            </a:r>
            <a:r>
              <a:rPr lang="en-US" sz="11494" b="1" u="none" strike="noStrike" spc="-862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oject Objective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45663" y="3032357"/>
            <a:ext cx="4396673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spc="-37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Pattern Recognition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3076" y="3817546"/>
            <a:ext cx="5429839" cy="147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Develop an</a:t>
            </a:r>
            <a:r>
              <a:rPr lang="en-US" sz="2081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interactive Power BI dashboard to monitor banking transactions, identify fraud patterns, and support decision-making.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1260" y="5986132"/>
            <a:ext cx="2978515" cy="335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OBJECTIVE</a:t>
            </a:r>
            <a:r>
              <a:rPr lang="en-US" sz="1800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24792" y="6430057"/>
            <a:ext cx="5718123" cy="353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Ana</a:t>
            </a: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lyze banking transaction data.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Monitor transaction behavior.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Detect suspicious login attempts.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Identify high-risk locations.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Analyze customer demographics.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Track transaction trends over time.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Provide management with real-time insights.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Analyze transaction amounts by customer occupation and age group.</a:t>
            </a:r>
          </a:p>
          <a:p>
            <a:pPr algn="l">
              <a:lnSpc>
                <a:spcPts val="2799"/>
              </a:lnSpc>
            </a:pPr>
            <a:endParaRPr lang="en-US" sz="1999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2365798" y="-650048"/>
            <a:ext cx="3214753" cy="6572250"/>
            <a:chOff x="0" y="0"/>
            <a:chExt cx="2540052" cy="5192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0052" cy="5192889"/>
            </a:xfrm>
            <a:custGeom>
              <a:avLst/>
              <a:gdLst/>
              <a:ahLst/>
              <a:cxnLst/>
              <a:rect l="l" t="t" r="r" b="b"/>
              <a:pathLst>
                <a:path w="2540052" h="5192889">
                  <a:moveTo>
                    <a:pt x="84289" y="0"/>
                  </a:moveTo>
                  <a:lnTo>
                    <a:pt x="2455763" y="0"/>
                  </a:lnTo>
                  <a:cubicBezTo>
                    <a:pt x="2502315" y="0"/>
                    <a:pt x="2540052" y="37737"/>
                    <a:pt x="2540052" y="84289"/>
                  </a:cubicBezTo>
                  <a:lnTo>
                    <a:pt x="2540052" y="5108600"/>
                  </a:lnTo>
                  <a:cubicBezTo>
                    <a:pt x="2540052" y="5155152"/>
                    <a:pt x="2502315" y="5192889"/>
                    <a:pt x="2455763" y="5192889"/>
                  </a:cubicBezTo>
                  <a:lnTo>
                    <a:pt x="84289" y="5192889"/>
                  </a:lnTo>
                  <a:cubicBezTo>
                    <a:pt x="37737" y="5192889"/>
                    <a:pt x="0" y="5155152"/>
                    <a:pt x="0" y="5108600"/>
                  </a:cubicBezTo>
                  <a:lnTo>
                    <a:pt x="0" y="84289"/>
                  </a:lnTo>
                  <a:cubicBezTo>
                    <a:pt x="0" y="37737"/>
                    <a:pt x="37737" y="0"/>
                    <a:pt x="842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40052" cy="5259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34015" y="443495"/>
            <a:ext cx="5401893" cy="5142140"/>
            <a:chOff x="0" y="0"/>
            <a:chExt cx="899889" cy="856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9889" cy="856617"/>
            </a:xfrm>
            <a:custGeom>
              <a:avLst/>
              <a:gdLst/>
              <a:ahLst/>
              <a:cxnLst/>
              <a:rect l="l" t="t" r="r" b="b"/>
              <a:pathLst>
                <a:path w="899889" h="856617">
                  <a:moveTo>
                    <a:pt x="50162" y="0"/>
                  </a:moveTo>
                  <a:lnTo>
                    <a:pt x="849727" y="0"/>
                  </a:lnTo>
                  <a:cubicBezTo>
                    <a:pt x="863031" y="0"/>
                    <a:pt x="875790" y="5285"/>
                    <a:pt x="885197" y="14692"/>
                  </a:cubicBezTo>
                  <a:cubicBezTo>
                    <a:pt x="894604" y="24099"/>
                    <a:pt x="899889" y="36858"/>
                    <a:pt x="899889" y="50162"/>
                  </a:cubicBezTo>
                  <a:lnTo>
                    <a:pt x="899889" y="806456"/>
                  </a:lnTo>
                  <a:cubicBezTo>
                    <a:pt x="899889" y="819759"/>
                    <a:pt x="894604" y="832518"/>
                    <a:pt x="885197" y="841925"/>
                  </a:cubicBezTo>
                  <a:cubicBezTo>
                    <a:pt x="875790" y="851332"/>
                    <a:pt x="863031" y="856617"/>
                    <a:pt x="849727" y="856617"/>
                  </a:cubicBezTo>
                  <a:lnTo>
                    <a:pt x="50162" y="856617"/>
                  </a:lnTo>
                  <a:cubicBezTo>
                    <a:pt x="36858" y="856617"/>
                    <a:pt x="24099" y="851332"/>
                    <a:pt x="14692" y="841925"/>
                  </a:cubicBezTo>
                  <a:cubicBezTo>
                    <a:pt x="5285" y="832518"/>
                    <a:pt x="0" y="819759"/>
                    <a:pt x="0" y="806456"/>
                  </a:cubicBezTo>
                  <a:lnTo>
                    <a:pt x="0" y="50162"/>
                  </a:lnTo>
                  <a:cubicBezTo>
                    <a:pt x="0" y="36858"/>
                    <a:pt x="5285" y="24099"/>
                    <a:pt x="14692" y="14692"/>
                  </a:cubicBezTo>
                  <a:cubicBezTo>
                    <a:pt x="24099" y="5285"/>
                    <a:pt x="36858" y="0"/>
                    <a:pt x="50162" y="0"/>
                  </a:cubicBezTo>
                  <a:close/>
                </a:path>
              </a:pathLst>
            </a:custGeom>
            <a:blipFill>
              <a:blip r:embed="rId2"/>
              <a:stretch>
                <a:fillRect l="-21328" r="-2132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859969" y="3842275"/>
            <a:ext cx="2561327" cy="669144"/>
            <a:chOff x="0" y="0"/>
            <a:chExt cx="2023765" cy="5287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23765" cy="528706"/>
            </a:xfrm>
            <a:custGeom>
              <a:avLst/>
              <a:gdLst/>
              <a:ahLst/>
              <a:cxnLst/>
              <a:rect l="l" t="t" r="r" b="b"/>
              <a:pathLst>
                <a:path w="2023765" h="528706">
                  <a:moveTo>
                    <a:pt x="60452" y="0"/>
                  </a:moveTo>
                  <a:lnTo>
                    <a:pt x="1963313" y="0"/>
                  </a:lnTo>
                  <a:cubicBezTo>
                    <a:pt x="1996699" y="0"/>
                    <a:pt x="2023765" y="27065"/>
                    <a:pt x="2023765" y="60452"/>
                  </a:cubicBezTo>
                  <a:lnTo>
                    <a:pt x="2023765" y="468254"/>
                  </a:lnTo>
                  <a:cubicBezTo>
                    <a:pt x="2023765" y="501641"/>
                    <a:pt x="1996699" y="528706"/>
                    <a:pt x="1963313" y="528706"/>
                  </a:cubicBezTo>
                  <a:lnTo>
                    <a:pt x="60452" y="528706"/>
                  </a:lnTo>
                  <a:cubicBezTo>
                    <a:pt x="27065" y="528706"/>
                    <a:pt x="0" y="501641"/>
                    <a:pt x="0" y="468254"/>
                  </a:cubicBezTo>
                  <a:lnTo>
                    <a:pt x="0" y="60452"/>
                  </a:lnTo>
                  <a:cubicBezTo>
                    <a:pt x="0" y="27065"/>
                    <a:pt x="27065" y="0"/>
                    <a:pt x="60452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023765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7259300" y="2150302"/>
            <a:ext cx="0" cy="97155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463836" y="5785660"/>
            <a:ext cx="9334455" cy="3923974"/>
            <a:chOff x="0" y="0"/>
            <a:chExt cx="7375372" cy="31004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75372" cy="3100424"/>
            </a:xfrm>
            <a:custGeom>
              <a:avLst/>
              <a:gdLst/>
              <a:ahLst/>
              <a:cxnLst/>
              <a:rect l="l" t="t" r="r" b="b"/>
              <a:pathLst>
                <a:path w="7375372" h="3100424">
                  <a:moveTo>
                    <a:pt x="29029" y="0"/>
                  </a:moveTo>
                  <a:lnTo>
                    <a:pt x="7346343" y="0"/>
                  </a:lnTo>
                  <a:cubicBezTo>
                    <a:pt x="7354042" y="0"/>
                    <a:pt x="7361425" y="3058"/>
                    <a:pt x="7366869" y="8502"/>
                  </a:cubicBezTo>
                  <a:cubicBezTo>
                    <a:pt x="7372313" y="13946"/>
                    <a:pt x="7375372" y="21330"/>
                    <a:pt x="7375372" y="29029"/>
                  </a:cubicBezTo>
                  <a:lnTo>
                    <a:pt x="7375372" y="3071395"/>
                  </a:lnTo>
                  <a:cubicBezTo>
                    <a:pt x="7375372" y="3087427"/>
                    <a:pt x="7362375" y="3100424"/>
                    <a:pt x="7346343" y="3100424"/>
                  </a:cubicBezTo>
                  <a:lnTo>
                    <a:pt x="29029" y="3100424"/>
                  </a:lnTo>
                  <a:cubicBezTo>
                    <a:pt x="12997" y="3100424"/>
                    <a:pt x="0" y="3087427"/>
                    <a:pt x="0" y="3071395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7375372" cy="3167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771844" y="4176846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3" y="0"/>
                </a:lnTo>
                <a:lnTo>
                  <a:pt x="385763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54479" y="992855"/>
            <a:ext cx="8995382" cy="284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84"/>
              </a:lnSpc>
            </a:pPr>
            <a:r>
              <a:rPr lang="en-US" sz="11537" b="1" spc="-865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Dataset Information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3836" y="3975852"/>
            <a:ext cx="3431600" cy="335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Dataset 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3836" y="6558211"/>
            <a:ext cx="9334455" cy="318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596" lvl="1" indent="-214298" algn="l">
              <a:lnSpc>
                <a:spcPts val="2779"/>
              </a:lnSpc>
              <a:spcBef>
                <a:spcPct val="0"/>
              </a:spcBef>
              <a:buFont typeface="Arial"/>
              <a:buChar char="•"/>
            </a:pPr>
            <a:r>
              <a:rPr lang="en-US" sz="1985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Total Records: 50,000 Transaction</a:t>
            </a:r>
            <a:r>
              <a:rPr lang="en-US" sz="1985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</a:p>
          <a:p>
            <a:pPr marL="428596" lvl="1" indent="-214298" algn="l">
              <a:lnSpc>
                <a:spcPts val="2779"/>
              </a:lnSpc>
              <a:spcBef>
                <a:spcPct val="0"/>
              </a:spcBef>
              <a:buFont typeface="Arial"/>
              <a:buChar char="•"/>
            </a:pPr>
            <a:r>
              <a:rPr lang="en-US" sz="1985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Time Period: 2020 – 2025</a:t>
            </a:r>
          </a:p>
          <a:p>
            <a:pPr marL="428596" lvl="1" indent="-214298" algn="l">
              <a:lnSpc>
                <a:spcPts val="2779"/>
              </a:lnSpc>
              <a:spcBef>
                <a:spcPct val="0"/>
              </a:spcBef>
              <a:buFont typeface="Arial"/>
              <a:buChar char="•"/>
            </a:pPr>
            <a:r>
              <a:rPr lang="en-US" sz="1985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Transaction Types: Credit, Debit</a:t>
            </a:r>
          </a:p>
          <a:p>
            <a:pPr marL="428596" lvl="1" indent="-214298" algn="l">
              <a:lnSpc>
                <a:spcPts val="2779"/>
              </a:lnSpc>
              <a:spcBef>
                <a:spcPct val="0"/>
              </a:spcBef>
              <a:buFont typeface="Arial"/>
              <a:buChar char="•"/>
            </a:pPr>
            <a:r>
              <a:rPr lang="en-US" sz="1985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Transaction Channels: ATM, Online, Branch (Offline)</a:t>
            </a:r>
          </a:p>
          <a:p>
            <a:pPr marL="428596" lvl="1" indent="-214298" algn="l">
              <a:lnSpc>
                <a:spcPts val="2779"/>
              </a:lnSpc>
              <a:spcBef>
                <a:spcPct val="0"/>
              </a:spcBef>
              <a:buFont typeface="Arial"/>
              <a:buChar char="•"/>
            </a:pPr>
            <a:r>
              <a:rPr lang="en-US" sz="1985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Locations: Multiple cities</a:t>
            </a:r>
          </a:p>
          <a:p>
            <a:pPr marL="428596" lvl="1" indent="-214298" algn="l">
              <a:lnSpc>
                <a:spcPts val="2779"/>
              </a:lnSpc>
              <a:spcBef>
                <a:spcPct val="0"/>
              </a:spcBef>
              <a:buFont typeface="Arial"/>
              <a:buChar char="•"/>
            </a:pPr>
            <a:r>
              <a:rPr lang="en-US" sz="1985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Customer Information:  Account ID, Age, Occupation, Account Balance</a:t>
            </a:r>
          </a:p>
          <a:p>
            <a:pPr marL="428596" lvl="1" indent="-214298" algn="l">
              <a:lnSpc>
                <a:spcPts val="2779"/>
              </a:lnSpc>
              <a:spcBef>
                <a:spcPct val="0"/>
              </a:spcBef>
              <a:buFont typeface="Arial"/>
              <a:buChar char="•"/>
            </a:pPr>
            <a:r>
              <a:rPr lang="en-US" sz="1985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Fraud Indicators:  Transactions ID, Transaction Amount, Merchants ID, Login Attempts, Device ID, IP Address, Transaction Duration</a:t>
            </a:r>
          </a:p>
          <a:p>
            <a:pPr marL="0" lvl="0" indent="0" algn="l">
              <a:lnSpc>
                <a:spcPts val="2779"/>
              </a:lnSpc>
              <a:spcBef>
                <a:spcPct val="0"/>
              </a:spcBef>
            </a:pPr>
            <a:endParaRPr lang="en-US" sz="1985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574608" y="5878932"/>
            <a:ext cx="2935054" cy="30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DATASET SUMMARY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034015" y="6276406"/>
            <a:ext cx="6547022" cy="1909181"/>
            <a:chOff x="0" y="0"/>
            <a:chExt cx="5172955" cy="15084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72956" cy="1508488"/>
            </a:xfrm>
            <a:custGeom>
              <a:avLst/>
              <a:gdLst/>
              <a:ahLst/>
              <a:cxnLst/>
              <a:rect l="l" t="t" r="r" b="b"/>
              <a:pathLst>
                <a:path w="5172956" h="1508488">
                  <a:moveTo>
                    <a:pt x="41388" y="0"/>
                  </a:moveTo>
                  <a:lnTo>
                    <a:pt x="5131568" y="0"/>
                  </a:lnTo>
                  <a:cubicBezTo>
                    <a:pt x="5142545" y="0"/>
                    <a:pt x="5153072" y="4360"/>
                    <a:pt x="5160833" y="12122"/>
                  </a:cubicBezTo>
                  <a:cubicBezTo>
                    <a:pt x="5168595" y="19884"/>
                    <a:pt x="5172956" y="30411"/>
                    <a:pt x="5172956" y="41388"/>
                  </a:cubicBezTo>
                  <a:lnTo>
                    <a:pt x="5172956" y="1467101"/>
                  </a:lnTo>
                  <a:cubicBezTo>
                    <a:pt x="5172956" y="1489958"/>
                    <a:pt x="5154426" y="1508488"/>
                    <a:pt x="5131568" y="1508488"/>
                  </a:cubicBezTo>
                  <a:lnTo>
                    <a:pt x="41388" y="1508488"/>
                  </a:lnTo>
                  <a:cubicBezTo>
                    <a:pt x="18530" y="1508488"/>
                    <a:pt x="0" y="1489958"/>
                    <a:pt x="0" y="1467101"/>
                  </a:cubicBezTo>
                  <a:lnTo>
                    <a:pt x="0" y="41388"/>
                  </a:lnTo>
                  <a:cubicBezTo>
                    <a:pt x="0" y="30411"/>
                    <a:pt x="4360" y="19884"/>
                    <a:pt x="12122" y="12122"/>
                  </a:cubicBezTo>
                  <a:cubicBezTo>
                    <a:pt x="19884" y="4360"/>
                    <a:pt x="30411" y="0"/>
                    <a:pt x="41388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5172955" cy="157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034015" y="6558211"/>
            <a:ext cx="6389718" cy="127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BBF1FE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Dataset: Bank Transactions Dataset for Fraud Detection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BBF1FE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Source: Kaggle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BBF1FE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URL: https://www.kaggle.com/datasets/thuandao/bank-transactions-dataset-for-fraud-detection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2589553" y="-1169415"/>
            <a:ext cx="4752062" cy="7873768"/>
            <a:chOff x="0" y="0"/>
            <a:chExt cx="3754716" cy="6221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54716" cy="6221249"/>
            </a:xfrm>
            <a:custGeom>
              <a:avLst/>
              <a:gdLst/>
              <a:ahLst/>
              <a:cxnLst/>
              <a:rect l="l" t="t" r="r" b="b"/>
              <a:pathLst>
                <a:path w="3754716" h="6221249">
                  <a:moveTo>
                    <a:pt x="57021" y="0"/>
                  </a:moveTo>
                  <a:lnTo>
                    <a:pt x="3697695" y="0"/>
                  </a:lnTo>
                  <a:cubicBezTo>
                    <a:pt x="3729187" y="0"/>
                    <a:pt x="3754716" y="25529"/>
                    <a:pt x="3754716" y="57021"/>
                  </a:cubicBezTo>
                  <a:lnTo>
                    <a:pt x="3754716" y="6164228"/>
                  </a:lnTo>
                  <a:cubicBezTo>
                    <a:pt x="3754716" y="6195720"/>
                    <a:pt x="3729187" y="6221249"/>
                    <a:pt x="3697695" y="6221249"/>
                  </a:cubicBezTo>
                  <a:lnTo>
                    <a:pt x="57021" y="6221249"/>
                  </a:lnTo>
                  <a:cubicBezTo>
                    <a:pt x="25529" y="6221249"/>
                    <a:pt x="0" y="6195720"/>
                    <a:pt x="0" y="6164228"/>
                  </a:cubicBezTo>
                  <a:lnTo>
                    <a:pt x="0" y="57021"/>
                  </a:lnTo>
                  <a:cubicBezTo>
                    <a:pt x="0" y="25529"/>
                    <a:pt x="25529" y="0"/>
                    <a:pt x="570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754716" cy="6287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19593" y="391438"/>
            <a:ext cx="10924127" cy="4899176"/>
          </a:xfrm>
          <a:custGeom>
            <a:avLst/>
            <a:gdLst/>
            <a:ahLst/>
            <a:cxnLst/>
            <a:rect l="l" t="t" r="r" b="b"/>
            <a:pathLst>
              <a:path w="10924127" h="4899176">
                <a:moveTo>
                  <a:pt x="0" y="0"/>
                </a:moveTo>
                <a:lnTo>
                  <a:pt x="10924127" y="0"/>
                </a:lnTo>
                <a:lnTo>
                  <a:pt x="10924127" y="4899176"/>
                </a:lnTo>
                <a:lnTo>
                  <a:pt x="0" y="4899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58" t="-35305" r="-16177" b="-24077"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028700" y="2382844"/>
            <a:ext cx="0" cy="97155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8675369" y="5800695"/>
            <a:ext cx="10181172" cy="153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11465" b="1" spc="-859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DASHBOARD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62512" y="1696371"/>
            <a:ext cx="5029200" cy="2448096"/>
            <a:chOff x="0" y="0"/>
            <a:chExt cx="3973689" cy="19342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73689" cy="1934298"/>
            </a:xfrm>
            <a:custGeom>
              <a:avLst/>
              <a:gdLst/>
              <a:ahLst/>
              <a:cxnLst/>
              <a:rect l="l" t="t" r="r" b="b"/>
              <a:pathLst>
                <a:path w="3973689" h="1934298">
                  <a:moveTo>
                    <a:pt x="53879" y="0"/>
                  </a:moveTo>
                  <a:lnTo>
                    <a:pt x="3919810" y="0"/>
                  </a:lnTo>
                  <a:cubicBezTo>
                    <a:pt x="3934100" y="0"/>
                    <a:pt x="3947804" y="5676"/>
                    <a:pt x="3957908" y="15781"/>
                  </a:cubicBezTo>
                  <a:cubicBezTo>
                    <a:pt x="3968012" y="25885"/>
                    <a:pt x="3973689" y="39589"/>
                    <a:pt x="3973689" y="53879"/>
                  </a:cubicBezTo>
                  <a:lnTo>
                    <a:pt x="3973689" y="1880420"/>
                  </a:lnTo>
                  <a:cubicBezTo>
                    <a:pt x="3973689" y="1894709"/>
                    <a:pt x="3968012" y="1908413"/>
                    <a:pt x="3957908" y="1918518"/>
                  </a:cubicBezTo>
                  <a:cubicBezTo>
                    <a:pt x="3947804" y="1928622"/>
                    <a:pt x="3934100" y="1934298"/>
                    <a:pt x="3919810" y="1934298"/>
                  </a:cubicBezTo>
                  <a:lnTo>
                    <a:pt x="53879" y="1934298"/>
                  </a:lnTo>
                  <a:cubicBezTo>
                    <a:pt x="39589" y="1934298"/>
                    <a:pt x="25885" y="1928622"/>
                    <a:pt x="15781" y="1918518"/>
                  </a:cubicBezTo>
                  <a:cubicBezTo>
                    <a:pt x="5676" y="1908413"/>
                    <a:pt x="0" y="1894709"/>
                    <a:pt x="0" y="1880420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973689" cy="2000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06306" y="7633417"/>
            <a:ext cx="4784558" cy="797760"/>
            <a:chOff x="0" y="0"/>
            <a:chExt cx="3780392" cy="6303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80392" cy="630329"/>
            </a:xfrm>
            <a:custGeom>
              <a:avLst/>
              <a:gdLst/>
              <a:ahLst/>
              <a:cxnLst/>
              <a:rect l="l" t="t" r="r" b="b"/>
              <a:pathLst>
                <a:path w="3780392" h="630329">
                  <a:moveTo>
                    <a:pt x="32362" y="0"/>
                  </a:moveTo>
                  <a:lnTo>
                    <a:pt x="3748030" y="0"/>
                  </a:lnTo>
                  <a:cubicBezTo>
                    <a:pt x="3756613" y="0"/>
                    <a:pt x="3764844" y="3410"/>
                    <a:pt x="3770913" y="9479"/>
                  </a:cubicBezTo>
                  <a:cubicBezTo>
                    <a:pt x="3776982" y="15548"/>
                    <a:pt x="3780392" y="23779"/>
                    <a:pt x="3780392" y="32362"/>
                  </a:cubicBezTo>
                  <a:lnTo>
                    <a:pt x="3780392" y="597967"/>
                  </a:lnTo>
                  <a:cubicBezTo>
                    <a:pt x="3780392" y="615840"/>
                    <a:pt x="3765903" y="630329"/>
                    <a:pt x="3748030" y="630329"/>
                  </a:cubicBezTo>
                  <a:lnTo>
                    <a:pt x="32362" y="630329"/>
                  </a:lnTo>
                  <a:cubicBezTo>
                    <a:pt x="23779" y="630329"/>
                    <a:pt x="15548" y="626920"/>
                    <a:pt x="9479" y="620851"/>
                  </a:cubicBezTo>
                  <a:cubicBezTo>
                    <a:pt x="3410" y="614782"/>
                    <a:pt x="0" y="606550"/>
                    <a:pt x="0" y="597967"/>
                  </a:cubicBezTo>
                  <a:lnTo>
                    <a:pt x="0" y="32362"/>
                  </a:lnTo>
                  <a:cubicBezTo>
                    <a:pt x="0" y="23779"/>
                    <a:pt x="3410" y="15548"/>
                    <a:pt x="9479" y="9479"/>
                  </a:cubicBezTo>
                  <a:cubicBezTo>
                    <a:pt x="15548" y="3410"/>
                    <a:pt x="23779" y="0"/>
                    <a:pt x="32362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3780392" cy="697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37509" y="5404854"/>
            <a:ext cx="6516936" cy="4006728"/>
            <a:chOff x="0" y="0"/>
            <a:chExt cx="5149184" cy="31658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49184" cy="3165810"/>
            </a:xfrm>
            <a:custGeom>
              <a:avLst/>
              <a:gdLst/>
              <a:ahLst/>
              <a:cxnLst/>
              <a:rect l="l" t="t" r="r" b="b"/>
              <a:pathLst>
                <a:path w="5149184" h="3165810">
                  <a:moveTo>
                    <a:pt x="41579" y="0"/>
                  </a:moveTo>
                  <a:lnTo>
                    <a:pt x="5107605" y="0"/>
                  </a:lnTo>
                  <a:cubicBezTo>
                    <a:pt x="5118632" y="0"/>
                    <a:pt x="5129208" y="4381"/>
                    <a:pt x="5137005" y="12178"/>
                  </a:cubicBezTo>
                  <a:cubicBezTo>
                    <a:pt x="5144803" y="19976"/>
                    <a:pt x="5149184" y="30552"/>
                    <a:pt x="5149184" y="41579"/>
                  </a:cubicBezTo>
                  <a:lnTo>
                    <a:pt x="5149184" y="3124231"/>
                  </a:lnTo>
                  <a:cubicBezTo>
                    <a:pt x="5149184" y="3135258"/>
                    <a:pt x="5144803" y="3145834"/>
                    <a:pt x="5137005" y="3153632"/>
                  </a:cubicBezTo>
                  <a:cubicBezTo>
                    <a:pt x="5129208" y="3161429"/>
                    <a:pt x="5118632" y="3165810"/>
                    <a:pt x="5107605" y="3165810"/>
                  </a:cubicBezTo>
                  <a:lnTo>
                    <a:pt x="41579" y="3165810"/>
                  </a:lnTo>
                  <a:cubicBezTo>
                    <a:pt x="30552" y="3165810"/>
                    <a:pt x="19976" y="3161429"/>
                    <a:pt x="12178" y="3153632"/>
                  </a:cubicBezTo>
                  <a:cubicBezTo>
                    <a:pt x="4381" y="3145834"/>
                    <a:pt x="0" y="3135258"/>
                    <a:pt x="0" y="3124231"/>
                  </a:cubicBezTo>
                  <a:lnTo>
                    <a:pt x="0" y="41579"/>
                  </a:lnTo>
                  <a:cubicBezTo>
                    <a:pt x="0" y="30552"/>
                    <a:pt x="4381" y="19976"/>
                    <a:pt x="12178" y="12178"/>
                  </a:cubicBezTo>
                  <a:cubicBezTo>
                    <a:pt x="19976" y="4381"/>
                    <a:pt x="30552" y="0"/>
                    <a:pt x="415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5149184" cy="3232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279100" y="7492047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606306" y="7801610"/>
            <a:ext cx="4573778" cy="38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1"/>
              </a:lnSpc>
              <a:spcBef>
                <a:spcPct val="0"/>
              </a:spcBef>
            </a:pPr>
            <a:r>
              <a:rPr lang="en-US" sz="2086" b="1" spc="-41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Analytics Screen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16816" y="2350507"/>
            <a:ext cx="4120593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Th</a:t>
            </a: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e dashboard provides visual analytics to identify suspicious activities efficiently.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46770" y="5723942"/>
            <a:ext cx="5573981" cy="1100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5"/>
              </a:lnSpc>
              <a:spcBef>
                <a:spcPct val="0"/>
              </a:spcBef>
            </a:pPr>
            <a:r>
              <a:rPr lang="en-US" sz="2061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Bank</a:t>
            </a:r>
            <a:r>
              <a:rPr lang="en-US" sz="2061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 process thousands of transactions every day. Detecting fraudulent activities manually is difficult due to: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14946" y="6910297"/>
            <a:ext cx="5837629" cy="2501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118" lvl="1" indent="-255059" algn="just">
              <a:lnSpc>
                <a:spcPts val="3307"/>
              </a:lnSpc>
              <a:spcBef>
                <a:spcPct val="0"/>
              </a:spcBef>
              <a:buFont typeface="Arial"/>
              <a:buChar char="•"/>
            </a:pPr>
            <a:r>
              <a:rPr lang="en-US" sz="2362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Large transaction volumes</a:t>
            </a:r>
          </a:p>
          <a:p>
            <a:pPr marL="510118" lvl="1" indent="-255059" algn="just">
              <a:lnSpc>
                <a:spcPts val="3307"/>
              </a:lnSpc>
              <a:spcBef>
                <a:spcPct val="0"/>
              </a:spcBef>
              <a:buFont typeface="Arial"/>
              <a:buChar char="•"/>
            </a:pPr>
            <a:r>
              <a:rPr lang="en-US" sz="2362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Multiple transaction channels</a:t>
            </a:r>
          </a:p>
          <a:p>
            <a:pPr marL="510118" lvl="1" indent="-255059" algn="just">
              <a:lnSpc>
                <a:spcPts val="3307"/>
              </a:lnSpc>
              <a:spcBef>
                <a:spcPct val="0"/>
              </a:spcBef>
              <a:buFont typeface="Arial"/>
              <a:buChar char="•"/>
            </a:pPr>
            <a:r>
              <a:rPr lang="en-US" sz="2362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Different customer behaviors</a:t>
            </a:r>
          </a:p>
          <a:p>
            <a:pPr marL="510118" lvl="1" indent="-255059" algn="just">
              <a:lnSpc>
                <a:spcPts val="3307"/>
              </a:lnSpc>
              <a:spcBef>
                <a:spcPct val="0"/>
              </a:spcBef>
              <a:buFont typeface="Arial"/>
              <a:buChar char="•"/>
            </a:pPr>
            <a:r>
              <a:rPr lang="en-US" sz="2362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High financial risk</a:t>
            </a:r>
          </a:p>
          <a:p>
            <a:pPr marL="510118" lvl="1" indent="-255059" algn="just">
              <a:lnSpc>
                <a:spcPts val="3307"/>
              </a:lnSpc>
              <a:spcBef>
                <a:spcPct val="0"/>
              </a:spcBef>
              <a:buFont typeface="Arial"/>
              <a:buChar char="•"/>
            </a:pPr>
            <a:r>
              <a:rPr lang="en-US" sz="2362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Need for quick fraud detection</a:t>
            </a:r>
          </a:p>
          <a:p>
            <a:pPr algn="just">
              <a:lnSpc>
                <a:spcPts val="3307"/>
              </a:lnSpc>
              <a:spcBef>
                <a:spcPct val="0"/>
              </a:spcBef>
            </a:pPr>
            <a:endParaRPr lang="en-US" sz="2362" b="1" spc="-47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7793" y="5744041"/>
            <a:ext cx="6304183" cy="3899806"/>
            <a:chOff x="0" y="0"/>
            <a:chExt cx="1097900" cy="6791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900" cy="679167"/>
            </a:xfrm>
            <a:custGeom>
              <a:avLst/>
              <a:gdLst/>
              <a:ahLst/>
              <a:cxnLst/>
              <a:rect l="l" t="t" r="r" b="b"/>
              <a:pathLst>
                <a:path w="1097900" h="679167">
                  <a:moveTo>
                    <a:pt x="42982" y="0"/>
                  </a:moveTo>
                  <a:lnTo>
                    <a:pt x="1054918" y="0"/>
                  </a:lnTo>
                  <a:cubicBezTo>
                    <a:pt x="1078656" y="0"/>
                    <a:pt x="1097900" y="19244"/>
                    <a:pt x="1097900" y="42982"/>
                  </a:cubicBezTo>
                  <a:lnTo>
                    <a:pt x="1097900" y="636185"/>
                  </a:lnTo>
                  <a:cubicBezTo>
                    <a:pt x="1097900" y="647585"/>
                    <a:pt x="1093371" y="658518"/>
                    <a:pt x="1085311" y="666578"/>
                  </a:cubicBezTo>
                  <a:cubicBezTo>
                    <a:pt x="1077250" y="674639"/>
                    <a:pt x="1066317" y="679167"/>
                    <a:pt x="1054918" y="679167"/>
                  </a:cubicBezTo>
                  <a:lnTo>
                    <a:pt x="42982" y="679167"/>
                  </a:lnTo>
                  <a:cubicBezTo>
                    <a:pt x="19244" y="679167"/>
                    <a:pt x="0" y="659924"/>
                    <a:pt x="0" y="636185"/>
                  </a:cubicBezTo>
                  <a:lnTo>
                    <a:pt x="0" y="42982"/>
                  </a:lnTo>
                  <a:cubicBezTo>
                    <a:pt x="0" y="19244"/>
                    <a:pt x="19244" y="0"/>
                    <a:pt x="42982" y="0"/>
                  </a:cubicBezTo>
                  <a:close/>
                </a:path>
              </a:pathLst>
            </a:custGeom>
            <a:blipFill>
              <a:blip r:embed="rId2"/>
              <a:stretch>
                <a:fillRect t="-3933" b="-393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2714759" y="-984099"/>
            <a:ext cx="3714483" cy="7086600"/>
            <a:chOff x="0" y="0"/>
            <a:chExt cx="2934900" cy="55992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34900" cy="5599289"/>
            </a:xfrm>
            <a:custGeom>
              <a:avLst/>
              <a:gdLst/>
              <a:ahLst/>
              <a:cxnLst/>
              <a:rect l="l" t="t" r="r" b="b"/>
              <a:pathLst>
                <a:path w="2934900" h="5599289">
                  <a:moveTo>
                    <a:pt x="72949" y="0"/>
                  </a:moveTo>
                  <a:lnTo>
                    <a:pt x="2861951" y="0"/>
                  </a:lnTo>
                  <a:cubicBezTo>
                    <a:pt x="2902240" y="0"/>
                    <a:pt x="2934900" y="32660"/>
                    <a:pt x="2934900" y="72949"/>
                  </a:cubicBezTo>
                  <a:lnTo>
                    <a:pt x="2934900" y="5526340"/>
                  </a:lnTo>
                  <a:cubicBezTo>
                    <a:pt x="2934900" y="5545687"/>
                    <a:pt x="2927214" y="5564242"/>
                    <a:pt x="2913534" y="5577923"/>
                  </a:cubicBezTo>
                  <a:cubicBezTo>
                    <a:pt x="2899853" y="5591603"/>
                    <a:pt x="2881298" y="5599289"/>
                    <a:pt x="2861951" y="5599289"/>
                  </a:cubicBezTo>
                  <a:lnTo>
                    <a:pt x="72949" y="5599289"/>
                  </a:lnTo>
                  <a:cubicBezTo>
                    <a:pt x="32660" y="5599289"/>
                    <a:pt x="0" y="5566628"/>
                    <a:pt x="0" y="5526340"/>
                  </a:cubicBezTo>
                  <a:lnTo>
                    <a:pt x="0" y="72949"/>
                  </a:lnTo>
                  <a:cubicBezTo>
                    <a:pt x="0" y="32660"/>
                    <a:pt x="32660" y="0"/>
                    <a:pt x="729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934900" cy="5665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733221" y="6035331"/>
            <a:ext cx="10307684" cy="3968388"/>
            <a:chOff x="0" y="0"/>
            <a:chExt cx="8144343" cy="31355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44343" cy="3135516"/>
            </a:xfrm>
            <a:custGeom>
              <a:avLst/>
              <a:gdLst/>
              <a:ahLst/>
              <a:cxnLst/>
              <a:rect l="l" t="t" r="r" b="b"/>
              <a:pathLst>
                <a:path w="8144343" h="3135516">
                  <a:moveTo>
                    <a:pt x="26288" y="0"/>
                  </a:moveTo>
                  <a:lnTo>
                    <a:pt x="8118056" y="0"/>
                  </a:lnTo>
                  <a:cubicBezTo>
                    <a:pt x="8132573" y="0"/>
                    <a:pt x="8144343" y="11769"/>
                    <a:pt x="8144343" y="26288"/>
                  </a:cubicBezTo>
                  <a:lnTo>
                    <a:pt x="8144343" y="3109228"/>
                  </a:lnTo>
                  <a:cubicBezTo>
                    <a:pt x="8144343" y="3116200"/>
                    <a:pt x="8141574" y="3122887"/>
                    <a:pt x="8136644" y="3127817"/>
                  </a:cubicBezTo>
                  <a:cubicBezTo>
                    <a:pt x="8131714" y="3132747"/>
                    <a:pt x="8125027" y="3135516"/>
                    <a:pt x="8118056" y="3135516"/>
                  </a:cubicBezTo>
                  <a:lnTo>
                    <a:pt x="26288" y="3135516"/>
                  </a:lnTo>
                  <a:cubicBezTo>
                    <a:pt x="11769" y="3135516"/>
                    <a:pt x="0" y="3123747"/>
                    <a:pt x="0" y="3109228"/>
                  </a:cubicBezTo>
                  <a:lnTo>
                    <a:pt x="0" y="26288"/>
                  </a:lnTo>
                  <a:cubicBezTo>
                    <a:pt x="0" y="11769"/>
                    <a:pt x="11769" y="0"/>
                    <a:pt x="26288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8144343" cy="3202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33979" y="6112951"/>
            <a:ext cx="10106168" cy="373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BBF1FE"/>
                </a:solidFill>
                <a:latin typeface="Telegraf"/>
                <a:ea typeface="Telegraf"/>
                <a:cs typeface="Telegraf"/>
                <a:sym typeface="Telegraf"/>
              </a:rPr>
              <a:t>Total Balance</a:t>
            </a:r>
            <a:r>
              <a:rPr lang="en-US" sz="210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: Measure</a:t>
            </a:r>
            <a:r>
              <a:rPr lang="en-US" sz="21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 the total balance across all customer accounts to monitor the bank's overall financial position and liquidity.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BBF1FE"/>
                </a:solidFill>
                <a:latin typeface="Telegraf"/>
                <a:ea typeface="Telegraf"/>
                <a:cs typeface="Telegraf"/>
                <a:sym typeface="Telegraf"/>
              </a:rPr>
              <a:t>Fraud Victims</a:t>
            </a:r>
            <a:r>
              <a:rPr lang="en-US" sz="21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: Shows the total customer accounts analyzed to support fraud monitoring and risk assessment.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BBF1FE"/>
                </a:solidFill>
                <a:latin typeface="Telegraf"/>
                <a:ea typeface="Telegraf"/>
                <a:cs typeface="Telegraf"/>
                <a:sym typeface="Telegraf"/>
              </a:rPr>
              <a:t>Average Customer Age</a:t>
            </a:r>
            <a:r>
              <a:rPr lang="en-US" sz="21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: Displays the average age of customers to understand demographic trends and customer behavior.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BBF1FE"/>
                </a:solidFill>
                <a:latin typeface="Telegraf"/>
                <a:ea typeface="Telegraf"/>
                <a:cs typeface="Telegraf"/>
                <a:sym typeface="Telegraf"/>
              </a:rPr>
              <a:t>Merchant Count</a:t>
            </a:r>
            <a:r>
              <a:rPr lang="en-US" sz="21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: Counts the number of unique merchants to analyze merchant activity and identify high-risk merchants.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BBF1FE"/>
                </a:solidFill>
                <a:latin typeface="Telegraf"/>
                <a:ea typeface="Telegraf"/>
                <a:cs typeface="Telegraf"/>
                <a:sym typeface="Telegraf"/>
              </a:rPr>
              <a:t>Total Transaction Amount</a:t>
            </a:r>
            <a:r>
              <a:rPr lang="en-US" sz="21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: Measures the total value of all transactions to track transaction volume and overall banking activity.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37576" y="1942612"/>
            <a:ext cx="0" cy="97155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15087524" y="3468310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074393" y="3498991"/>
            <a:ext cx="9643613" cy="278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03"/>
              </a:lnSpc>
            </a:pPr>
            <a:r>
              <a:rPr lang="en-US" sz="11225" b="1" spc="-841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Dashboard</a:t>
            </a:r>
          </a:p>
          <a:p>
            <a:pPr algn="l">
              <a:lnSpc>
                <a:spcPts val="10103"/>
              </a:lnSpc>
            </a:pPr>
            <a:r>
              <a:rPr lang="en-US" sz="11225" b="1" spc="-841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KPIs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75701" y="1691933"/>
            <a:ext cx="3065971" cy="1416467"/>
            <a:chOff x="0" y="0"/>
            <a:chExt cx="2422495" cy="11191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22495" cy="1119184"/>
            </a:xfrm>
            <a:custGeom>
              <a:avLst/>
              <a:gdLst/>
              <a:ahLst/>
              <a:cxnLst/>
              <a:rect l="l" t="t" r="r" b="b"/>
              <a:pathLst>
                <a:path w="2422495" h="1119184">
                  <a:moveTo>
                    <a:pt x="88379" y="0"/>
                  </a:moveTo>
                  <a:lnTo>
                    <a:pt x="2334116" y="0"/>
                  </a:lnTo>
                  <a:cubicBezTo>
                    <a:pt x="2357556" y="0"/>
                    <a:pt x="2380036" y="9311"/>
                    <a:pt x="2396610" y="25886"/>
                  </a:cubicBezTo>
                  <a:cubicBezTo>
                    <a:pt x="2413184" y="42460"/>
                    <a:pt x="2422495" y="64939"/>
                    <a:pt x="2422495" y="88379"/>
                  </a:cubicBezTo>
                  <a:lnTo>
                    <a:pt x="2422495" y="1030805"/>
                  </a:lnTo>
                  <a:cubicBezTo>
                    <a:pt x="2422495" y="1054245"/>
                    <a:pt x="2413184" y="1076724"/>
                    <a:pt x="2396610" y="1093298"/>
                  </a:cubicBezTo>
                  <a:cubicBezTo>
                    <a:pt x="2380036" y="1109873"/>
                    <a:pt x="2357556" y="1119184"/>
                    <a:pt x="2334116" y="1119184"/>
                  </a:cubicBezTo>
                  <a:lnTo>
                    <a:pt x="88379" y="1119184"/>
                  </a:lnTo>
                  <a:cubicBezTo>
                    <a:pt x="64939" y="1119184"/>
                    <a:pt x="42460" y="1109873"/>
                    <a:pt x="25886" y="1093298"/>
                  </a:cubicBezTo>
                  <a:cubicBezTo>
                    <a:pt x="9311" y="1076724"/>
                    <a:pt x="0" y="1054245"/>
                    <a:pt x="0" y="1030805"/>
                  </a:cubicBezTo>
                  <a:lnTo>
                    <a:pt x="0" y="88379"/>
                  </a:lnTo>
                  <a:cubicBezTo>
                    <a:pt x="0" y="64939"/>
                    <a:pt x="9311" y="42460"/>
                    <a:pt x="25886" y="25886"/>
                  </a:cubicBezTo>
                  <a:cubicBezTo>
                    <a:pt x="42460" y="9311"/>
                    <a:pt x="64939" y="0"/>
                    <a:pt x="88379" y="0"/>
                  </a:cubicBezTo>
                  <a:close/>
                </a:path>
              </a:pathLst>
            </a:custGeom>
            <a:solidFill>
              <a:srgbClr val="F05A1B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422495" cy="1185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1656729"/>
            <a:ext cx="3065971" cy="1416467"/>
            <a:chOff x="0" y="0"/>
            <a:chExt cx="2422495" cy="11191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22495" cy="1119184"/>
            </a:xfrm>
            <a:custGeom>
              <a:avLst/>
              <a:gdLst/>
              <a:ahLst/>
              <a:cxnLst/>
              <a:rect l="l" t="t" r="r" b="b"/>
              <a:pathLst>
                <a:path w="2422495" h="1119184">
                  <a:moveTo>
                    <a:pt x="88379" y="0"/>
                  </a:moveTo>
                  <a:lnTo>
                    <a:pt x="2334116" y="0"/>
                  </a:lnTo>
                  <a:cubicBezTo>
                    <a:pt x="2357556" y="0"/>
                    <a:pt x="2380036" y="9311"/>
                    <a:pt x="2396610" y="25886"/>
                  </a:cubicBezTo>
                  <a:cubicBezTo>
                    <a:pt x="2413184" y="42460"/>
                    <a:pt x="2422495" y="64939"/>
                    <a:pt x="2422495" y="88379"/>
                  </a:cubicBezTo>
                  <a:lnTo>
                    <a:pt x="2422495" y="1030805"/>
                  </a:lnTo>
                  <a:cubicBezTo>
                    <a:pt x="2422495" y="1054245"/>
                    <a:pt x="2413184" y="1076724"/>
                    <a:pt x="2396610" y="1093298"/>
                  </a:cubicBezTo>
                  <a:cubicBezTo>
                    <a:pt x="2380036" y="1109873"/>
                    <a:pt x="2357556" y="1119184"/>
                    <a:pt x="2334116" y="1119184"/>
                  </a:cubicBezTo>
                  <a:lnTo>
                    <a:pt x="88379" y="1119184"/>
                  </a:lnTo>
                  <a:cubicBezTo>
                    <a:pt x="64939" y="1119184"/>
                    <a:pt x="42460" y="1109873"/>
                    <a:pt x="25886" y="1093298"/>
                  </a:cubicBezTo>
                  <a:cubicBezTo>
                    <a:pt x="9311" y="1076724"/>
                    <a:pt x="0" y="1054245"/>
                    <a:pt x="0" y="1030805"/>
                  </a:cubicBezTo>
                  <a:lnTo>
                    <a:pt x="0" y="88379"/>
                  </a:lnTo>
                  <a:cubicBezTo>
                    <a:pt x="0" y="64939"/>
                    <a:pt x="9311" y="42460"/>
                    <a:pt x="25886" y="25886"/>
                  </a:cubicBezTo>
                  <a:cubicBezTo>
                    <a:pt x="42460" y="9311"/>
                    <a:pt x="64939" y="0"/>
                    <a:pt x="88379" y="0"/>
                  </a:cubicBezTo>
                  <a:close/>
                </a:path>
              </a:pathLst>
            </a:custGeom>
            <a:solidFill>
              <a:srgbClr val="F05A1B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2422495" cy="1185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058111" y="1691933"/>
            <a:ext cx="3065971" cy="1416467"/>
            <a:chOff x="0" y="0"/>
            <a:chExt cx="2422495" cy="11191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22495" cy="1119184"/>
            </a:xfrm>
            <a:custGeom>
              <a:avLst/>
              <a:gdLst/>
              <a:ahLst/>
              <a:cxnLst/>
              <a:rect l="l" t="t" r="r" b="b"/>
              <a:pathLst>
                <a:path w="2422495" h="1119184">
                  <a:moveTo>
                    <a:pt x="88379" y="0"/>
                  </a:moveTo>
                  <a:lnTo>
                    <a:pt x="2334116" y="0"/>
                  </a:lnTo>
                  <a:cubicBezTo>
                    <a:pt x="2357556" y="0"/>
                    <a:pt x="2380036" y="9311"/>
                    <a:pt x="2396610" y="25886"/>
                  </a:cubicBezTo>
                  <a:cubicBezTo>
                    <a:pt x="2413184" y="42460"/>
                    <a:pt x="2422495" y="64939"/>
                    <a:pt x="2422495" y="88379"/>
                  </a:cubicBezTo>
                  <a:lnTo>
                    <a:pt x="2422495" y="1030805"/>
                  </a:lnTo>
                  <a:cubicBezTo>
                    <a:pt x="2422495" y="1054245"/>
                    <a:pt x="2413184" y="1076724"/>
                    <a:pt x="2396610" y="1093298"/>
                  </a:cubicBezTo>
                  <a:cubicBezTo>
                    <a:pt x="2380036" y="1109873"/>
                    <a:pt x="2357556" y="1119184"/>
                    <a:pt x="2334116" y="1119184"/>
                  </a:cubicBezTo>
                  <a:lnTo>
                    <a:pt x="88379" y="1119184"/>
                  </a:lnTo>
                  <a:cubicBezTo>
                    <a:pt x="64939" y="1119184"/>
                    <a:pt x="42460" y="1109873"/>
                    <a:pt x="25886" y="1093298"/>
                  </a:cubicBezTo>
                  <a:cubicBezTo>
                    <a:pt x="9311" y="1076724"/>
                    <a:pt x="0" y="1054245"/>
                    <a:pt x="0" y="1030805"/>
                  </a:cubicBezTo>
                  <a:lnTo>
                    <a:pt x="0" y="88379"/>
                  </a:lnTo>
                  <a:cubicBezTo>
                    <a:pt x="0" y="64939"/>
                    <a:pt x="9311" y="42460"/>
                    <a:pt x="25886" y="25886"/>
                  </a:cubicBezTo>
                  <a:cubicBezTo>
                    <a:pt x="42460" y="9311"/>
                    <a:pt x="64939" y="0"/>
                    <a:pt x="88379" y="0"/>
                  </a:cubicBezTo>
                  <a:close/>
                </a:path>
              </a:pathLst>
            </a:custGeom>
            <a:solidFill>
              <a:srgbClr val="F05A1B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2422495" cy="1185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733221" y="1691933"/>
            <a:ext cx="3065971" cy="1416467"/>
            <a:chOff x="0" y="0"/>
            <a:chExt cx="2422495" cy="11191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22495" cy="1119184"/>
            </a:xfrm>
            <a:custGeom>
              <a:avLst/>
              <a:gdLst/>
              <a:ahLst/>
              <a:cxnLst/>
              <a:rect l="l" t="t" r="r" b="b"/>
              <a:pathLst>
                <a:path w="2422495" h="1119184">
                  <a:moveTo>
                    <a:pt x="88379" y="0"/>
                  </a:moveTo>
                  <a:lnTo>
                    <a:pt x="2334116" y="0"/>
                  </a:lnTo>
                  <a:cubicBezTo>
                    <a:pt x="2357556" y="0"/>
                    <a:pt x="2380036" y="9311"/>
                    <a:pt x="2396610" y="25886"/>
                  </a:cubicBezTo>
                  <a:cubicBezTo>
                    <a:pt x="2413184" y="42460"/>
                    <a:pt x="2422495" y="64939"/>
                    <a:pt x="2422495" y="88379"/>
                  </a:cubicBezTo>
                  <a:lnTo>
                    <a:pt x="2422495" y="1030805"/>
                  </a:lnTo>
                  <a:cubicBezTo>
                    <a:pt x="2422495" y="1054245"/>
                    <a:pt x="2413184" y="1076724"/>
                    <a:pt x="2396610" y="1093298"/>
                  </a:cubicBezTo>
                  <a:cubicBezTo>
                    <a:pt x="2380036" y="1109873"/>
                    <a:pt x="2357556" y="1119184"/>
                    <a:pt x="2334116" y="1119184"/>
                  </a:cubicBezTo>
                  <a:lnTo>
                    <a:pt x="88379" y="1119184"/>
                  </a:lnTo>
                  <a:cubicBezTo>
                    <a:pt x="64939" y="1119184"/>
                    <a:pt x="42460" y="1109873"/>
                    <a:pt x="25886" y="1093298"/>
                  </a:cubicBezTo>
                  <a:cubicBezTo>
                    <a:pt x="9311" y="1076724"/>
                    <a:pt x="0" y="1054245"/>
                    <a:pt x="0" y="1030805"/>
                  </a:cubicBezTo>
                  <a:lnTo>
                    <a:pt x="0" y="88379"/>
                  </a:lnTo>
                  <a:cubicBezTo>
                    <a:pt x="0" y="64939"/>
                    <a:pt x="9311" y="42460"/>
                    <a:pt x="25886" y="25886"/>
                  </a:cubicBezTo>
                  <a:cubicBezTo>
                    <a:pt x="42460" y="9311"/>
                    <a:pt x="64939" y="0"/>
                    <a:pt x="88379" y="0"/>
                  </a:cubicBezTo>
                  <a:close/>
                </a:path>
              </a:pathLst>
            </a:custGeom>
            <a:solidFill>
              <a:srgbClr val="F05A1B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2422495" cy="1185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363700" y="1656729"/>
            <a:ext cx="3065971" cy="1416467"/>
            <a:chOff x="0" y="0"/>
            <a:chExt cx="2422495" cy="11191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22495" cy="1119184"/>
            </a:xfrm>
            <a:custGeom>
              <a:avLst/>
              <a:gdLst/>
              <a:ahLst/>
              <a:cxnLst/>
              <a:rect l="l" t="t" r="r" b="b"/>
              <a:pathLst>
                <a:path w="2422495" h="1119184">
                  <a:moveTo>
                    <a:pt x="88379" y="0"/>
                  </a:moveTo>
                  <a:lnTo>
                    <a:pt x="2334116" y="0"/>
                  </a:lnTo>
                  <a:cubicBezTo>
                    <a:pt x="2357556" y="0"/>
                    <a:pt x="2380036" y="9311"/>
                    <a:pt x="2396610" y="25886"/>
                  </a:cubicBezTo>
                  <a:cubicBezTo>
                    <a:pt x="2413184" y="42460"/>
                    <a:pt x="2422495" y="64939"/>
                    <a:pt x="2422495" y="88379"/>
                  </a:cubicBezTo>
                  <a:lnTo>
                    <a:pt x="2422495" y="1030805"/>
                  </a:lnTo>
                  <a:cubicBezTo>
                    <a:pt x="2422495" y="1054245"/>
                    <a:pt x="2413184" y="1076724"/>
                    <a:pt x="2396610" y="1093298"/>
                  </a:cubicBezTo>
                  <a:cubicBezTo>
                    <a:pt x="2380036" y="1109873"/>
                    <a:pt x="2357556" y="1119184"/>
                    <a:pt x="2334116" y="1119184"/>
                  </a:cubicBezTo>
                  <a:lnTo>
                    <a:pt x="88379" y="1119184"/>
                  </a:lnTo>
                  <a:cubicBezTo>
                    <a:pt x="64939" y="1119184"/>
                    <a:pt x="42460" y="1109873"/>
                    <a:pt x="25886" y="1093298"/>
                  </a:cubicBezTo>
                  <a:cubicBezTo>
                    <a:pt x="9311" y="1076724"/>
                    <a:pt x="0" y="1054245"/>
                    <a:pt x="0" y="1030805"/>
                  </a:cubicBezTo>
                  <a:lnTo>
                    <a:pt x="0" y="88379"/>
                  </a:lnTo>
                  <a:cubicBezTo>
                    <a:pt x="0" y="64939"/>
                    <a:pt x="9311" y="42460"/>
                    <a:pt x="25886" y="25886"/>
                  </a:cubicBezTo>
                  <a:cubicBezTo>
                    <a:pt x="42460" y="9311"/>
                    <a:pt x="64939" y="0"/>
                    <a:pt x="88379" y="0"/>
                  </a:cubicBezTo>
                  <a:close/>
                </a:path>
              </a:pathLst>
            </a:custGeom>
            <a:solidFill>
              <a:srgbClr val="F05A1B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2422495" cy="1185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412078" y="1866412"/>
            <a:ext cx="2793218" cy="39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T</a:t>
            </a:r>
            <a:r>
              <a:rPr lang="en-US" sz="2099" b="1" u="none" strike="noStrike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OTAL BALANCE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54932" y="2457088"/>
            <a:ext cx="2793218" cy="7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256.14</a:t>
            </a: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Million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613126" y="1866412"/>
            <a:ext cx="2793218" cy="39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FR</a:t>
            </a:r>
            <a:r>
              <a:rPr lang="en-US" sz="2099" b="1" u="none" strike="noStrike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AUD VICTIMS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74158" y="1885462"/>
            <a:ext cx="3115324" cy="604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AVERAGE</a:t>
            </a:r>
          </a:p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 CUSTOMER AGE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22832" y="1866412"/>
            <a:ext cx="2793218" cy="39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MERCHAN</a:t>
            </a:r>
            <a:r>
              <a:rPr lang="en-US" sz="2099" b="1" u="none" strike="noStrike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T COUNT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533657" y="1795514"/>
            <a:ext cx="2853394" cy="604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TOTAL TRANSACTION </a:t>
            </a:r>
          </a:p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56D2F0"/>
                </a:solidFill>
                <a:latin typeface="Telegraf Bold"/>
                <a:ea typeface="Telegraf Bold"/>
                <a:cs typeface="Telegraf Bold"/>
                <a:sym typeface="Telegraf Bold"/>
              </a:rPr>
              <a:t>AMOUNT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82828" y="2457088"/>
            <a:ext cx="2793218" cy="39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50,000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074393" y="2491672"/>
            <a:ext cx="2793218" cy="39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45</a:t>
            </a: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Years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01011" y="2457088"/>
            <a:ext cx="2793218" cy="39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100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565704" y="2457088"/>
            <a:ext cx="2793218" cy="7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256.14</a:t>
            </a: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Million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2652399" y="3909086"/>
            <a:ext cx="3642911" cy="7403596"/>
            <a:chOff x="0" y="0"/>
            <a:chExt cx="2878349" cy="58497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8349" cy="5849755"/>
            </a:xfrm>
            <a:custGeom>
              <a:avLst/>
              <a:gdLst/>
              <a:ahLst/>
              <a:cxnLst/>
              <a:rect l="l" t="t" r="r" b="b"/>
              <a:pathLst>
                <a:path w="2878349" h="5849755">
                  <a:moveTo>
                    <a:pt x="74382" y="0"/>
                  </a:moveTo>
                  <a:lnTo>
                    <a:pt x="2803967" y="0"/>
                  </a:lnTo>
                  <a:cubicBezTo>
                    <a:pt x="2823695" y="0"/>
                    <a:pt x="2842614" y="7837"/>
                    <a:pt x="2856563" y="21786"/>
                  </a:cubicBezTo>
                  <a:cubicBezTo>
                    <a:pt x="2870512" y="35735"/>
                    <a:pt x="2878349" y="54655"/>
                    <a:pt x="2878349" y="74382"/>
                  </a:cubicBezTo>
                  <a:lnTo>
                    <a:pt x="2878349" y="5775373"/>
                  </a:lnTo>
                  <a:cubicBezTo>
                    <a:pt x="2878349" y="5795100"/>
                    <a:pt x="2870512" y="5814019"/>
                    <a:pt x="2856563" y="5827969"/>
                  </a:cubicBezTo>
                  <a:cubicBezTo>
                    <a:pt x="2842614" y="5841918"/>
                    <a:pt x="2823695" y="5849755"/>
                    <a:pt x="2803967" y="5849755"/>
                  </a:cubicBezTo>
                  <a:lnTo>
                    <a:pt x="74382" y="5849755"/>
                  </a:lnTo>
                  <a:cubicBezTo>
                    <a:pt x="54655" y="5849755"/>
                    <a:pt x="35735" y="5841918"/>
                    <a:pt x="21786" y="5827969"/>
                  </a:cubicBezTo>
                  <a:cubicBezTo>
                    <a:pt x="7837" y="5814019"/>
                    <a:pt x="0" y="5795100"/>
                    <a:pt x="0" y="5775373"/>
                  </a:cubicBezTo>
                  <a:lnTo>
                    <a:pt x="0" y="74382"/>
                  </a:lnTo>
                  <a:cubicBezTo>
                    <a:pt x="0" y="54655"/>
                    <a:pt x="7837" y="35735"/>
                    <a:pt x="21786" y="21786"/>
                  </a:cubicBezTo>
                  <a:cubicBezTo>
                    <a:pt x="35735" y="7837"/>
                    <a:pt x="54655" y="0"/>
                    <a:pt x="743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878349" cy="591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772057" y="7125109"/>
            <a:ext cx="0" cy="97155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9801627" y="835297"/>
            <a:ext cx="6827672" cy="3839329"/>
          </a:xfrm>
          <a:custGeom>
            <a:avLst/>
            <a:gdLst/>
            <a:ahLst/>
            <a:cxnLst/>
            <a:rect l="l" t="t" r="r" b="b"/>
            <a:pathLst>
              <a:path w="6827672" h="3839329">
                <a:moveTo>
                  <a:pt x="0" y="0"/>
                </a:moveTo>
                <a:lnTo>
                  <a:pt x="6827673" y="0"/>
                </a:lnTo>
                <a:lnTo>
                  <a:pt x="6827673" y="3839329"/>
                </a:lnTo>
                <a:lnTo>
                  <a:pt x="0" y="3839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746378" y="3826656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77566" y="4474356"/>
            <a:ext cx="3756829" cy="951844"/>
            <a:chOff x="0" y="0"/>
            <a:chExt cx="2968359" cy="5287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68359" cy="528706"/>
            </a:xfrm>
            <a:custGeom>
              <a:avLst/>
              <a:gdLst/>
              <a:ahLst/>
              <a:cxnLst/>
              <a:rect l="l" t="t" r="r" b="b"/>
              <a:pathLst>
                <a:path w="2968359" h="528706">
                  <a:moveTo>
                    <a:pt x="41215" y="0"/>
                  </a:moveTo>
                  <a:lnTo>
                    <a:pt x="2927144" y="0"/>
                  </a:lnTo>
                  <a:cubicBezTo>
                    <a:pt x="2949906" y="0"/>
                    <a:pt x="2968359" y="18453"/>
                    <a:pt x="2968359" y="41215"/>
                  </a:cubicBezTo>
                  <a:lnTo>
                    <a:pt x="2968359" y="487491"/>
                  </a:lnTo>
                  <a:cubicBezTo>
                    <a:pt x="2968359" y="498422"/>
                    <a:pt x="2964017" y="508905"/>
                    <a:pt x="2956287" y="516635"/>
                  </a:cubicBezTo>
                  <a:cubicBezTo>
                    <a:pt x="2948558" y="524364"/>
                    <a:pt x="2938075" y="528706"/>
                    <a:pt x="2927144" y="528706"/>
                  </a:cubicBezTo>
                  <a:lnTo>
                    <a:pt x="41215" y="528706"/>
                  </a:lnTo>
                  <a:cubicBezTo>
                    <a:pt x="30284" y="528706"/>
                    <a:pt x="19801" y="524364"/>
                    <a:pt x="12072" y="516635"/>
                  </a:cubicBezTo>
                  <a:cubicBezTo>
                    <a:pt x="4342" y="508905"/>
                    <a:pt x="0" y="498422"/>
                    <a:pt x="0" y="487491"/>
                  </a:cubicBezTo>
                  <a:lnTo>
                    <a:pt x="0" y="41215"/>
                  </a:lnTo>
                  <a:cubicBezTo>
                    <a:pt x="0" y="30284"/>
                    <a:pt x="4342" y="19801"/>
                    <a:pt x="12072" y="12072"/>
                  </a:cubicBezTo>
                  <a:cubicBezTo>
                    <a:pt x="19801" y="4342"/>
                    <a:pt x="30284" y="0"/>
                    <a:pt x="41215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968359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77566" y="5639047"/>
            <a:ext cx="9024584" cy="4006140"/>
          </a:xfrm>
          <a:custGeom>
            <a:avLst/>
            <a:gdLst/>
            <a:ahLst/>
            <a:cxnLst/>
            <a:rect l="l" t="t" r="r" b="b"/>
            <a:pathLst>
              <a:path w="9024584" h="4006140">
                <a:moveTo>
                  <a:pt x="0" y="0"/>
                </a:moveTo>
                <a:lnTo>
                  <a:pt x="9024584" y="0"/>
                </a:lnTo>
                <a:lnTo>
                  <a:pt x="9024584" y="4006140"/>
                </a:lnTo>
                <a:lnTo>
                  <a:pt x="0" y="4006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724864" flipH="1">
            <a:off x="9257843" y="6741789"/>
            <a:ext cx="2948881" cy="2948881"/>
          </a:xfrm>
          <a:custGeom>
            <a:avLst/>
            <a:gdLst/>
            <a:ahLst/>
            <a:cxnLst/>
            <a:rect l="l" t="t" r="r" b="b"/>
            <a:pathLst>
              <a:path w="2948881" h="2948881">
                <a:moveTo>
                  <a:pt x="2948881" y="0"/>
                </a:moveTo>
                <a:lnTo>
                  <a:pt x="0" y="0"/>
                </a:lnTo>
                <a:lnTo>
                  <a:pt x="0" y="2948881"/>
                </a:lnTo>
                <a:lnTo>
                  <a:pt x="2948881" y="2948881"/>
                </a:lnTo>
                <a:lnTo>
                  <a:pt x="2948881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8959483" y="7795157"/>
            <a:ext cx="842144" cy="842144"/>
          </a:xfrm>
          <a:custGeom>
            <a:avLst/>
            <a:gdLst/>
            <a:ahLst/>
            <a:cxnLst/>
            <a:rect l="l" t="t" r="r" b="b"/>
            <a:pathLst>
              <a:path w="842144" h="842144">
                <a:moveTo>
                  <a:pt x="0" y="0"/>
                </a:moveTo>
                <a:lnTo>
                  <a:pt x="842144" y="0"/>
                </a:lnTo>
                <a:lnTo>
                  <a:pt x="842144" y="842144"/>
                </a:lnTo>
                <a:lnTo>
                  <a:pt x="0" y="8421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977696"/>
            <a:ext cx="10206881" cy="284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73"/>
              </a:lnSpc>
              <a:spcBef>
                <a:spcPct val="0"/>
              </a:spcBef>
            </a:pPr>
            <a:r>
              <a:rPr lang="en-US" sz="11525" b="1" u="none" strike="noStrike" spc="-864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Geographic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47139" y="6128656"/>
            <a:ext cx="6951618" cy="190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sz="2682" b="1" spc="-53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Visualize the geographic distribution of </a:t>
            </a:r>
          </a:p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sz="2682" b="1" spc="-53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merchants and banking transactions</a:t>
            </a:r>
          </a:p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sz="2682" b="1" spc="-53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to identify transaction hotspots and</a:t>
            </a:r>
          </a:p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sz="2682" b="1" spc="-53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potential fraud-prone areas.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58150" y="4607951"/>
            <a:ext cx="1795661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 dirty="0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Map 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6140" y="5143500"/>
            <a:ext cx="3000329" cy="669144"/>
            <a:chOff x="0" y="0"/>
            <a:chExt cx="2370631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0631" cy="528706"/>
            </a:xfrm>
            <a:custGeom>
              <a:avLst/>
              <a:gdLst/>
              <a:ahLst/>
              <a:cxnLst/>
              <a:rect l="l" t="t" r="r" b="b"/>
              <a:pathLst>
                <a:path w="2370631" h="528706">
                  <a:moveTo>
                    <a:pt x="51607" y="0"/>
                  </a:moveTo>
                  <a:lnTo>
                    <a:pt x="2319024" y="0"/>
                  </a:lnTo>
                  <a:cubicBezTo>
                    <a:pt x="2332711" y="0"/>
                    <a:pt x="2345837" y="5437"/>
                    <a:pt x="2355515" y="15115"/>
                  </a:cubicBezTo>
                  <a:cubicBezTo>
                    <a:pt x="2365194" y="24794"/>
                    <a:pt x="2370631" y="37920"/>
                    <a:pt x="2370631" y="51607"/>
                  </a:cubicBezTo>
                  <a:lnTo>
                    <a:pt x="2370631" y="477099"/>
                  </a:lnTo>
                  <a:cubicBezTo>
                    <a:pt x="2370631" y="490786"/>
                    <a:pt x="2365194" y="503913"/>
                    <a:pt x="2355515" y="513591"/>
                  </a:cubicBezTo>
                  <a:cubicBezTo>
                    <a:pt x="2345837" y="523269"/>
                    <a:pt x="2332711" y="528706"/>
                    <a:pt x="2319024" y="528706"/>
                  </a:cubicBezTo>
                  <a:lnTo>
                    <a:pt x="51607" y="528706"/>
                  </a:lnTo>
                  <a:cubicBezTo>
                    <a:pt x="37920" y="528706"/>
                    <a:pt x="24794" y="523269"/>
                    <a:pt x="15115" y="513591"/>
                  </a:cubicBezTo>
                  <a:cubicBezTo>
                    <a:pt x="5437" y="503913"/>
                    <a:pt x="0" y="490786"/>
                    <a:pt x="0" y="477099"/>
                  </a:cubicBezTo>
                  <a:lnTo>
                    <a:pt x="0" y="51607"/>
                  </a:lnTo>
                  <a:cubicBezTo>
                    <a:pt x="0" y="37920"/>
                    <a:pt x="5437" y="24794"/>
                    <a:pt x="15115" y="15115"/>
                  </a:cubicBezTo>
                  <a:cubicBezTo>
                    <a:pt x="24794" y="5437"/>
                    <a:pt x="37920" y="0"/>
                    <a:pt x="51607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70631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6742" y="493605"/>
            <a:ext cx="4543379" cy="3704034"/>
            <a:chOff x="0" y="0"/>
            <a:chExt cx="3589831" cy="29266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9830" cy="2926644"/>
            </a:xfrm>
            <a:custGeom>
              <a:avLst/>
              <a:gdLst/>
              <a:ahLst/>
              <a:cxnLst/>
              <a:rect l="l" t="t" r="r" b="b"/>
              <a:pathLst>
                <a:path w="3589830" h="2926644">
                  <a:moveTo>
                    <a:pt x="59640" y="0"/>
                  </a:moveTo>
                  <a:lnTo>
                    <a:pt x="3530190" y="0"/>
                  </a:lnTo>
                  <a:cubicBezTo>
                    <a:pt x="3563129" y="0"/>
                    <a:pt x="3589830" y="26702"/>
                    <a:pt x="3589830" y="59640"/>
                  </a:cubicBezTo>
                  <a:lnTo>
                    <a:pt x="3589830" y="2867004"/>
                  </a:lnTo>
                  <a:cubicBezTo>
                    <a:pt x="3589830" y="2899943"/>
                    <a:pt x="3563129" y="2926644"/>
                    <a:pt x="3530190" y="2926644"/>
                  </a:cubicBezTo>
                  <a:lnTo>
                    <a:pt x="59640" y="2926644"/>
                  </a:lnTo>
                  <a:cubicBezTo>
                    <a:pt x="26702" y="2926644"/>
                    <a:pt x="0" y="2899943"/>
                    <a:pt x="0" y="2867004"/>
                  </a:cubicBezTo>
                  <a:lnTo>
                    <a:pt x="0" y="59640"/>
                  </a:lnTo>
                  <a:cubicBezTo>
                    <a:pt x="0" y="26702"/>
                    <a:pt x="26702" y="0"/>
                    <a:pt x="596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589831" cy="299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876155" y="4055562"/>
            <a:ext cx="4029029" cy="5594165"/>
            <a:chOff x="0" y="0"/>
            <a:chExt cx="3183431" cy="44200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83431" cy="4420081"/>
            </a:xfrm>
            <a:custGeom>
              <a:avLst/>
              <a:gdLst/>
              <a:ahLst/>
              <a:cxnLst/>
              <a:rect l="l" t="t" r="r" b="b"/>
              <a:pathLst>
                <a:path w="3183431" h="4420081">
                  <a:moveTo>
                    <a:pt x="67254" y="0"/>
                  </a:moveTo>
                  <a:lnTo>
                    <a:pt x="3116177" y="0"/>
                  </a:lnTo>
                  <a:cubicBezTo>
                    <a:pt x="3153320" y="0"/>
                    <a:pt x="3183431" y="30111"/>
                    <a:pt x="3183431" y="67254"/>
                  </a:cubicBezTo>
                  <a:lnTo>
                    <a:pt x="3183431" y="4352828"/>
                  </a:lnTo>
                  <a:cubicBezTo>
                    <a:pt x="3183431" y="4389971"/>
                    <a:pt x="3153320" y="4420081"/>
                    <a:pt x="3116177" y="4420081"/>
                  </a:cubicBezTo>
                  <a:lnTo>
                    <a:pt x="67254" y="4420081"/>
                  </a:lnTo>
                  <a:cubicBezTo>
                    <a:pt x="49417" y="4420081"/>
                    <a:pt x="32311" y="4412996"/>
                    <a:pt x="19698" y="4400383"/>
                  </a:cubicBezTo>
                  <a:cubicBezTo>
                    <a:pt x="7086" y="4387771"/>
                    <a:pt x="0" y="4370665"/>
                    <a:pt x="0" y="4352828"/>
                  </a:cubicBezTo>
                  <a:lnTo>
                    <a:pt x="0" y="67254"/>
                  </a:lnTo>
                  <a:cubicBezTo>
                    <a:pt x="0" y="30111"/>
                    <a:pt x="30111" y="0"/>
                    <a:pt x="672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183431" cy="4486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84956" y="4471256"/>
            <a:ext cx="6731837" cy="5594163"/>
            <a:chOff x="0" y="0"/>
            <a:chExt cx="5318982" cy="40916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18982" cy="4091631"/>
            </a:xfrm>
            <a:custGeom>
              <a:avLst/>
              <a:gdLst/>
              <a:ahLst/>
              <a:cxnLst/>
              <a:rect l="l" t="t" r="r" b="b"/>
              <a:pathLst>
                <a:path w="5318982" h="4091631">
                  <a:moveTo>
                    <a:pt x="40252" y="0"/>
                  </a:moveTo>
                  <a:lnTo>
                    <a:pt x="5278731" y="0"/>
                  </a:lnTo>
                  <a:cubicBezTo>
                    <a:pt x="5300961" y="0"/>
                    <a:pt x="5318982" y="18021"/>
                    <a:pt x="5318982" y="40252"/>
                  </a:cubicBezTo>
                  <a:lnTo>
                    <a:pt x="5318982" y="4051380"/>
                  </a:lnTo>
                  <a:cubicBezTo>
                    <a:pt x="5318982" y="4073610"/>
                    <a:pt x="5300961" y="4091631"/>
                    <a:pt x="5278731" y="4091631"/>
                  </a:cubicBezTo>
                  <a:lnTo>
                    <a:pt x="40252" y="4091631"/>
                  </a:lnTo>
                  <a:cubicBezTo>
                    <a:pt x="18021" y="4091631"/>
                    <a:pt x="0" y="4073610"/>
                    <a:pt x="0" y="4051380"/>
                  </a:cubicBezTo>
                  <a:lnTo>
                    <a:pt x="0" y="40252"/>
                  </a:lnTo>
                  <a:cubicBezTo>
                    <a:pt x="0" y="18021"/>
                    <a:pt x="18021" y="0"/>
                    <a:pt x="40252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5318982" cy="4158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4197832" y="4055562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8326812" y="6252089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2"/>
                </a:lnTo>
                <a:lnTo>
                  <a:pt x="0" y="385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658281" y="493605"/>
            <a:ext cx="7864366" cy="3419879"/>
          </a:xfrm>
          <a:custGeom>
            <a:avLst/>
            <a:gdLst/>
            <a:ahLst/>
            <a:cxnLst/>
            <a:rect l="l" t="t" r="r" b="b"/>
            <a:pathLst>
              <a:path w="7864366" h="3419879">
                <a:moveTo>
                  <a:pt x="0" y="0"/>
                </a:moveTo>
                <a:lnTo>
                  <a:pt x="7864367" y="0"/>
                </a:lnTo>
                <a:lnTo>
                  <a:pt x="7864367" y="3419879"/>
                </a:lnTo>
                <a:lnTo>
                  <a:pt x="0" y="3419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43" t="-7347" r="-2190" b="-496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35819" y="6660369"/>
            <a:ext cx="8765461" cy="264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57"/>
              </a:lnSpc>
              <a:spcBef>
                <a:spcPct val="0"/>
              </a:spcBef>
            </a:pPr>
            <a:r>
              <a:rPr lang="en-US" sz="10730" b="1" spc="-804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</a:t>
            </a:r>
            <a:r>
              <a:rPr lang="en-US" sz="10730" b="1" u="none" strike="noStrike" spc="-804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ansaction Amount Trend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8304" y="5313685"/>
            <a:ext cx="3936001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Line 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19720" y="1254952"/>
            <a:ext cx="3424585" cy="1252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6"/>
              </a:lnSpc>
              <a:spcBef>
                <a:spcPct val="0"/>
              </a:spcBef>
            </a:pPr>
            <a:r>
              <a:rPr lang="en-US" sz="231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Displays how</a:t>
            </a:r>
            <a:r>
              <a:rPr lang="en-US" sz="231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transaction amounts change over time (year-wise).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58258" y="4727575"/>
            <a:ext cx="341112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ANALYSI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84956" y="5076825"/>
            <a:ext cx="6602819" cy="2717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3369" lvl="1" indent="-206684" algn="l">
              <a:lnSpc>
                <a:spcPts val="2680"/>
              </a:lnSpc>
              <a:spcBef>
                <a:spcPct val="0"/>
              </a:spcBef>
              <a:buFont typeface="Arial"/>
              <a:buChar char="•"/>
            </a:pPr>
            <a:r>
              <a:rPr lang="en-US" sz="1914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The chart shows tr</a:t>
            </a:r>
            <a:r>
              <a:rPr lang="en-US" sz="1914" u="none" strike="noStrike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ansaction activity from 2020 to 2025.</a:t>
            </a:r>
          </a:p>
          <a:p>
            <a:pPr marL="413369" lvl="1" indent="-206684" algn="l">
              <a:lnSpc>
                <a:spcPts val="2680"/>
              </a:lnSpc>
              <a:spcBef>
                <a:spcPct val="0"/>
              </a:spcBef>
              <a:buFont typeface="Arial"/>
              <a:buChar char="•"/>
            </a:pPr>
            <a:r>
              <a:rPr lang="en-US" sz="1914" u="none" strike="noStrike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The transaction amounts remained relatively almost same between 2020 to 2022.</a:t>
            </a:r>
          </a:p>
          <a:p>
            <a:pPr marL="413369" lvl="1" indent="-206684" algn="l">
              <a:lnSpc>
                <a:spcPts val="2680"/>
              </a:lnSpc>
              <a:spcBef>
                <a:spcPct val="0"/>
              </a:spcBef>
              <a:buFont typeface="Arial"/>
              <a:buChar char="•"/>
            </a:pPr>
            <a:r>
              <a:rPr lang="en-US" sz="1914" u="none" strike="noStrike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 significant peak is visible around 2023, indicating higher transaction volume.</a:t>
            </a:r>
          </a:p>
          <a:p>
            <a:pPr marL="413369" lvl="1" indent="-206684" algn="l">
              <a:lnSpc>
                <a:spcPts val="2680"/>
              </a:lnSpc>
              <a:spcBef>
                <a:spcPct val="0"/>
              </a:spcBef>
              <a:buFont typeface="Arial"/>
              <a:buChar char="•"/>
            </a:pPr>
            <a:r>
              <a:rPr lang="en-US" sz="1914" u="none" strike="noStrike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After 2023, transaction values remain relatively stable.</a:t>
            </a:r>
          </a:p>
          <a:p>
            <a:pPr algn="l">
              <a:lnSpc>
                <a:spcPts val="2680"/>
              </a:lnSpc>
              <a:spcBef>
                <a:spcPct val="0"/>
              </a:spcBef>
            </a:pPr>
            <a:endParaRPr lang="en-US" sz="1914" u="none" strike="noStrike" dirty="0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185100" y="7928071"/>
            <a:ext cx="6131548" cy="1684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1914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914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Inv</a:t>
            </a:r>
            <a:r>
              <a:rPr lang="en-US" sz="1914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estigate the cause of the 2023 transaction spike</a:t>
            </a:r>
            <a:r>
              <a:rPr lang="en-US" sz="1914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l">
              <a:lnSpc>
                <a:spcPts val="2680"/>
              </a:lnSpc>
            </a:pPr>
            <a:r>
              <a:rPr lang="en-US" sz="1914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914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Apply additional authentication for large transactions.</a:t>
            </a:r>
          </a:p>
          <a:p>
            <a:pPr algn="l">
              <a:lnSpc>
                <a:spcPts val="2680"/>
              </a:lnSpc>
            </a:pPr>
            <a:r>
              <a:rPr lang="en-US" sz="1914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914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Continuously review yearly transaction trends and fraud patterns.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58258" y="7515659"/>
            <a:ext cx="455839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ACTION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0344" y="5529006"/>
            <a:ext cx="3000329" cy="669144"/>
            <a:chOff x="0" y="0"/>
            <a:chExt cx="2370631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0631" cy="528706"/>
            </a:xfrm>
            <a:custGeom>
              <a:avLst/>
              <a:gdLst/>
              <a:ahLst/>
              <a:cxnLst/>
              <a:rect l="l" t="t" r="r" b="b"/>
              <a:pathLst>
                <a:path w="2370631" h="528706">
                  <a:moveTo>
                    <a:pt x="51607" y="0"/>
                  </a:moveTo>
                  <a:lnTo>
                    <a:pt x="2319024" y="0"/>
                  </a:lnTo>
                  <a:cubicBezTo>
                    <a:pt x="2332711" y="0"/>
                    <a:pt x="2345837" y="5437"/>
                    <a:pt x="2355515" y="15115"/>
                  </a:cubicBezTo>
                  <a:cubicBezTo>
                    <a:pt x="2365194" y="24794"/>
                    <a:pt x="2370631" y="37920"/>
                    <a:pt x="2370631" y="51607"/>
                  </a:cubicBezTo>
                  <a:lnTo>
                    <a:pt x="2370631" y="477099"/>
                  </a:lnTo>
                  <a:cubicBezTo>
                    <a:pt x="2370631" y="490786"/>
                    <a:pt x="2365194" y="503913"/>
                    <a:pt x="2355515" y="513591"/>
                  </a:cubicBezTo>
                  <a:cubicBezTo>
                    <a:pt x="2345837" y="523269"/>
                    <a:pt x="2332711" y="528706"/>
                    <a:pt x="2319024" y="528706"/>
                  </a:cubicBezTo>
                  <a:lnTo>
                    <a:pt x="51607" y="528706"/>
                  </a:lnTo>
                  <a:cubicBezTo>
                    <a:pt x="37920" y="528706"/>
                    <a:pt x="24794" y="523269"/>
                    <a:pt x="15115" y="513591"/>
                  </a:cubicBezTo>
                  <a:cubicBezTo>
                    <a:pt x="5437" y="503913"/>
                    <a:pt x="0" y="490786"/>
                    <a:pt x="0" y="477099"/>
                  </a:cubicBezTo>
                  <a:lnTo>
                    <a:pt x="0" y="51607"/>
                  </a:lnTo>
                  <a:cubicBezTo>
                    <a:pt x="0" y="37920"/>
                    <a:pt x="5437" y="24794"/>
                    <a:pt x="15115" y="15115"/>
                  </a:cubicBezTo>
                  <a:cubicBezTo>
                    <a:pt x="24794" y="5437"/>
                    <a:pt x="37920" y="0"/>
                    <a:pt x="51607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70631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4543379" cy="3704034"/>
            <a:chOff x="0" y="0"/>
            <a:chExt cx="3589831" cy="29266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9830" cy="2926644"/>
            </a:xfrm>
            <a:custGeom>
              <a:avLst/>
              <a:gdLst/>
              <a:ahLst/>
              <a:cxnLst/>
              <a:rect l="l" t="t" r="r" b="b"/>
              <a:pathLst>
                <a:path w="3589830" h="2926644">
                  <a:moveTo>
                    <a:pt x="59640" y="0"/>
                  </a:moveTo>
                  <a:lnTo>
                    <a:pt x="3530190" y="0"/>
                  </a:lnTo>
                  <a:cubicBezTo>
                    <a:pt x="3563129" y="0"/>
                    <a:pt x="3589830" y="26702"/>
                    <a:pt x="3589830" y="59640"/>
                  </a:cubicBezTo>
                  <a:lnTo>
                    <a:pt x="3589830" y="2867004"/>
                  </a:lnTo>
                  <a:cubicBezTo>
                    <a:pt x="3589830" y="2899943"/>
                    <a:pt x="3563129" y="2926644"/>
                    <a:pt x="3530190" y="2926644"/>
                  </a:cubicBezTo>
                  <a:lnTo>
                    <a:pt x="59640" y="2926644"/>
                  </a:lnTo>
                  <a:cubicBezTo>
                    <a:pt x="26702" y="2926644"/>
                    <a:pt x="0" y="2899943"/>
                    <a:pt x="0" y="2867004"/>
                  </a:cubicBezTo>
                  <a:lnTo>
                    <a:pt x="0" y="59640"/>
                  </a:lnTo>
                  <a:cubicBezTo>
                    <a:pt x="0" y="26702"/>
                    <a:pt x="26702" y="0"/>
                    <a:pt x="596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589831" cy="299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3230271" y="1028700"/>
            <a:ext cx="4341959" cy="8601768"/>
            <a:chOff x="0" y="0"/>
            <a:chExt cx="3430684" cy="67964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30684" cy="6796459"/>
            </a:xfrm>
            <a:custGeom>
              <a:avLst/>
              <a:gdLst/>
              <a:ahLst/>
              <a:cxnLst/>
              <a:rect l="l" t="t" r="r" b="b"/>
              <a:pathLst>
                <a:path w="3430684" h="6796459">
                  <a:moveTo>
                    <a:pt x="62407" y="0"/>
                  </a:moveTo>
                  <a:lnTo>
                    <a:pt x="3368277" y="0"/>
                  </a:lnTo>
                  <a:cubicBezTo>
                    <a:pt x="3402743" y="0"/>
                    <a:pt x="3430684" y="27940"/>
                    <a:pt x="3430684" y="62407"/>
                  </a:cubicBezTo>
                  <a:lnTo>
                    <a:pt x="3430684" y="6734053"/>
                  </a:lnTo>
                  <a:cubicBezTo>
                    <a:pt x="3430684" y="6768519"/>
                    <a:pt x="3402743" y="6796459"/>
                    <a:pt x="3368277" y="6796459"/>
                  </a:cubicBezTo>
                  <a:lnTo>
                    <a:pt x="62407" y="6796459"/>
                  </a:lnTo>
                  <a:cubicBezTo>
                    <a:pt x="27940" y="6796459"/>
                    <a:pt x="0" y="6768519"/>
                    <a:pt x="0" y="6734053"/>
                  </a:cubicBezTo>
                  <a:lnTo>
                    <a:pt x="0" y="62407"/>
                  </a:lnTo>
                  <a:cubicBezTo>
                    <a:pt x="0" y="27940"/>
                    <a:pt x="27940" y="0"/>
                    <a:pt x="624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430684" cy="6863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21313" y="2571750"/>
            <a:ext cx="5637987" cy="7058718"/>
            <a:chOff x="0" y="0"/>
            <a:chExt cx="4454706" cy="55772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54706" cy="5577259"/>
            </a:xfrm>
            <a:custGeom>
              <a:avLst/>
              <a:gdLst/>
              <a:ahLst/>
              <a:cxnLst/>
              <a:rect l="l" t="t" r="r" b="b"/>
              <a:pathLst>
                <a:path w="4454706" h="5577259">
                  <a:moveTo>
                    <a:pt x="48061" y="0"/>
                  </a:moveTo>
                  <a:lnTo>
                    <a:pt x="4406645" y="0"/>
                  </a:lnTo>
                  <a:cubicBezTo>
                    <a:pt x="4419391" y="0"/>
                    <a:pt x="4431616" y="5064"/>
                    <a:pt x="4440629" y="14077"/>
                  </a:cubicBezTo>
                  <a:cubicBezTo>
                    <a:pt x="4449642" y="23090"/>
                    <a:pt x="4454706" y="35314"/>
                    <a:pt x="4454706" y="48061"/>
                  </a:cubicBezTo>
                  <a:lnTo>
                    <a:pt x="4454706" y="5529198"/>
                  </a:lnTo>
                  <a:cubicBezTo>
                    <a:pt x="4454706" y="5541945"/>
                    <a:pt x="4449642" y="5554169"/>
                    <a:pt x="4440629" y="5563183"/>
                  </a:cubicBezTo>
                  <a:cubicBezTo>
                    <a:pt x="4431616" y="5572196"/>
                    <a:pt x="4419391" y="5577259"/>
                    <a:pt x="4406645" y="5577259"/>
                  </a:cubicBezTo>
                  <a:lnTo>
                    <a:pt x="48061" y="5577259"/>
                  </a:lnTo>
                  <a:cubicBezTo>
                    <a:pt x="21518" y="5577259"/>
                    <a:pt x="0" y="5555742"/>
                    <a:pt x="0" y="5529198"/>
                  </a:cubicBezTo>
                  <a:lnTo>
                    <a:pt x="0" y="48061"/>
                  </a:lnTo>
                  <a:cubicBezTo>
                    <a:pt x="0" y="35314"/>
                    <a:pt x="5064" y="23090"/>
                    <a:pt x="14077" y="14077"/>
                  </a:cubicBezTo>
                  <a:cubicBezTo>
                    <a:pt x="23090" y="5064"/>
                    <a:pt x="35314" y="0"/>
                    <a:pt x="48061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454706" cy="5643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4759010" y="1028700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10173910" y="8872538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3" y="0"/>
                </a:lnTo>
                <a:lnTo>
                  <a:pt x="385763" y="385762"/>
                </a:lnTo>
                <a:lnTo>
                  <a:pt x="0" y="385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820751" y="804625"/>
            <a:ext cx="5551891" cy="4152185"/>
          </a:xfrm>
          <a:custGeom>
            <a:avLst/>
            <a:gdLst/>
            <a:ahLst/>
            <a:cxnLst/>
            <a:rect l="l" t="t" r="r" b="b"/>
            <a:pathLst>
              <a:path w="5551891" h="4152185">
                <a:moveTo>
                  <a:pt x="0" y="0"/>
                </a:moveTo>
                <a:lnTo>
                  <a:pt x="5551891" y="0"/>
                </a:lnTo>
                <a:lnTo>
                  <a:pt x="5551891" y="4152185"/>
                </a:lnTo>
                <a:lnTo>
                  <a:pt x="0" y="41521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88" t="-5217" r="-5365" b="-6084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77367" y="7198519"/>
            <a:ext cx="9589424" cy="243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7"/>
              </a:lnSpc>
              <a:spcBef>
                <a:spcPct val="0"/>
              </a:spcBef>
            </a:pPr>
            <a:r>
              <a:rPr lang="en-US" sz="9830" b="1" u="none" strike="noStrike" spc="-737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Transaction Type Distribution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508" y="5678924"/>
            <a:ext cx="3936001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Pie 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10344" y="2124710"/>
            <a:ext cx="3298126" cy="81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Compa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res Credit and Debit transactions.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30271" y="2875915"/>
            <a:ext cx="279321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21313" y="3162531"/>
            <a:ext cx="5543894" cy="201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Debit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transactions: ~77%</a:t>
            </a:r>
          </a:p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Credit transactions: ~23%</a:t>
            </a:r>
          </a:p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Customers suffered fraud with debit transactions much more frequently than credit transactions.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21313" y="6121949"/>
            <a:ext cx="5644289" cy="321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</a:t>
            </a: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E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nhance monitoring of debit transactions.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Set transaction limits and real-time alerts.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Continuously monitor high-value credit transactions.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Educate customers on secure banking practices.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02669" y="5732809"/>
            <a:ext cx="3712682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ACTION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0344" y="5529006"/>
            <a:ext cx="3000329" cy="669144"/>
            <a:chOff x="0" y="0"/>
            <a:chExt cx="2370631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0631" cy="528706"/>
            </a:xfrm>
            <a:custGeom>
              <a:avLst/>
              <a:gdLst/>
              <a:ahLst/>
              <a:cxnLst/>
              <a:rect l="l" t="t" r="r" b="b"/>
              <a:pathLst>
                <a:path w="2370631" h="528706">
                  <a:moveTo>
                    <a:pt x="51607" y="0"/>
                  </a:moveTo>
                  <a:lnTo>
                    <a:pt x="2319024" y="0"/>
                  </a:lnTo>
                  <a:cubicBezTo>
                    <a:pt x="2332711" y="0"/>
                    <a:pt x="2345837" y="5437"/>
                    <a:pt x="2355515" y="15115"/>
                  </a:cubicBezTo>
                  <a:cubicBezTo>
                    <a:pt x="2365194" y="24794"/>
                    <a:pt x="2370631" y="37920"/>
                    <a:pt x="2370631" y="51607"/>
                  </a:cubicBezTo>
                  <a:lnTo>
                    <a:pt x="2370631" y="477099"/>
                  </a:lnTo>
                  <a:cubicBezTo>
                    <a:pt x="2370631" y="490786"/>
                    <a:pt x="2365194" y="503913"/>
                    <a:pt x="2355515" y="513591"/>
                  </a:cubicBezTo>
                  <a:cubicBezTo>
                    <a:pt x="2345837" y="523269"/>
                    <a:pt x="2332711" y="528706"/>
                    <a:pt x="2319024" y="528706"/>
                  </a:cubicBezTo>
                  <a:lnTo>
                    <a:pt x="51607" y="528706"/>
                  </a:lnTo>
                  <a:cubicBezTo>
                    <a:pt x="37920" y="528706"/>
                    <a:pt x="24794" y="523269"/>
                    <a:pt x="15115" y="513591"/>
                  </a:cubicBezTo>
                  <a:cubicBezTo>
                    <a:pt x="5437" y="503913"/>
                    <a:pt x="0" y="490786"/>
                    <a:pt x="0" y="477099"/>
                  </a:cubicBezTo>
                  <a:lnTo>
                    <a:pt x="0" y="51607"/>
                  </a:lnTo>
                  <a:cubicBezTo>
                    <a:pt x="0" y="37920"/>
                    <a:pt x="5437" y="24794"/>
                    <a:pt x="15115" y="15115"/>
                  </a:cubicBezTo>
                  <a:cubicBezTo>
                    <a:pt x="24794" y="5437"/>
                    <a:pt x="37920" y="0"/>
                    <a:pt x="51607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70631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4543379" cy="3704034"/>
            <a:chOff x="0" y="0"/>
            <a:chExt cx="3589831" cy="29266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9830" cy="2926644"/>
            </a:xfrm>
            <a:custGeom>
              <a:avLst/>
              <a:gdLst/>
              <a:ahLst/>
              <a:cxnLst/>
              <a:rect l="l" t="t" r="r" b="b"/>
              <a:pathLst>
                <a:path w="3589830" h="2926644">
                  <a:moveTo>
                    <a:pt x="59640" y="0"/>
                  </a:moveTo>
                  <a:lnTo>
                    <a:pt x="3530190" y="0"/>
                  </a:lnTo>
                  <a:cubicBezTo>
                    <a:pt x="3563129" y="0"/>
                    <a:pt x="3589830" y="26702"/>
                    <a:pt x="3589830" y="59640"/>
                  </a:cubicBezTo>
                  <a:lnTo>
                    <a:pt x="3589830" y="2867004"/>
                  </a:lnTo>
                  <a:cubicBezTo>
                    <a:pt x="3589830" y="2899943"/>
                    <a:pt x="3563129" y="2926644"/>
                    <a:pt x="3530190" y="2926644"/>
                  </a:cubicBezTo>
                  <a:lnTo>
                    <a:pt x="59640" y="2926644"/>
                  </a:lnTo>
                  <a:cubicBezTo>
                    <a:pt x="26702" y="2926644"/>
                    <a:pt x="0" y="2899943"/>
                    <a:pt x="0" y="2867004"/>
                  </a:cubicBezTo>
                  <a:lnTo>
                    <a:pt x="0" y="59640"/>
                  </a:lnTo>
                  <a:cubicBezTo>
                    <a:pt x="0" y="26702"/>
                    <a:pt x="26702" y="0"/>
                    <a:pt x="596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589831" cy="299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3230271" y="1028700"/>
            <a:ext cx="4319607" cy="8601768"/>
            <a:chOff x="0" y="0"/>
            <a:chExt cx="3413023" cy="67964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13023" cy="6796459"/>
            </a:xfrm>
            <a:custGeom>
              <a:avLst/>
              <a:gdLst/>
              <a:ahLst/>
              <a:cxnLst/>
              <a:rect l="l" t="t" r="r" b="b"/>
              <a:pathLst>
                <a:path w="3413023" h="6796459">
                  <a:moveTo>
                    <a:pt x="62730" y="0"/>
                  </a:moveTo>
                  <a:lnTo>
                    <a:pt x="3350293" y="0"/>
                  </a:lnTo>
                  <a:cubicBezTo>
                    <a:pt x="3384938" y="0"/>
                    <a:pt x="3413023" y="28085"/>
                    <a:pt x="3413023" y="62730"/>
                  </a:cubicBezTo>
                  <a:lnTo>
                    <a:pt x="3413023" y="6733729"/>
                  </a:lnTo>
                  <a:cubicBezTo>
                    <a:pt x="3413023" y="6768374"/>
                    <a:pt x="3384938" y="6796459"/>
                    <a:pt x="3350293" y="6796459"/>
                  </a:cubicBezTo>
                  <a:lnTo>
                    <a:pt x="62730" y="6796459"/>
                  </a:lnTo>
                  <a:cubicBezTo>
                    <a:pt x="28085" y="6796459"/>
                    <a:pt x="0" y="6768374"/>
                    <a:pt x="0" y="6733729"/>
                  </a:cubicBezTo>
                  <a:lnTo>
                    <a:pt x="0" y="62730"/>
                  </a:lnTo>
                  <a:cubicBezTo>
                    <a:pt x="0" y="28085"/>
                    <a:pt x="28085" y="0"/>
                    <a:pt x="627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413023" cy="6863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43241" y="1834130"/>
            <a:ext cx="6116059" cy="7796339"/>
            <a:chOff x="0" y="0"/>
            <a:chExt cx="4832441" cy="61600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32441" cy="6160070"/>
            </a:xfrm>
            <a:custGeom>
              <a:avLst/>
              <a:gdLst/>
              <a:ahLst/>
              <a:cxnLst/>
              <a:rect l="l" t="t" r="r" b="b"/>
              <a:pathLst>
                <a:path w="4832441" h="6160070">
                  <a:moveTo>
                    <a:pt x="44304" y="0"/>
                  </a:moveTo>
                  <a:lnTo>
                    <a:pt x="4788137" y="0"/>
                  </a:lnTo>
                  <a:cubicBezTo>
                    <a:pt x="4799888" y="0"/>
                    <a:pt x="4811156" y="4668"/>
                    <a:pt x="4819465" y="12976"/>
                  </a:cubicBezTo>
                  <a:cubicBezTo>
                    <a:pt x="4827774" y="21285"/>
                    <a:pt x="4832441" y="32554"/>
                    <a:pt x="4832441" y="44304"/>
                  </a:cubicBezTo>
                  <a:lnTo>
                    <a:pt x="4832441" y="6115766"/>
                  </a:lnTo>
                  <a:cubicBezTo>
                    <a:pt x="4832441" y="6127516"/>
                    <a:pt x="4827774" y="6138785"/>
                    <a:pt x="4819465" y="6147094"/>
                  </a:cubicBezTo>
                  <a:cubicBezTo>
                    <a:pt x="4811156" y="6155402"/>
                    <a:pt x="4799888" y="6160070"/>
                    <a:pt x="4788137" y="6160070"/>
                  </a:cubicBezTo>
                  <a:lnTo>
                    <a:pt x="44304" y="6160070"/>
                  </a:lnTo>
                  <a:cubicBezTo>
                    <a:pt x="19836" y="6160070"/>
                    <a:pt x="0" y="6140235"/>
                    <a:pt x="0" y="6115766"/>
                  </a:cubicBezTo>
                  <a:lnTo>
                    <a:pt x="0" y="44304"/>
                  </a:lnTo>
                  <a:cubicBezTo>
                    <a:pt x="0" y="32554"/>
                    <a:pt x="4668" y="21285"/>
                    <a:pt x="12976" y="12976"/>
                  </a:cubicBezTo>
                  <a:cubicBezTo>
                    <a:pt x="21285" y="4668"/>
                    <a:pt x="32554" y="0"/>
                    <a:pt x="44304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832441" cy="6226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4759010" y="1028700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9981029" y="7624723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794593" y="1044747"/>
            <a:ext cx="5129573" cy="3854107"/>
          </a:xfrm>
          <a:custGeom>
            <a:avLst/>
            <a:gdLst/>
            <a:ahLst/>
            <a:cxnLst/>
            <a:rect l="l" t="t" r="r" b="b"/>
            <a:pathLst>
              <a:path w="5129573" h="3854107">
                <a:moveTo>
                  <a:pt x="0" y="0"/>
                </a:moveTo>
                <a:lnTo>
                  <a:pt x="5129573" y="0"/>
                </a:lnTo>
                <a:lnTo>
                  <a:pt x="5129573" y="3854106"/>
                </a:lnTo>
                <a:lnTo>
                  <a:pt x="0" y="3854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13" r="-4247" b="-8082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77367" y="7198519"/>
            <a:ext cx="9589424" cy="243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7"/>
              </a:lnSpc>
              <a:spcBef>
                <a:spcPct val="0"/>
              </a:spcBef>
            </a:pPr>
            <a:r>
              <a:rPr lang="en-US" sz="9830" b="1" u="none" strike="noStrike" spc="-737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Transaction by Channel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508" y="5678924"/>
            <a:ext cx="3936001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Bar 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10344" y="2124710"/>
            <a:ext cx="3298126" cy="161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Shows transaction volume ac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ross ATM, Branch, and Online channels.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04662" y="2037695"/>
            <a:ext cx="279321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43241" y="2511454"/>
            <a:ext cx="6116059" cy="281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b="1">
                <a:solidFill>
                  <a:srgbClr val="F9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Branch </a:t>
            </a: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has the highest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transaction count.</a:t>
            </a:r>
          </a:p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ATM transactions are slightly lower than Branch .</a:t>
            </a:r>
          </a:p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Online transactions are lowest transaction count.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endParaRPr lang="en-US" sz="2299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143241" y="5656099"/>
            <a:ext cx="6116059" cy="361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Branch: Strengthen i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dentity verification and monitor large cash transactions.</a:t>
            </a:r>
          </a:p>
          <a:p>
            <a:pPr algn="l">
              <a:lnSpc>
                <a:spcPts val="3219"/>
              </a:lnSpc>
            </a:pPr>
            <a:r>
              <a:rPr lang="en-US" sz="22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ATM: Deploy anti-skimming technology and monitor repeated withdrawals.</a:t>
            </a:r>
          </a:p>
          <a:p>
            <a:pPr algn="l">
              <a:lnSpc>
                <a:spcPts val="3219"/>
              </a:lnSpc>
            </a:pPr>
            <a:r>
              <a:rPr lang="en-US" sz="22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Online: Implement MFA, device/IP monitoring, and real-time fraud detection.</a:t>
            </a:r>
          </a:p>
          <a:p>
            <a:pPr algn="l">
              <a:lnSpc>
                <a:spcPts val="3219"/>
              </a:lnSpc>
            </a:pPr>
            <a:r>
              <a:rPr lang="en-US" sz="22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Continuously review channel-wise fraud trends to improve security controls.</a:t>
            </a:r>
          </a:p>
          <a:p>
            <a:pPr algn="l">
              <a:lnSpc>
                <a:spcPts val="3219"/>
              </a:lnSpc>
            </a:pPr>
            <a:endParaRPr lang="en-US" sz="2299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804662" y="5363999"/>
            <a:ext cx="341112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ACTION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0344" y="5529006"/>
            <a:ext cx="3000329" cy="669144"/>
            <a:chOff x="0" y="0"/>
            <a:chExt cx="2370631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0631" cy="528706"/>
            </a:xfrm>
            <a:custGeom>
              <a:avLst/>
              <a:gdLst/>
              <a:ahLst/>
              <a:cxnLst/>
              <a:rect l="l" t="t" r="r" b="b"/>
              <a:pathLst>
                <a:path w="2370631" h="528706">
                  <a:moveTo>
                    <a:pt x="51607" y="0"/>
                  </a:moveTo>
                  <a:lnTo>
                    <a:pt x="2319024" y="0"/>
                  </a:lnTo>
                  <a:cubicBezTo>
                    <a:pt x="2332711" y="0"/>
                    <a:pt x="2345837" y="5437"/>
                    <a:pt x="2355515" y="15115"/>
                  </a:cubicBezTo>
                  <a:cubicBezTo>
                    <a:pt x="2365194" y="24794"/>
                    <a:pt x="2370631" y="37920"/>
                    <a:pt x="2370631" y="51607"/>
                  </a:cubicBezTo>
                  <a:lnTo>
                    <a:pt x="2370631" y="477099"/>
                  </a:lnTo>
                  <a:cubicBezTo>
                    <a:pt x="2370631" y="490786"/>
                    <a:pt x="2365194" y="503913"/>
                    <a:pt x="2355515" y="513591"/>
                  </a:cubicBezTo>
                  <a:cubicBezTo>
                    <a:pt x="2345837" y="523269"/>
                    <a:pt x="2332711" y="528706"/>
                    <a:pt x="2319024" y="528706"/>
                  </a:cubicBezTo>
                  <a:lnTo>
                    <a:pt x="51607" y="528706"/>
                  </a:lnTo>
                  <a:cubicBezTo>
                    <a:pt x="37920" y="528706"/>
                    <a:pt x="24794" y="523269"/>
                    <a:pt x="15115" y="513591"/>
                  </a:cubicBezTo>
                  <a:cubicBezTo>
                    <a:pt x="5437" y="503913"/>
                    <a:pt x="0" y="490786"/>
                    <a:pt x="0" y="477099"/>
                  </a:cubicBezTo>
                  <a:lnTo>
                    <a:pt x="0" y="51607"/>
                  </a:lnTo>
                  <a:cubicBezTo>
                    <a:pt x="0" y="37920"/>
                    <a:pt x="5437" y="24794"/>
                    <a:pt x="15115" y="15115"/>
                  </a:cubicBezTo>
                  <a:cubicBezTo>
                    <a:pt x="24794" y="5437"/>
                    <a:pt x="37920" y="0"/>
                    <a:pt x="51607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70631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4249809" cy="3704034"/>
            <a:chOff x="0" y="0"/>
            <a:chExt cx="3357874" cy="29266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57874" cy="2926644"/>
            </a:xfrm>
            <a:custGeom>
              <a:avLst/>
              <a:gdLst/>
              <a:ahLst/>
              <a:cxnLst/>
              <a:rect l="l" t="t" r="r" b="b"/>
              <a:pathLst>
                <a:path w="3357874" h="2926644">
                  <a:moveTo>
                    <a:pt x="63760" y="0"/>
                  </a:moveTo>
                  <a:lnTo>
                    <a:pt x="3294114" y="0"/>
                  </a:lnTo>
                  <a:cubicBezTo>
                    <a:pt x="3311024" y="0"/>
                    <a:pt x="3327241" y="6718"/>
                    <a:pt x="3339199" y="18675"/>
                  </a:cubicBezTo>
                  <a:cubicBezTo>
                    <a:pt x="3351156" y="30632"/>
                    <a:pt x="3357874" y="46850"/>
                    <a:pt x="3357874" y="63760"/>
                  </a:cubicBezTo>
                  <a:lnTo>
                    <a:pt x="3357874" y="2862885"/>
                  </a:lnTo>
                  <a:cubicBezTo>
                    <a:pt x="3357874" y="2898098"/>
                    <a:pt x="3329327" y="2926644"/>
                    <a:pt x="3294114" y="2926644"/>
                  </a:cubicBezTo>
                  <a:lnTo>
                    <a:pt x="63760" y="2926644"/>
                  </a:lnTo>
                  <a:cubicBezTo>
                    <a:pt x="28546" y="2926644"/>
                    <a:pt x="0" y="2898098"/>
                    <a:pt x="0" y="2862885"/>
                  </a:cubicBezTo>
                  <a:lnTo>
                    <a:pt x="0" y="63760"/>
                  </a:lnTo>
                  <a:cubicBezTo>
                    <a:pt x="0" y="28546"/>
                    <a:pt x="28546" y="0"/>
                    <a:pt x="63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357874" cy="299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3230271" y="594912"/>
            <a:ext cx="4720931" cy="9035557"/>
            <a:chOff x="0" y="0"/>
            <a:chExt cx="3730118" cy="71392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30118" cy="7139205"/>
            </a:xfrm>
            <a:custGeom>
              <a:avLst/>
              <a:gdLst/>
              <a:ahLst/>
              <a:cxnLst/>
              <a:rect l="l" t="t" r="r" b="b"/>
              <a:pathLst>
                <a:path w="3730118" h="7139205">
                  <a:moveTo>
                    <a:pt x="57397" y="0"/>
                  </a:moveTo>
                  <a:lnTo>
                    <a:pt x="3672721" y="0"/>
                  </a:lnTo>
                  <a:cubicBezTo>
                    <a:pt x="3687944" y="0"/>
                    <a:pt x="3702543" y="6047"/>
                    <a:pt x="3713307" y="16811"/>
                  </a:cubicBezTo>
                  <a:cubicBezTo>
                    <a:pt x="3724071" y="27575"/>
                    <a:pt x="3730118" y="42174"/>
                    <a:pt x="3730118" y="57397"/>
                  </a:cubicBezTo>
                  <a:lnTo>
                    <a:pt x="3730118" y="7081808"/>
                  </a:lnTo>
                  <a:cubicBezTo>
                    <a:pt x="3730118" y="7113508"/>
                    <a:pt x="3704420" y="7139205"/>
                    <a:pt x="3672721" y="7139205"/>
                  </a:cubicBezTo>
                  <a:lnTo>
                    <a:pt x="57397" y="7139205"/>
                  </a:lnTo>
                  <a:cubicBezTo>
                    <a:pt x="25698" y="7139205"/>
                    <a:pt x="0" y="7113508"/>
                    <a:pt x="0" y="7081808"/>
                  </a:cubicBezTo>
                  <a:lnTo>
                    <a:pt x="0" y="57397"/>
                  </a:lnTo>
                  <a:cubicBezTo>
                    <a:pt x="0" y="25698"/>
                    <a:pt x="25698" y="0"/>
                    <a:pt x="5739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730118" cy="7205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38044" y="1028700"/>
            <a:ext cx="6738344" cy="7848599"/>
            <a:chOff x="0" y="0"/>
            <a:chExt cx="5090819" cy="70890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90819" cy="7089057"/>
            </a:xfrm>
            <a:custGeom>
              <a:avLst/>
              <a:gdLst/>
              <a:ahLst/>
              <a:cxnLst/>
              <a:rect l="l" t="t" r="r" b="b"/>
              <a:pathLst>
                <a:path w="5090819" h="7089057">
                  <a:moveTo>
                    <a:pt x="42056" y="0"/>
                  </a:moveTo>
                  <a:lnTo>
                    <a:pt x="5048764" y="0"/>
                  </a:lnTo>
                  <a:cubicBezTo>
                    <a:pt x="5059918" y="0"/>
                    <a:pt x="5070615" y="4431"/>
                    <a:pt x="5078502" y="12318"/>
                  </a:cubicBezTo>
                  <a:cubicBezTo>
                    <a:pt x="5086389" y="20205"/>
                    <a:pt x="5090819" y="30902"/>
                    <a:pt x="5090819" y="42056"/>
                  </a:cubicBezTo>
                  <a:lnTo>
                    <a:pt x="5090819" y="7047002"/>
                  </a:lnTo>
                  <a:cubicBezTo>
                    <a:pt x="5090819" y="7058155"/>
                    <a:pt x="5086389" y="7068852"/>
                    <a:pt x="5078502" y="7076739"/>
                  </a:cubicBezTo>
                  <a:cubicBezTo>
                    <a:pt x="5070615" y="7084626"/>
                    <a:pt x="5059918" y="7089057"/>
                    <a:pt x="5048764" y="7089057"/>
                  </a:cubicBezTo>
                  <a:lnTo>
                    <a:pt x="42056" y="7089057"/>
                  </a:lnTo>
                  <a:cubicBezTo>
                    <a:pt x="30902" y="7089057"/>
                    <a:pt x="20205" y="7084626"/>
                    <a:pt x="12318" y="7076739"/>
                  </a:cubicBezTo>
                  <a:cubicBezTo>
                    <a:pt x="4431" y="7068852"/>
                    <a:pt x="0" y="7058155"/>
                    <a:pt x="0" y="7047002"/>
                  </a:cubicBezTo>
                  <a:lnTo>
                    <a:pt x="0" y="42056"/>
                  </a:lnTo>
                  <a:cubicBezTo>
                    <a:pt x="0" y="30902"/>
                    <a:pt x="4431" y="20205"/>
                    <a:pt x="12318" y="12318"/>
                  </a:cubicBezTo>
                  <a:cubicBezTo>
                    <a:pt x="20205" y="4431"/>
                    <a:pt x="30902" y="0"/>
                    <a:pt x="42056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5090819" cy="7155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4913691" y="594912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9981029" y="7624723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572079" y="729214"/>
            <a:ext cx="5365965" cy="5284990"/>
          </a:xfrm>
          <a:custGeom>
            <a:avLst/>
            <a:gdLst/>
            <a:ahLst/>
            <a:cxnLst/>
            <a:rect l="l" t="t" r="r" b="b"/>
            <a:pathLst>
              <a:path w="5365965" h="5284990">
                <a:moveTo>
                  <a:pt x="0" y="0"/>
                </a:moveTo>
                <a:lnTo>
                  <a:pt x="5365966" y="0"/>
                </a:lnTo>
                <a:lnTo>
                  <a:pt x="5365966" y="5284990"/>
                </a:lnTo>
                <a:lnTo>
                  <a:pt x="0" y="5284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641" b="-5602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77367" y="7198519"/>
            <a:ext cx="9589424" cy="243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7"/>
              </a:lnSpc>
              <a:spcBef>
                <a:spcPct val="0"/>
              </a:spcBef>
            </a:pPr>
            <a:r>
              <a:rPr lang="en-US" sz="9830" b="1" spc="-737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Log</a:t>
            </a:r>
            <a:r>
              <a:rPr lang="en-US" sz="9830" b="1" u="none" strike="noStrike" spc="-737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in Attempts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508" y="5678924"/>
            <a:ext cx="3936001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Donut 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10344" y="2124710"/>
            <a:ext cx="3298126" cy="795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Shows the number of login attempts </a:t>
            </a:r>
            <a:endParaRPr lang="en-US" sz="2299" u="none" strike="noStrike" dirty="0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058245" y="1222454"/>
            <a:ext cx="279321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33320" y="1514554"/>
            <a:ext cx="6443068" cy="241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The donut chart displays the distribution of login attempts made before a transaction.</a:t>
            </a:r>
          </a:p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Total transactions analyzed: 56K.</a:t>
            </a:r>
          </a:p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Most transactions were completed with 1 login attempt, while only a small percentage required 2–5 login attempts.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33320" y="4656534"/>
            <a:ext cx="6443068" cy="366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99" dirty="0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Monitor all single-attempt logins for unusual transaction behavior.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Verify device ID, IP address, and location before high-value transactions.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Apply risk-based authentication for suspicious 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  <a:latin typeface="Telegraf"/>
              </a:rPr>
              <a:t>activities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 Send instant SMS/Email alerts for high-value transactions. </a:t>
            </a:r>
          </a:p>
          <a:p>
            <a:pPr>
              <a:lnSpc>
                <a:spcPts val="2939"/>
              </a:lnSpc>
            </a:pPr>
            <a:r>
              <a:rPr lang="en-US" sz="2000" dirty="0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Automatically lock the account if a suspicious transaction is detected before </a:t>
            </a:r>
            <a:r>
              <a:rPr lang="en-US" altLang="en-U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transactions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en-US" sz="2099" u="none" strike="noStrike" dirty="0">
              <a:solidFill>
                <a:schemeClr val="bg1">
                  <a:lumMod val="95000"/>
                </a:schemeClr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065905" y="4190517"/>
            <a:ext cx="341112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ACTION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0344" y="5529006"/>
            <a:ext cx="3000329" cy="669144"/>
            <a:chOff x="0" y="0"/>
            <a:chExt cx="2370631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0631" cy="528706"/>
            </a:xfrm>
            <a:custGeom>
              <a:avLst/>
              <a:gdLst/>
              <a:ahLst/>
              <a:cxnLst/>
              <a:rect l="l" t="t" r="r" b="b"/>
              <a:pathLst>
                <a:path w="2370631" h="528706">
                  <a:moveTo>
                    <a:pt x="51607" y="0"/>
                  </a:moveTo>
                  <a:lnTo>
                    <a:pt x="2319024" y="0"/>
                  </a:lnTo>
                  <a:cubicBezTo>
                    <a:pt x="2332711" y="0"/>
                    <a:pt x="2345837" y="5437"/>
                    <a:pt x="2355515" y="15115"/>
                  </a:cubicBezTo>
                  <a:cubicBezTo>
                    <a:pt x="2365194" y="24794"/>
                    <a:pt x="2370631" y="37920"/>
                    <a:pt x="2370631" y="51607"/>
                  </a:cubicBezTo>
                  <a:lnTo>
                    <a:pt x="2370631" y="477099"/>
                  </a:lnTo>
                  <a:cubicBezTo>
                    <a:pt x="2370631" y="490786"/>
                    <a:pt x="2365194" y="503913"/>
                    <a:pt x="2355515" y="513591"/>
                  </a:cubicBezTo>
                  <a:cubicBezTo>
                    <a:pt x="2345837" y="523269"/>
                    <a:pt x="2332711" y="528706"/>
                    <a:pt x="2319024" y="528706"/>
                  </a:cubicBezTo>
                  <a:lnTo>
                    <a:pt x="51607" y="528706"/>
                  </a:lnTo>
                  <a:cubicBezTo>
                    <a:pt x="37920" y="528706"/>
                    <a:pt x="24794" y="523269"/>
                    <a:pt x="15115" y="513591"/>
                  </a:cubicBezTo>
                  <a:cubicBezTo>
                    <a:pt x="5437" y="503913"/>
                    <a:pt x="0" y="490786"/>
                    <a:pt x="0" y="477099"/>
                  </a:cubicBezTo>
                  <a:lnTo>
                    <a:pt x="0" y="51607"/>
                  </a:lnTo>
                  <a:cubicBezTo>
                    <a:pt x="0" y="37920"/>
                    <a:pt x="5437" y="24794"/>
                    <a:pt x="15115" y="15115"/>
                  </a:cubicBezTo>
                  <a:cubicBezTo>
                    <a:pt x="24794" y="5437"/>
                    <a:pt x="37920" y="0"/>
                    <a:pt x="51607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70631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4079770" cy="3704034"/>
            <a:chOff x="0" y="0"/>
            <a:chExt cx="3223522" cy="29266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23522" cy="2926644"/>
            </a:xfrm>
            <a:custGeom>
              <a:avLst/>
              <a:gdLst/>
              <a:ahLst/>
              <a:cxnLst/>
              <a:rect l="l" t="t" r="r" b="b"/>
              <a:pathLst>
                <a:path w="3223522" h="2926644">
                  <a:moveTo>
                    <a:pt x="66417" y="0"/>
                  </a:moveTo>
                  <a:lnTo>
                    <a:pt x="3157105" y="0"/>
                  </a:lnTo>
                  <a:cubicBezTo>
                    <a:pt x="3174720" y="0"/>
                    <a:pt x="3191613" y="6998"/>
                    <a:pt x="3204069" y="19453"/>
                  </a:cubicBezTo>
                  <a:cubicBezTo>
                    <a:pt x="3216524" y="31909"/>
                    <a:pt x="3223522" y="48802"/>
                    <a:pt x="3223522" y="66417"/>
                  </a:cubicBezTo>
                  <a:lnTo>
                    <a:pt x="3223522" y="2860227"/>
                  </a:lnTo>
                  <a:cubicBezTo>
                    <a:pt x="3223522" y="2896908"/>
                    <a:pt x="3193786" y="2926644"/>
                    <a:pt x="3157105" y="2926644"/>
                  </a:cubicBezTo>
                  <a:lnTo>
                    <a:pt x="66417" y="2926644"/>
                  </a:lnTo>
                  <a:cubicBezTo>
                    <a:pt x="29736" y="2926644"/>
                    <a:pt x="0" y="2896908"/>
                    <a:pt x="0" y="2860227"/>
                  </a:cubicBezTo>
                  <a:lnTo>
                    <a:pt x="0" y="66417"/>
                  </a:lnTo>
                  <a:cubicBezTo>
                    <a:pt x="0" y="29736"/>
                    <a:pt x="29736" y="0"/>
                    <a:pt x="6641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223522" cy="299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3230271" y="599908"/>
            <a:ext cx="4769669" cy="9030560"/>
            <a:chOff x="0" y="0"/>
            <a:chExt cx="3768628" cy="71352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68628" cy="7135257"/>
            </a:xfrm>
            <a:custGeom>
              <a:avLst/>
              <a:gdLst/>
              <a:ahLst/>
              <a:cxnLst/>
              <a:rect l="l" t="t" r="r" b="b"/>
              <a:pathLst>
                <a:path w="3768628" h="7135257">
                  <a:moveTo>
                    <a:pt x="56810" y="0"/>
                  </a:moveTo>
                  <a:lnTo>
                    <a:pt x="3711817" y="0"/>
                  </a:lnTo>
                  <a:cubicBezTo>
                    <a:pt x="3726884" y="0"/>
                    <a:pt x="3741334" y="5985"/>
                    <a:pt x="3751988" y="16639"/>
                  </a:cubicBezTo>
                  <a:cubicBezTo>
                    <a:pt x="3762642" y="27293"/>
                    <a:pt x="3768628" y="41743"/>
                    <a:pt x="3768628" y="56810"/>
                  </a:cubicBezTo>
                  <a:lnTo>
                    <a:pt x="3768628" y="7078447"/>
                  </a:lnTo>
                  <a:cubicBezTo>
                    <a:pt x="3768628" y="7093514"/>
                    <a:pt x="3762642" y="7107964"/>
                    <a:pt x="3751988" y="7118618"/>
                  </a:cubicBezTo>
                  <a:cubicBezTo>
                    <a:pt x="3741334" y="7129272"/>
                    <a:pt x="3726884" y="7135257"/>
                    <a:pt x="3711817" y="7135257"/>
                  </a:cubicBezTo>
                  <a:lnTo>
                    <a:pt x="56810" y="7135257"/>
                  </a:lnTo>
                  <a:cubicBezTo>
                    <a:pt x="41743" y="7135257"/>
                    <a:pt x="27293" y="7129272"/>
                    <a:pt x="16639" y="7118618"/>
                  </a:cubicBezTo>
                  <a:cubicBezTo>
                    <a:pt x="5985" y="7107964"/>
                    <a:pt x="0" y="7093514"/>
                    <a:pt x="0" y="7078447"/>
                  </a:cubicBezTo>
                  <a:lnTo>
                    <a:pt x="0" y="56810"/>
                  </a:lnTo>
                  <a:cubicBezTo>
                    <a:pt x="0" y="41743"/>
                    <a:pt x="5985" y="27293"/>
                    <a:pt x="16639" y="16639"/>
                  </a:cubicBezTo>
                  <a:cubicBezTo>
                    <a:pt x="27293" y="5985"/>
                    <a:pt x="41743" y="0"/>
                    <a:pt x="568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768628" cy="720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81116" y="1028700"/>
            <a:ext cx="7093146" cy="8601768"/>
            <a:chOff x="0" y="0"/>
            <a:chExt cx="5604461" cy="67964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04461" cy="6796459"/>
            </a:xfrm>
            <a:custGeom>
              <a:avLst/>
              <a:gdLst/>
              <a:ahLst/>
              <a:cxnLst/>
              <a:rect l="l" t="t" r="r" b="b"/>
              <a:pathLst>
                <a:path w="5604461" h="6796459">
                  <a:moveTo>
                    <a:pt x="38201" y="0"/>
                  </a:moveTo>
                  <a:lnTo>
                    <a:pt x="5566260" y="0"/>
                  </a:lnTo>
                  <a:cubicBezTo>
                    <a:pt x="5576392" y="0"/>
                    <a:pt x="5586108" y="4025"/>
                    <a:pt x="5593273" y="11189"/>
                  </a:cubicBezTo>
                  <a:cubicBezTo>
                    <a:pt x="5600436" y="18353"/>
                    <a:pt x="5604461" y="28070"/>
                    <a:pt x="5604461" y="38201"/>
                  </a:cubicBezTo>
                  <a:lnTo>
                    <a:pt x="5604461" y="6758257"/>
                  </a:lnTo>
                  <a:cubicBezTo>
                    <a:pt x="5604461" y="6768389"/>
                    <a:pt x="5600436" y="6778106"/>
                    <a:pt x="5593273" y="6785270"/>
                  </a:cubicBezTo>
                  <a:cubicBezTo>
                    <a:pt x="5586108" y="6792434"/>
                    <a:pt x="5576392" y="6796459"/>
                    <a:pt x="5566260" y="6796459"/>
                  </a:cubicBezTo>
                  <a:lnTo>
                    <a:pt x="38201" y="6796459"/>
                  </a:lnTo>
                  <a:cubicBezTo>
                    <a:pt x="28070" y="6796459"/>
                    <a:pt x="18353" y="6792434"/>
                    <a:pt x="11189" y="6785270"/>
                  </a:cubicBezTo>
                  <a:cubicBezTo>
                    <a:pt x="4025" y="6778106"/>
                    <a:pt x="0" y="6768389"/>
                    <a:pt x="0" y="6758257"/>
                  </a:cubicBezTo>
                  <a:lnTo>
                    <a:pt x="0" y="38201"/>
                  </a:lnTo>
                  <a:cubicBezTo>
                    <a:pt x="0" y="28070"/>
                    <a:pt x="4025" y="18353"/>
                    <a:pt x="11189" y="11189"/>
                  </a:cubicBezTo>
                  <a:cubicBezTo>
                    <a:pt x="18353" y="4025"/>
                    <a:pt x="28070" y="0"/>
                    <a:pt x="38201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5604461" cy="6863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4643555" y="599908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9144000" y="6808787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418715" y="599908"/>
            <a:ext cx="4948076" cy="5072409"/>
          </a:xfrm>
          <a:custGeom>
            <a:avLst/>
            <a:gdLst/>
            <a:ahLst/>
            <a:cxnLst/>
            <a:rect l="l" t="t" r="r" b="b"/>
            <a:pathLst>
              <a:path w="4948076" h="5072409">
                <a:moveTo>
                  <a:pt x="0" y="0"/>
                </a:moveTo>
                <a:lnTo>
                  <a:pt x="4948076" y="0"/>
                </a:lnTo>
                <a:lnTo>
                  <a:pt x="4948076" y="5072410"/>
                </a:lnTo>
                <a:lnTo>
                  <a:pt x="0" y="5072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1" t="-7474" r="-3545" b="-7982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77367" y="7198519"/>
            <a:ext cx="9203662" cy="230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7"/>
              </a:lnSpc>
              <a:spcBef>
                <a:spcPct val="0"/>
              </a:spcBef>
            </a:pPr>
            <a:r>
              <a:rPr lang="en-US" sz="9830" b="1" u="none" strike="noStrike" spc="-737" dirty="0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Transaction Duration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508" y="5678924"/>
            <a:ext cx="3936001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Donut 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508" y="1234734"/>
            <a:ext cx="3765962" cy="281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Analyze transaction duration to identify abnormal transaction p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rocessing times that may indicate fraudulent activities or suspicious behavior.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97617" y="1093446"/>
            <a:ext cx="279321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81116" y="1507776"/>
            <a:ext cx="7093146" cy="494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120–180 seconds represent the largest share of transactions, indicating that most transactions are completed within the normal processing time.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0–30 seconds have the lowest percentage. Extremely fast transactions may indicate automated scripts, bots, or unauthorized system activity.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180–300 seconds account for a significant number of transactions. Longer processing times may occur due to additional verification, network delays, or suspicious transaction reviews.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Transactions with 240–300 seconds should be monitored closely, especially when combined with unusual login attempts, high transaction amounts, or unfamiliar devices.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81116" y="7127875"/>
            <a:ext cx="7093146" cy="213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 </a:t>
            </a:r>
            <a:r>
              <a:rPr lang="en-US" sz="19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Mo</a:t>
            </a: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nitor unusually fast transactions (0–30 sec) to detect bots or automated fraud.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Flag transactions exceeding 240 seconds for additional fraud screening.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Continuously update fraud detection models using historical transaction duration patterns.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57795" y="6658769"/>
            <a:ext cx="341112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ACTION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0344" y="5529006"/>
            <a:ext cx="3000329" cy="669144"/>
            <a:chOff x="0" y="0"/>
            <a:chExt cx="2370631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0631" cy="528706"/>
            </a:xfrm>
            <a:custGeom>
              <a:avLst/>
              <a:gdLst/>
              <a:ahLst/>
              <a:cxnLst/>
              <a:rect l="l" t="t" r="r" b="b"/>
              <a:pathLst>
                <a:path w="2370631" h="528706">
                  <a:moveTo>
                    <a:pt x="51607" y="0"/>
                  </a:moveTo>
                  <a:lnTo>
                    <a:pt x="2319024" y="0"/>
                  </a:lnTo>
                  <a:cubicBezTo>
                    <a:pt x="2332711" y="0"/>
                    <a:pt x="2345837" y="5437"/>
                    <a:pt x="2355515" y="15115"/>
                  </a:cubicBezTo>
                  <a:cubicBezTo>
                    <a:pt x="2365194" y="24794"/>
                    <a:pt x="2370631" y="37920"/>
                    <a:pt x="2370631" y="51607"/>
                  </a:cubicBezTo>
                  <a:lnTo>
                    <a:pt x="2370631" y="477099"/>
                  </a:lnTo>
                  <a:cubicBezTo>
                    <a:pt x="2370631" y="490786"/>
                    <a:pt x="2365194" y="503913"/>
                    <a:pt x="2355515" y="513591"/>
                  </a:cubicBezTo>
                  <a:cubicBezTo>
                    <a:pt x="2345837" y="523269"/>
                    <a:pt x="2332711" y="528706"/>
                    <a:pt x="2319024" y="528706"/>
                  </a:cubicBezTo>
                  <a:lnTo>
                    <a:pt x="51607" y="528706"/>
                  </a:lnTo>
                  <a:cubicBezTo>
                    <a:pt x="37920" y="528706"/>
                    <a:pt x="24794" y="523269"/>
                    <a:pt x="15115" y="513591"/>
                  </a:cubicBezTo>
                  <a:cubicBezTo>
                    <a:pt x="5437" y="503913"/>
                    <a:pt x="0" y="490786"/>
                    <a:pt x="0" y="477099"/>
                  </a:cubicBezTo>
                  <a:lnTo>
                    <a:pt x="0" y="51607"/>
                  </a:lnTo>
                  <a:cubicBezTo>
                    <a:pt x="0" y="37920"/>
                    <a:pt x="5437" y="24794"/>
                    <a:pt x="15115" y="15115"/>
                  </a:cubicBezTo>
                  <a:cubicBezTo>
                    <a:pt x="24794" y="5437"/>
                    <a:pt x="37920" y="0"/>
                    <a:pt x="51607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70631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7504" y="864428"/>
            <a:ext cx="4249809" cy="3490656"/>
            <a:chOff x="0" y="0"/>
            <a:chExt cx="3357874" cy="2758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57874" cy="2758049"/>
            </a:xfrm>
            <a:custGeom>
              <a:avLst/>
              <a:gdLst/>
              <a:ahLst/>
              <a:cxnLst/>
              <a:rect l="l" t="t" r="r" b="b"/>
              <a:pathLst>
                <a:path w="3357874" h="2758049">
                  <a:moveTo>
                    <a:pt x="63760" y="0"/>
                  </a:moveTo>
                  <a:lnTo>
                    <a:pt x="3294114" y="0"/>
                  </a:lnTo>
                  <a:cubicBezTo>
                    <a:pt x="3311024" y="0"/>
                    <a:pt x="3327241" y="6718"/>
                    <a:pt x="3339199" y="18675"/>
                  </a:cubicBezTo>
                  <a:cubicBezTo>
                    <a:pt x="3351156" y="30632"/>
                    <a:pt x="3357874" y="46850"/>
                    <a:pt x="3357874" y="63760"/>
                  </a:cubicBezTo>
                  <a:lnTo>
                    <a:pt x="3357874" y="2694289"/>
                  </a:lnTo>
                  <a:cubicBezTo>
                    <a:pt x="3357874" y="2729503"/>
                    <a:pt x="3329327" y="2758049"/>
                    <a:pt x="3294114" y="2758049"/>
                  </a:cubicBezTo>
                  <a:lnTo>
                    <a:pt x="63760" y="2758049"/>
                  </a:lnTo>
                  <a:cubicBezTo>
                    <a:pt x="28546" y="2758049"/>
                    <a:pt x="0" y="2729503"/>
                    <a:pt x="0" y="2694289"/>
                  </a:cubicBezTo>
                  <a:lnTo>
                    <a:pt x="0" y="63760"/>
                  </a:lnTo>
                  <a:cubicBezTo>
                    <a:pt x="0" y="28546"/>
                    <a:pt x="28546" y="0"/>
                    <a:pt x="63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357874" cy="2824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618553" y="1028700"/>
            <a:ext cx="5095166" cy="8601768"/>
            <a:chOff x="0" y="0"/>
            <a:chExt cx="4025810" cy="67964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25810" cy="6796459"/>
            </a:xfrm>
            <a:custGeom>
              <a:avLst/>
              <a:gdLst/>
              <a:ahLst/>
              <a:cxnLst/>
              <a:rect l="l" t="t" r="r" b="b"/>
              <a:pathLst>
                <a:path w="4025810" h="6796459">
                  <a:moveTo>
                    <a:pt x="53181" y="0"/>
                  </a:moveTo>
                  <a:lnTo>
                    <a:pt x="3972629" y="0"/>
                  </a:lnTo>
                  <a:cubicBezTo>
                    <a:pt x="3986734" y="0"/>
                    <a:pt x="4000260" y="5603"/>
                    <a:pt x="4010234" y="15576"/>
                  </a:cubicBezTo>
                  <a:cubicBezTo>
                    <a:pt x="4020207" y="25550"/>
                    <a:pt x="4025810" y="39077"/>
                    <a:pt x="4025810" y="53181"/>
                  </a:cubicBezTo>
                  <a:lnTo>
                    <a:pt x="4025810" y="6743278"/>
                  </a:lnTo>
                  <a:cubicBezTo>
                    <a:pt x="4025810" y="6757382"/>
                    <a:pt x="4020207" y="6770909"/>
                    <a:pt x="4010234" y="6780882"/>
                  </a:cubicBezTo>
                  <a:cubicBezTo>
                    <a:pt x="4000260" y="6790856"/>
                    <a:pt x="3986734" y="6796459"/>
                    <a:pt x="3972629" y="6796459"/>
                  </a:cubicBezTo>
                  <a:lnTo>
                    <a:pt x="53181" y="6796459"/>
                  </a:lnTo>
                  <a:cubicBezTo>
                    <a:pt x="39077" y="6796459"/>
                    <a:pt x="25550" y="6790856"/>
                    <a:pt x="15576" y="6780882"/>
                  </a:cubicBezTo>
                  <a:cubicBezTo>
                    <a:pt x="5603" y="6770909"/>
                    <a:pt x="0" y="6757382"/>
                    <a:pt x="0" y="6743278"/>
                  </a:cubicBezTo>
                  <a:lnTo>
                    <a:pt x="0" y="53181"/>
                  </a:lnTo>
                  <a:cubicBezTo>
                    <a:pt x="0" y="39077"/>
                    <a:pt x="5603" y="25550"/>
                    <a:pt x="15576" y="15576"/>
                  </a:cubicBezTo>
                  <a:cubicBezTo>
                    <a:pt x="25550" y="5603"/>
                    <a:pt x="39077" y="0"/>
                    <a:pt x="531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025810" cy="6863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61046" y="1719365"/>
            <a:ext cx="6033596" cy="7911104"/>
            <a:chOff x="0" y="0"/>
            <a:chExt cx="4767286" cy="625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67285" cy="6250749"/>
            </a:xfrm>
            <a:custGeom>
              <a:avLst/>
              <a:gdLst/>
              <a:ahLst/>
              <a:cxnLst/>
              <a:rect l="l" t="t" r="r" b="b"/>
              <a:pathLst>
                <a:path w="4767285" h="6250749">
                  <a:moveTo>
                    <a:pt x="44910" y="0"/>
                  </a:moveTo>
                  <a:lnTo>
                    <a:pt x="4722376" y="0"/>
                  </a:lnTo>
                  <a:cubicBezTo>
                    <a:pt x="4747178" y="0"/>
                    <a:pt x="4767285" y="20107"/>
                    <a:pt x="4767285" y="44910"/>
                  </a:cubicBezTo>
                  <a:lnTo>
                    <a:pt x="4767285" y="6205839"/>
                  </a:lnTo>
                  <a:cubicBezTo>
                    <a:pt x="4767285" y="6230642"/>
                    <a:pt x="4747178" y="6250749"/>
                    <a:pt x="4722376" y="6250749"/>
                  </a:cubicBezTo>
                  <a:lnTo>
                    <a:pt x="44910" y="6250749"/>
                  </a:lnTo>
                  <a:cubicBezTo>
                    <a:pt x="20107" y="6250749"/>
                    <a:pt x="0" y="6230642"/>
                    <a:pt x="0" y="6205839"/>
                  </a:cubicBezTo>
                  <a:lnTo>
                    <a:pt x="0" y="44910"/>
                  </a:lnTo>
                  <a:cubicBezTo>
                    <a:pt x="0" y="20107"/>
                    <a:pt x="20107" y="0"/>
                    <a:pt x="44910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767286" cy="6317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4759010" y="1028700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9981029" y="7624723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694423" y="864428"/>
            <a:ext cx="4838541" cy="3819200"/>
          </a:xfrm>
          <a:custGeom>
            <a:avLst/>
            <a:gdLst/>
            <a:ahLst/>
            <a:cxnLst/>
            <a:rect l="l" t="t" r="r" b="b"/>
            <a:pathLst>
              <a:path w="4838541" h="3819200">
                <a:moveTo>
                  <a:pt x="0" y="0"/>
                </a:moveTo>
                <a:lnTo>
                  <a:pt x="4838541" y="0"/>
                </a:lnTo>
                <a:lnTo>
                  <a:pt x="4838541" y="3819200"/>
                </a:lnTo>
                <a:lnTo>
                  <a:pt x="0" y="3819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28" r="-180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77367" y="7198519"/>
            <a:ext cx="9589424" cy="243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7"/>
              </a:lnSpc>
              <a:spcBef>
                <a:spcPct val="0"/>
              </a:spcBef>
            </a:pPr>
            <a:r>
              <a:rPr lang="en-US" sz="9830" b="1" u="none" strike="noStrike" spc="-737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Transaction by Age Group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508" y="5678924"/>
            <a:ext cx="3936001" cy="335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Column 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6685" y="1099336"/>
            <a:ext cx="4067646" cy="321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The chart shows the total fraud transaction amount across different age groups.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Age Groups:</a:t>
            </a:r>
          </a:p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Teenagers: 13–19 yea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rs</a:t>
            </a:r>
          </a:p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Adults: 20–60 years</a:t>
            </a:r>
          </a:p>
          <a:p>
            <a:pPr marL="496567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Seniors: 60+ years</a:t>
            </a:r>
          </a:p>
          <a:p>
            <a:pPr marL="0" lvl="0" indent="0" algn="l">
              <a:lnSpc>
                <a:spcPts val="3219"/>
              </a:lnSpc>
              <a:spcBef>
                <a:spcPct val="0"/>
              </a:spcBef>
            </a:pPr>
            <a:endParaRPr lang="en-US" sz="2299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937342" y="2037695"/>
            <a:ext cx="279321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61046" y="2437282"/>
            <a:ext cx="6033596" cy="188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b="1">
                <a:solidFill>
                  <a:srgbClr val="F9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Adults contribute the highest</a:t>
            </a:r>
            <a:r>
              <a:rPr lang="en-US" sz="2099" b="1" u="none" strike="noStrike">
                <a:solidFill>
                  <a:srgbClr val="F9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transaction amount.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b="1" u="none" strike="noStrike">
                <a:solidFill>
                  <a:srgbClr val="F9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Seniors contribute a moderate amount.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b="1" u="none" strike="noStrike">
                <a:solidFill>
                  <a:srgbClr val="F9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Teenagers contribute the lowest amount.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 b="1" u="none" strike="noStrike">
              <a:solidFill>
                <a:srgbClr val="F9FFFF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072748" y="4607428"/>
            <a:ext cx="5669563" cy="441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2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E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nable transaction limits, parental monitoring, and awareness on online payment safety.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Implement AI-based fraud detection, multi-factor authentication (MFA), device fingerprinting, and real-time transaction monitoring.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2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Introduce OTP verification for high-value transactions, fraud alerts, scam awareness campaigns, and dedicated customer support.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01275" y="4315328"/>
            <a:ext cx="341112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ACTION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0344" y="5529006"/>
            <a:ext cx="3000329" cy="669144"/>
            <a:chOff x="0" y="0"/>
            <a:chExt cx="2370631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0631" cy="528706"/>
            </a:xfrm>
            <a:custGeom>
              <a:avLst/>
              <a:gdLst/>
              <a:ahLst/>
              <a:cxnLst/>
              <a:rect l="l" t="t" r="r" b="b"/>
              <a:pathLst>
                <a:path w="2370631" h="528706">
                  <a:moveTo>
                    <a:pt x="51607" y="0"/>
                  </a:moveTo>
                  <a:lnTo>
                    <a:pt x="2319024" y="0"/>
                  </a:lnTo>
                  <a:cubicBezTo>
                    <a:pt x="2332711" y="0"/>
                    <a:pt x="2345837" y="5437"/>
                    <a:pt x="2355515" y="15115"/>
                  </a:cubicBezTo>
                  <a:cubicBezTo>
                    <a:pt x="2365194" y="24794"/>
                    <a:pt x="2370631" y="37920"/>
                    <a:pt x="2370631" y="51607"/>
                  </a:cubicBezTo>
                  <a:lnTo>
                    <a:pt x="2370631" y="477099"/>
                  </a:lnTo>
                  <a:cubicBezTo>
                    <a:pt x="2370631" y="490786"/>
                    <a:pt x="2365194" y="503913"/>
                    <a:pt x="2355515" y="513591"/>
                  </a:cubicBezTo>
                  <a:cubicBezTo>
                    <a:pt x="2345837" y="523269"/>
                    <a:pt x="2332711" y="528706"/>
                    <a:pt x="2319024" y="528706"/>
                  </a:cubicBezTo>
                  <a:lnTo>
                    <a:pt x="51607" y="528706"/>
                  </a:lnTo>
                  <a:cubicBezTo>
                    <a:pt x="37920" y="528706"/>
                    <a:pt x="24794" y="523269"/>
                    <a:pt x="15115" y="513591"/>
                  </a:cubicBezTo>
                  <a:cubicBezTo>
                    <a:pt x="5437" y="503913"/>
                    <a:pt x="0" y="490786"/>
                    <a:pt x="0" y="477099"/>
                  </a:cubicBezTo>
                  <a:lnTo>
                    <a:pt x="0" y="51607"/>
                  </a:lnTo>
                  <a:cubicBezTo>
                    <a:pt x="0" y="37920"/>
                    <a:pt x="5437" y="24794"/>
                    <a:pt x="15115" y="15115"/>
                  </a:cubicBezTo>
                  <a:cubicBezTo>
                    <a:pt x="24794" y="5437"/>
                    <a:pt x="37920" y="0"/>
                    <a:pt x="51607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70631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6489" y="573489"/>
            <a:ext cx="3914184" cy="3704034"/>
            <a:chOff x="0" y="0"/>
            <a:chExt cx="3092688" cy="29266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92688" cy="2926644"/>
            </a:xfrm>
            <a:custGeom>
              <a:avLst/>
              <a:gdLst/>
              <a:ahLst/>
              <a:cxnLst/>
              <a:rect l="l" t="t" r="r" b="b"/>
              <a:pathLst>
                <a:path w="3092688" h="2926644">
                  <a:moveTo>
                    <a:pt x="69227" y="0"/>
                  </a:moveTo>
                  <a:lnTo>
                    <a:pt x="3023461" y="0"/>
                  </a:lnTo>
                  <a:cubicBezTo>
                    <a:pt x="3041822" y="0"/>
                    <a:pt x="3059430" y="7294"/>
                    <a:pt x="3072412" y="20276"/>
                  </a:cubicBezTo>
                  <a:cubicBezTo>
                    <a:pt x="3085395" y="33259"/>
                    <a:pt x="3092688" y="50867"/>
                    <a:pt x="3092688" y="69227"/>
                  </a:cubicBezTo>
                  <a:lnTo>
                    <a:pt x="3092688" y="2857417"/>
                  </a:lnTo>
                  <a:cubicBezTo>
                    <a:pt x="3092688" y="2875778"/>
                    <a:pt x="3085395" y="2893386"/>
                    <a:pt x="3072412" y="2906368"/>
                  </a:cubicBezTo>
                  <a:cubicBezTo>
                    <a:pt x="3059430" y="2919351"/>
                    <a:pt x="3041822" y="2926644"/>
                    <a:pt x="3023461" y="2926644"/>
                  </a:cubicBezTo>
                  <a:lnTo>
                    <a:pt x="69227" y="2926644"/>
                  </a:lnTo>
                  <a:cubicBezTo>
                    <a:pt x="50867" y="2926644"/>
                    <a:pt x="33259" y="2919351"/>
                    <a:pt x="20276" y="2906368"/>
                  </a:cubicBezTo>
                  <a:cubicBezTo>
                    <a:pt x="7294" y="2893386"/>
                    <a:pt x="0" y="2875778"/>
                    <a:pt x="0" y="2857417"/>
                  </a:cubicBezTo>
                  <a:lnTo>
                    <a:pt x="0" y="69227"/>
                  </a:lnTo>
                  <a:cubicBezTo>
                    <a:pt x="0" y="50867"/>
                    <a:pt x="7294" y="33259"/>
                    <a:pt x="20276" y="20276"/>
                  </a:cubicBezTo>
                  <a:cubicBezTo>
                    <a:pt x="33259" y="7294"/>
                    <a:pt x="50867" y="0"/>
                    <a:pt x="692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092688" cy="2993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933151" y="621114"/>
            <a:ext cx="4763091" cy="9376385"/>
            <a:chOff x="0" y="0"/>
            <a:chExt cx="3763430" cy="74085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63430" cy="7408502"/>
            </a:xfrm>
            <a:custGeom>
              <a:avLst/>
              <a:gdLst/>
              <a:ahLst/>
              <a:cxnLst/>
              <a:rect l="l" t="t" r="r" b="b"/>
              <a:pathLst>
                <a:path w="3763430" h="7408502">
                  <a:moveTo>
                    <a:pt x="56889" y="0"/>
                  </a:moveTo>
                  <a:lnTo>
                    <a:pt x="3706541" y="0"/>
                  </a:lnTo>
                  <a:cubicBezTo>
                    <a:pt x="3737960" y="0"/>
                    <a:pt x="3763430" y="25470"/>
                    <a:pt x="3763430" y="56889"/>
                  </a:cubicBezTo>
                  <a:lnTo>
                    <a:pt x="3763430" y="7351613"/>
                  </a:lnTo>
                  <a:cubicBezTo>
                    <a:pt x="3763430" y="7383032"/>
                    <a:pt x="3737960" y="7408502"/>
                    <a:pt x="3706541" y="7408502"/>
                  </a:cubicBezTo>
                  <a:lnTo>
                    <a:pt x="56889" y="7408502"/>
                  </a:lnTo>
                  <a:cubicBezTo>
                    <a:pt x="25470" y="7408502"/>
                    <a:pt x="0" y="7383032"/>
                    <a:pt x="0" y="7351613"/>
                  </a:cubicBezTo>
                  <a:lnTo>
                    <a:pt x="0" y="56889"/>
                  </a:lnTo>
                  <a:cubicBezTo>
                    <a:pt x="0" y="25470"/>
                    <a:pt x="25470" y="0"/>
                    <a:pt x="568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763430" cy="7475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59617" y="1028700"/>
            <a:ext cx="7819533" cy="8753505"/>
            <a:chOff x="0" y="0"/>
            <a:chExt cx="6178397" cy="69163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78397" cy="6916350"/>
            </a:xfrm>
            <a:custGeom>
              <a:avLst/>
              <a:gdLst/>
              <a:ahLst/>
              <a:cxnLst/>
              <a:rect l="l" t="t" r="r" b="b"/>
              <a:pathLst>
                <a:path w="6178397" h="6916350">
                  <a:moveTo>
                    <a:pt x="34653" y="0"/>
                  </a:moveTo>
                  <a:lnTo>
                    <a:pt x="6143744" y="0"/>
                  </a:lnTo>
                  <a:cubicBezTo>
                    <a:pt x="6152935" y="0"/>
                    <a:pt x="6161748" y="3651"/>
                    <a:pt x="6168247" y="10150"/>
                  </a:cubicBezTo>
                  <a:cubicBezTo>
                    <a:pt x="6174746" y="16648"/>
                    <a:pt x="6178397" y="25462"/>
                    <a:pt x="6178397" y="34653"/>
                  </a:cubicBezTo>
                  <a:lnTo>
                    <a:pt x="6178397" y="6881697"/>
                  </a:lnTo>
                  <a:cubicBezTo>
                    <a:pt x="6178397" y="6900835"/>
                    <a:pt x="6162882" y="6916350"/>
                    <a:pt x="6143744" y="6916350"/>
                  </a:cubicBezTo>
                  <a:lnTo>
                    <a:pt x="34653" y="6916350"/>
                  </a:lnTo>
                  <a:cubicBezTo>
                    <a:pt x="25462" y="6916350"/>
                    <a:pt x="16648" y="6912699"/>
                    <a:pt x="10150" y="6906200"/>
                  </a:cubicBezTo>
                  <a:cubicBezTo>
                    <a:pt x="3651" y="6899702"/>
                    <a:pt x="0" y="6890888"/>
                    <a:pt x="0" y="6881697"/>
                  </a:cubicBezTo>
                  <a:lnTo>
                    <a:pt x="0" y="34653"/>
                  </a:lnTo>
                  <a:cubicBezTo>
                    <a:pt x="0" y="15514"/>
                    <a:pt x="15514" y="0"/>
                    <a:pt x="34653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6178397" cy="6983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4594226" y="621114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8935729" y="6108968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3" y="0"/>
                </a:lnTo>
                <a:lnTo>
                  <a:pt x="385763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049430" y="529854"/>
            <a:ext cx="4205784" cy="4883892"/>
          </a:xfrm>
          <a:custGeom>
            <a:avLst/>
            <a:gdLst/>
            <a:ahLst/>
            <a:cxnLst/>
            <a:rect l="l" t="t" r="r" b="b"/>
            <a:pathLst>
              <a:path w="4205784" h="4883892">
                <a:moveTo>
                  <a:pt x="0" y="0"/>
                </a:moveTo>
                <a:lnTo>
                  <a:pt x="4205783" y="0"/>
                </a:lnTo>
                <a:lnTo>
                  <a:pt x="4205783" y="4883892"/>
                </a:lnTo>
                <a:lnTo>
                  <a:pt x="0" y="4883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20" t="-9662" r="-9142" b="-9934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77367" y="7198519"/>
            <a:ext cx="8544125" cy="230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7"/>
              </a:lnSpc>
              <a:spcBef>
                <a:spcPct val="0"/>
              </a:spcBef>
            </a:pPr>
            <a:r>
              <a:rPr lang="en-US" sz="9830" b="1" u="none" strike="noStrike" spc="-737" dirty="0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Transaction by </a:t>
            </a:r>
            <a:r>
              <a:rPr lang="en-US" sz="9830" b="1" spc="-737" dirty="0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Occupation</a:t>
            </a:r>
            <a:r>
              <a:rPr lang="en-US" sz="9830" b="1" u="none" strike="noStrike" spc="-737" dirty="0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2508" y="5678924"/>
            <a:ext cx="3936001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Bar 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99103" y="1765444"/>
            <a:ext cx="3298126" cy="120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Shows transaction  amounts across different occupations</a:t>
            </a:r>
            <a:endParaRPr lang="en-US" sz="2299" u="none" strike="noStrike" dirty="0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197617" y="1176995"/>
            <a:ext cx="279321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59617" y="1682710"/>
            <a:ext cx="7819533" cy="485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Students recorded the highest</a:t>
            </a: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fraud transaction amount (4.09M), indicating they are the most targeted or vulnerable customer segment.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Doctors and Engineers also experienced significant fraudulent transactions, suggesting that higher-income professionals are common fraud targets.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Retired customers show a slightly lower fraud amount but remain a high-risk segment due to potential vulnerability to scams.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The difference between occupations is relatively small, indicating that fraud affects multiple customer groups rather than a single occupation.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566072" y="6635808"/>
            <a:ext cx="7813079" cy="299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 </a:t>
            </a:r>
            <a:r>
              <a:rPr lang="en-US" sz="20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Implem</a:t>
            </a: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ent occupation-based risk scoring within the fraud detection system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Provide targeted fraud awareness campaigns: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Students: Online payment and phishing awareness.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Doctors &amp; Engineers: Secure banking and credential protection.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Retired Customers: Scam prevention and identity verification education.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54652" y="6317258"/>
            <a:ext cx="341112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ACTION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2983715" y="-926315"/>
            <a:ext cx="3176570" cy="7086600"/>
            <a:chOff x="0" y="0"/>
            <a:chExt cx="2509882" cy="55992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882" cy="5599289"/>
            </a:xfrm>
            <a:custGeom>
              <a:avLst/>
              <a:gdLst/>
              <a:ahLst/>
              <a:cxnLst/>
              <a:rect l="l" t="t" r="r" b="b"/>
              <a:pathLst>
                <a:path w="2509882" h="5599289">
                  <a:moveTo>
                    <a:pt x="85302" y="0"/>
                  </a:moveTo>
                  <a:lnTo>
                    <a:pt x="2424580" y="0"/>
                  </a:lnTo>
                  <a:cubicBezTo>
                    <a:pt x="2447204" y="0"/>
                    <a:pt x="2468901" y="8987"/>
                    <a:pt x="2484898" y="24984"/>
                  </a:cubicBezTo>
                  <a:cubicBezTo>
                    <a:pt x="2500895" y="40982"/>
                    <a:pt x="2509882" y="62678"/>
                    <a:pt x="2509882" y="85302"/>
                  </a:cubicBezTo>
                  <a:lnTo>
                    <a:pt x="2509882" y="5513987"/>
                  </a:lnTo>
                  <a:cubicBezTo>
                    <a:pt x="2509882" y="5536611"/>
                    <a:pt x="2500895" y="5558307"/>
                    <a:pt x="2484898" y="5574305"/>
                  </a:cubicBezTo>
                  <a:cubicBezTo>
                    <a:pt x="2468901" y="5590302"/>
                    <a:pt x="2447204" y="5599289"/>
                    <a:pt x="2424580" y="5599289"/>
                  </a:cubicBezTo>
                  <a:lnTo>
                    <a:pt x="85302" y="5599289"/>
                  </a:lnTo>
                  <a:cubicBezTo>
                    <a:pt x="38191" y="5599289"/>
                    <a:pt x="0" y="5561098"/>
                    <a:pt x="0" y="5513987"/>
                  </a:cubicBezTo>
                  <a:lnTo>
                    <a:pt x="0" y="85302"/>
                  </a:lnTo>
                  <a:cubicBezTo>
                    <a:pt x="0" y="62678"/>
                    <a:pt x="8987" y="40982"/>
                    <a:pt x="24984" y="24984"/>
                  </a:cubicBezTo>
                  <a:cubicBezTo>
                    <a:pt x="40982" y="8987"/>
                    <a:pt x="62678" y="0"/>
                    <a:pt x="853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09882" cy="5665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93715" y="9258300"/>
            <a:ext cx="3756829" cy="669144"/>
            <a:chOff x="0" y="0"/>
            <a:chExt cx="2968359" cy="5287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68359" cy="528706"/>
            </a:xfrm>
            <a:custGeom>
              <a:avLst/>
              <a:gdLst/>
              <a:ahLst/>
              <a:cxnLst/>
              <a:rect l="l" t="t" r="r" b="b"/>
              <a:pathLst>
                <a:path w="2968359" h="528706">
                  <a:moveTo>
                    <a:pt x="41215" y="0"/>
                  </a:moveTo>
                  <a:lnTo>
                    <a:pt x="2927144" y="0"/>
                  </a:lnTo>
                  <a:cubicBezTo>
                    <a:pt x="2949906" y="0"/>
                    <a:pt x="2968359" y="18453"/>
                    <a:pt x="2968359" y="41215"/>
                  </a:cubicBezTo>
                  <a:lnTo>
                    <a:pt x="2968359" y="487491"/>
                  </a:lnTo>
                  <a:cubicBezTo>
                    <a:pt x="2968359" y="498422"/>
                    <a:pt x="2964017" y="508905"/>
                    <a:pt x="2956287" y="516635"/>
                  </a:cubicBezTo>
                  <a:cubicBezTo>
                    <a:pt x="2948558" y="524364"/>
                    <a:pt x="2938075" y="528706"/>
                    <a:pt x="2927144" y="528706"/>
                  </a:cubicBezTo>
                  <a:lnTo>
                    <a:pt x="41215" y="528706"/>
                  </a:lnTo>
                  <a:cubicBezTo>
                    <a:pt x="30284" y="528706"/>
                    <a:pt x="19801" y="524364"/>
                    <a:pt x="12072" y="516635"/>
                  </a:cubicBezTo>
                  <a:cubicBezTo>
                    <a:pt x="4342" y="508905"/>
                    <a:pt x="0" y="498422"/>
                    <a:pt x="0" y="487491"/>
                  </a:cubicBezTo>
                  <a:lnTo>
                    <a:pt x="0" y="41215"/>
                  </a:lnTo>
                  <a:cubicBezTo>
                    <a:pt x="0" y="30284"/>
                    <a:pt x="4342" y="19801"/>
                    <a:pt x="12072" y="12072"/>
                  </a:cubicBezTo>
                  <a:cubicBezTo>
                    <a:pt x="19801" y="4342"/>
                    <a:pt x="30284" y="0"/>
                    <a:pt x="41215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968359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2053254"/>
            <a:ext cx="0" cy="97155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405342" y="1595446"/>
            <a:ext cx="6102787" cy="2187750"/>
            <a:chOff x="0" y="0"/>
            <a:chExt cx="4821955" cy="17285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21956" cy="1728592"/>
            </a:xfrm>
            <a:custGeom>
              <a:avLst/>
              <a:gdLst/>
              <a:ahLst/>
              <a:cxnLst/>
              <a:rect l="l" t="t" r="r" b="b"/>
              <a:pathLst>
                <a:path w="4821956" h="1728592">
                  <a:moveTo>
                    <a:pt x="44401" y="0"/>
                  </a:moveTo>
                  <a:lnTo>
                    <a:pt x="4777555" y="0"/>
                  </a:lnTo>
                  <a:cubicBezTo>
                    <a:pt x="4802077" y="0"/>
                    <a:pt x="4821956" y="19879"/>
                    <a:pt x="4821956" y="44401"/>
                  </a:cubicBezTo>
                  <a:lnTo>
                    <a:pt x="4821956" y="1684192"/>
                  </a:lnTo>
                  <a:cubicBezTo>
                    <a:pt x="4821956" y="1695968"/>
                    <a:pt x="4817278" y="1707261"/>
                    <a:pt x="4808951" y="1715588"/>
                  </a:cubicBezTo>
                  <a:cubicBezTo>
                    <a:pt x="4800624" y="1723915"/>
                    <a:pt x="4789331" y="1728592"/>
                    <a:pt x="4777555" y="1728592"/>
                  </a:cubicBezTo>
                  <a:lnTo>
                    <a:pt x="44401" y="1728592"/>
                  </a:lnTo>
                  <a:cubicBezTo>
                    <a:pt x="32625" y="1728592"/>
                    <a:pt x="21331" y="1723915"/>
                    <a:pt x="13005" y="1715588"/>
                  </a:cubicBezTo>
                  <a:cubicBezTo>
                    <a:pt x="4678" y="1707261"/>
                    <a:pt x="0" y="1695968"/>
                    <a:pt x="0" y="1684192"/>
                  </a:cubicBezTo>
                  <a:lnTo>
                    <a:pt x="0" y="44401"/>
                  </a:lnTo>
                  <a:cubicBezTo>
                    <a:pt x="0" y="32625"/>
                    <a:pt x="4678" y="21331"/>
                    <a:pt x="13005" y="13005"/>
                  </a:cubicBezTo>
                  <a:cubicBezTo>
                    <a:pt x="21331" y="4678"/>
                    <a:pt x="32625" y="0"/>
                    <a:pt x="44401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821955" cy="17952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122367" y="4205270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3" y="0"/>
                </a:lnTo>
                <a:lnTo>
                  <a:pt x="385763" y="385762"/>
                </a:lnTo>
                <a:lnTo>
                  <a:pt x="0" y="385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07317" y="4366224"/>
            <a:ext cx="8877825" cy="4892076"/>
          </a:xfrm>
          <a:custGeom>
            <a:avLst/>
            <a:gdLst/>
            <a:ahLst/>
            <a:cxnLst/>
            <a:rect l="l" t="t" r="r" b="b"/>
            <a:pathLst>
              <a:path w="8877825" h="4892076">
                <a:moveTo>
                  <a:pt x="0" y="0"/>
                </a:moveTo>
                <a:lnTo>
                  <a:pt x="8877824" y="0"/>
                </a:lnTo>
                <a:lnTo>
                  <a:pt x="8877824" y="4892076"/>
                </a:lnTo>
                <a:lnTo>
                  <a:pt x="0" y="4892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1" r="-26300" b="-10692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-10800000">
            <a:off x="13976385" y="833603"/>
            <a:ext cx="3508756" cy="3912680"/>
            <a:chOff x="0" y="0"/>
            <a:chExt cx="2772351" cy="3091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72351" cy="3091500"/>
            </a:xfrm>
            <a:custGeom>
              <a:avLst/>
              <a:gdLst/>
              <a:ahLst/>
              <a:cxnLst/>
              <a:rect l="l" t="t" r="r" b="b"/>
              <a:pathLst>
                <a:path w="2772351" h="3091500">
                  <a:moveTo>
                    <a:pt x="77226" y="0"/>
                  </a:moveTo>
                  <a:lnTo>
                    <a:pt x="2695125" y="0"/>
                  </a:lnTo>
                  <a:cubicBezTo>
                    <a:pt x="2737775" y="0"/>
                    <a:pt x="2772351" y="34575"/>
                    <a:pt x="2772351" y="77226"/>
                  </a:cubicBezTo>
                  <a:lnTo>
                    <a:pt x="2772351" y="3014274"/>
                  </a:lnTo>
                  <a:cubicBezTo>
                    <a:pt x="2772351" y="3056925"/>
                    <a:pt x="2737775" y="3091500"/>
                    <a:pt x="2695125" y="3091500"/>
                  </a:cubicBezTo>
                  <a:lnTo>
                    <a:pt x="77226" y="3091500"/>
                  </a:lnTo>
                  <a:cubicBezTo>
                    <a:pt x="34575" y="3091500"/>
                    <a:pt x="0" y="3056925"/>
                    <a:pt x="0" y="3014274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772351" cy="315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169085" y="728466"/>
            <a:ext cx="6289469" cy="3054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3"/>
              </a:lnSpc>
            </a:pPr>
            <a:r>
              <a:rPr lang="en-US" sz="8426" b="1" spc="-631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Top 10 </a:t>
            </a:r>
          </a:p>
          <a:p>
            <a:pPr algn="l">
              <a:lnSpc>
                <a:spcPts val="7583"/>
              </a:lnSpc>
            </a:pPr>
            <a:r>
              <a:rPr lang="en-US" sz="8426" b="1" spc="-631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transactions</a:t>
            </a:r>
          </a:p>
          <a:p>
            <a:pPr algn="l">
              <a:lnSpc>
                <a:spcPts val="7583"/>
              </a:lnSpc>
            </a:pPr>
            <a:r>
              <a:rPr lang="en-US" sz="8426" b="1" spc="-631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by period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178231" y="1106010"/>
            <a:ext cx="3105065" cy="3371667"/>
          </a:xfrm>
          <a:custGeom>
            <a:avLst/>
            <a:gdLst/>
            <a:ahLst/>
            <a:cxnLst/>
            <a:rect l="l" t="t" r="r" b="b"/>
            <a:pathLst>
              <a:path w="3105065" h="3371667">
                <a:moveTo>
                  <a:pt x="0" y="0"/>
                </a:moveTo>
                <a:lnTo>
                  <a:pt x="3105065" y="0"/>
                </a:lnTo>
                <a:lnTo>
                  <a:pt x="3105065" y="3371667"/>
                </a:lnTo>
                <a:lnTo>
                  <a:pt x="0" y="3371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701" r="-118289" b="-5396"/>
            </a:stretch>
          </a:blipFill>
          <a:ln cap="sq">
            <a:noFill/>
            <a:prstDash val="sysDot"/>
            <a:miter/>
          </a:ln>
        </p:spPr>
      </p:sp>
      <p:sp>
        <p:nvSpPr>
          <p:cNvPr id="19" name="TextBox 19"/>
          <p:cNvSpPr txBox="1"/>
          <p:nvPr/>
        </p:nvSpPr>
        <p:spPr>
          <a:xfrm>
            <a:off x="9690631" y="9391894"/>
            <a:ext cx="4362997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spc="-36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Understanding Bank Revenue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1886" y="1986579"/>
            <a:ext cx="5063770" cy="127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To</a:t>
            </a:r>
            <a:r>
              <a:rPr lang="en-US" sz="18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identify the accounts with the highest transaction amounts and analyze fraud patterns over a selected time period using interactive date filters.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0201" y="4411002"/>
            <a:ext cx="3443599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FINANCIAL MECHANI</a:t>
            </a:r>
            <a:r>
              <a:rPr lang="en-US" sz="1800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9513" y="4902924"/>
            <a:ext cx="8501117" cy="159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18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ccount AC00028 holds the peak transaction value of $50,291.92.</a:t>
            </a:r>
          </a:p>
          <a:p>
            <a:pPr marL="388620" lvl="1" indent="-194310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Aggregate transactions for the top ten accounts stand at $407,421.05.</a:t>
            </a:r>
          </a:p>
          <a:p>
            <a:pPr marL="388620" lvl="1" indent="-194310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The Calendar slicer allows users to isolate specific Years , Months and Days to track transaction trends across the top 10 highest amounts.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684457" y="6655082"/>
            <a:ext cx="237438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7142762"/>
            <a:ext cx="8965015" cy="284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80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Tracki</a:t>
            </a:r>
            <a:r>
              <a:rPr lang="en-US" sz="18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ng the largest transaction allows to understand exactly how much money is at risk.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8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Helps fraud analysts focus on accounts that may require further investigation.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8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Enables time-based analysis using the Calendar slicer to detect unusual transaction patterns.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8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Supports faster fraud detection and better risk management.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18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Improves decision-making by highlighting high-value transactions that may indicate suspicious activity.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72075" y="2339655"/>
            <a:ext cx="5131814" cy="669144"/>
            <a:chOff x="0" y="0"/>
            <a:chExt cx="4054767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54766" cy="528706"/>
            </a:xfrm>
            <a:custGeom>
              <a:avLst/>
              <a:gdLst/>
              <a:ahLst/>
              <a:cxnLst/>
              <a:rect l="l" t="t" r="r" b="b"/>
              <a:pathLst>
                <a:path w="4054766" h="528706">
                  <a:moveTo>
                    <a:pt x="30172" y="0"/>
                  </a:moveTo>
                  <a:lnTo>
                    <a:pt x="4024594" y="0"/>
                  </a:lnTo>
                  <a:cubicBezTo>
                    <a:pt x="4041258" y="0"/>
                    <a:pt x="4054766" y="13509"/>
                    <a:pt x="4054766" y="30172"/>
                  </a:cubicBezTo>
                  <a:lnTo>
                    <a:pt x="4054766" y="498534"/>
                  </a:lnTo>
                  <a:cubicBezTo>
                    <a:pt x="4054766" y="515198"/>
                    <a:pt x="4041258" y="528706"/>
                    <a:pt x="4024594" y="528706"/>
                  </a:cubicBezTo>
                  <a:lnTo>
                    <a:pt x="30172" y="528706"/>
                  </a:lnTo>
                  <a:cubicBezTo>
                    <a:pt x="13509" y="528706"/>
                    <a:pt x="0" y="515198"/>
                    <a:pt x="0" y="498534"/>
                  </a:cubicBezTo>
                  <a:lnTo>
                    <a:pt x="0" y="30172"/>
                  </a:lnTo>
                  <a:cubicBezTo>
                    <a:pt x="0" y="13509"/>
                    <a:pt x="13509" y="0"/>
                    <a:pt x="30172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054767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4104377" y="2773954"/>
            <a:ext cx="2982223" cy="3677537"/>
            <a:chOff x="0" y="0"/>
            <a:chExt cx="2356324" cy="29057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56324" cy="2905708"/>
            </a:xfrm>
            <a:custGeom>
              <a:avLst/>
              <a:gdLst/>
              <a:ahLst/>
              <a:cxnLst/>
              <a:rect l="l" t="t" r="r" b="b"/>
              <a:pathLst>
                <a:path w="2356324" h="2905708">
                  <a:moveTo>
                    <a:pt x="90861" y="0"/>
                  </a:moveTo>
                  <a:lnTo>
                    <a:pt x="2265463" y="0"/>
                  </a:lnTo>
                  <a:cubicBezTo>
                    <a:pt x="2315644" y="0"/>
                    <a:pt x="2356324" y="40680"/>
                    <a:pt x="2356324" y="90861"/>
                  </a:cubicBezTo>
                  <a:lnTo>
                    <a:pt x="2356324" y="2814847"/>
                  </a:lnTo>
                  <a:cubicBezTo>
                    <a:pt x="2356324" y="2865028"/>
                    <a:pt x="2315644" y="2905708"/>
                    <a:pt x="2265463" y="2905708"/>
                  </a:cubicBezTo>
                  <a:lnTo>
                    <a:pt x="90861" y="2905708"/>
                  </a:lnTo>
                  <a:cubicBezTo>
                    <a:pt x="40680" y="2905708"/>
                    <a:pt x="0" y="2865028"/>
                    <a:pt x="0" y="2814847"/>
                  </a:cubicBezTo>
                  <a:lnTo>
                    <a:pt x="0" y="90861"/>
                  </a:lnTo>
                  <a:cubicBezTo>
                    <a:pt x="0" y="40680"/>
                    <a:pt x="40680" y="0"/>
                    <a:pt x="908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356324" cy="2972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23259" y="415704"/>
            <a:ext cx="3236041" cy="2669294"/>
            <a:chOff x="0" y="0"/>
            <a:chExt cx="938527" cy="7741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8527" cy="774157"/>
            </a:xfrm>
            <a:custGeom>
              <a:avLst/>
              <a:gdLst/>
              <a:ahLst/>
              <a:cxnLst/>
              <a:rect l="l" t="t" r="r" b="b"/>
              <a:pathLst>
                <a:path w="938527" h="774157">
                  <a:moveTo>
                    <a:pt x="83734" y="0"/>
                  </a:moveTo>
                  <a:lnTo>
                    <a:pt x="854793" y="0"/>
                  </a:lnTo>
                  <a:cubicBezTo>
                    <a:pt x="901038" y="0"/>
                    <a:pt x="938527" y="37489"/>
                    <a:pt x="938527" y="83734"/>
                  </a:cubicBezTo>
                  <a:lnTo>
                    <a:pt x="938527" y="690423"/>
                  </a:lnTo>
                  <a:cubicBezTo>
                    <a:pt x="938527" y="736668"/>
                    <a:pt x="901038" y="774157"/>
                    <a:pt x="854793" y="774157"/>
                  </a:cubicBezTo>
                  <a:lnTo>
                    <a:pt x="83734" y="774157"/>
                  </a:lnTo>
                  <a:cubicBezTo>
                    <a:pt x="37489" y="774157"/>
                    <a:pt x="0" y="736668"/>
                    <a:pt x="0" y="690423"/>
                  </a:cubicBezTo>
                  <a:lnTo>
                    <a:pt x="0" y="83734"/>
                  </a:lnTo>
                  <a:cubicBezTo>
                    <a:pt x="0" y="37489"/>
                    <a:pt x="37489" y="0"/>
                    <a:pt x="83734" y="0"/>
                  </a:cubicBezTo>
                  <a:close/>
                </a:path>
              </a:pathLst>
            </a:custGeom>
            <a:blipFill>
              <a:blip r:embed="rId2"/>
              <a:stretch>
                <a:fillRect t="-40841" b="-40841"/>
              </a:stretch>
            </a:blipFill>
          </p:spPr>
        </p:sp>
      </p:grpSp>
      <p:sp>
        <p:nvSpPr>
          <p:cNvPr id="10" name="AutoShape 10"/>
          <p:cNvSpPr/>
          <p:nvPr/>
        </p:nvSpPr>
        <p:spPr>
          <a:xfrm>
            <a:off x="5109714" y="2726329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1293861" y="3409557"/>
            <a:ext cx="5965439" cy="6530240"/>
            <a:chOff x="0" y="0"/>
            <a:chExt cx="4713433" cy="51596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13433" cy="5159696"/>
            </a:xfrm>
            <a:custGeom>
              <a:avLst/>
              <a:gdLst/>
              <a:ahLst/>
              <a:cxnLst/>
              <a:rect l="l" t="t" r="r" b="b"/>
              <a:pathLst>
                <a:path w="4713433" h="5159696">
                  <a:moveTo>
                    <a:pt x="45423" y="0"/>
                  </a:moveTo>
                  <a:lnTo>
                    <a:pt x="4668010" y="0"/>
                  </a:lnTo>
                  <a:cubicBezTo>
                    <a:pt x="4693097" y="0"/>
                    <a:pt x="4713433" y="20336"/>
                    <a:pt x="4713433" y="45423"/>
                  </a:cubicBezTo>
                  <a:lnTo>
                    <a:pt x="4713433" y="5114273"/>
                  </a:lnTo>
                  <a:cubicBezTo>
                    <a:pt x="4713433" y="5139360"/>
                    <a:pt x="4693097" y="5159696"/>
                    <a:pt x="4668010" y="5159696"/>
                  </a:cubicBezTo>
                  <a:lnTo>
                    <a:pt x="45423" y="5159696"/>
                  </a:lnTo>
                  <a:cubicBezTo>
                    <a:pt x="20336" y="5159696"/>
                    <a:pt x="0" y="5139360"/>
                    <a:pt x="0" y="5114273"/>
                  </a:cubicBezTo>
                  <a:lnTo>
                    <a:pt x="0" y="45423"/>
                  </a:lnTo>
                  <a:cubicBezTo>
                    <a:pt x="0" y="20336"/>
                    <a:pt x="20336" y="0"/>
                    <a:pt x="45423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713433" cy="5226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565356" y="7795542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3" y="0"/>
                </a:lnTo>
                <a:lnTo>
                  <a:pt x="385763" y="385762"/>
                </a:lnTo>
                <a:lnTo>
                  <a:pt x="0" y="385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82020" y="7988423"/>
            <a:ext cx="7207691" cy="1348600"/>
            <a:chOff x="0" y="0"/>
            <a:chExt cx="5694966" cy="10655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94966" cy="1065561"/>
            </a:xfrm>
            <a:custGeom>
              <a:avLst/>
              <a:gdLst/>
              <a:ahLst/>
              <a:cxnLst/>
              <a:rect l="l" t="t" r="r" b="b"/>
              <a:pathLst>
                <a:path w="5694966" h="1065561">
                  <a:moveTo>
                    <a:pt x="37594" y="0"/>
                  </a:moveTo>
                  <a:lnTo>
                    <a:pt x="5657372" y="0"/>
                  </a:lnTo>
                  <a:cubicBezTo>
                    <a:pt x="5667342" y="0"/>
                    <a:pt x="5676905" y="3961"/>
                    <a:pt x="5683955" y="11011"/>
                  </a:cubicBezTo>
                  <a:cubicBezTo>
                    <a:pt x="5691005" y="18061"/>
                    <a:pt x="5694966" y="27624"/>
                    <a:pt x="5694966" y="37594"/>
                  </a:cubicBezTo>
                  <a:lnTo>
                    <a:pt x="5694966" y="1027966"/>
                  </a:lnTo>
                  <a:cubicBezTo>
                    <a:pt x="5694966" y="1048729"/>
                    <a:pt x="5678134" y="1065561"/>
                    <a:pt x="5657372" y="1065561"/>
                  </a:cubicBezTo>
                  <a:lnTo>
                    <a:pt x="37594" y="1065561"/>
                  </a:lnTo>
                  <a:cubicBezTo>
                    <a:pt x="27624" y="1065561"/>
                    <a:pt x="18061" y="1061600"/>
                    <a:pt x="11011" y="1054550"/>
                  </a:cubicBezTo>
                  <a:cubicBezTo>
                    <a:pt x="3961" y="1047499"/>
                    <a:pt x="0" y="1037937"/>
                    <a:pt x="0" y="1027966"/>
                  </a:cubicBezTo>
                  <a:lnTo>
                    <a:pt x="0" y="37594"/>
                  </a:lnTo>
                  <a:cubicBezTo>
                    <a:pt x="0" y="27624"/>
                    <a:pt x="3961" y="18061"/>
                    <a:pt x="11011" y="11011"/>
                  </a:cubicBezTo>
                  <a:cubicBezTo>
                    <a:pt x="18061" y="3961"/>
                    <a:pt x="27624" y="0"/>
                    <a:pt x="375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5694966" cy="1132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682020" y="3409557"/>
            <a:ext cx="7207691" cy="4289109"/>
          </a:xfrm>
          <a:custGeom>
            <a:avLst/>
            <a:gdLst/>
            <a:ahLst/>
            <a:cxnLst/>
            <a:rect l="l" t="t" r="r" b="b"/>
            <a:pathLst>
              <a:path w="7207691" h="4289109">
                <a:moveTo>
                  <a:pt x="0" y="0"/>
                </a:moveTo>
                <a:lnTo>
                  <a:pt x="7207692" y="0"/>
                </a:lnTo>
                <a:lnTo>
                  <a:pt x="7207692" y="4289109"/>
                </a:lnTo>
                <a:lnTo>
                  <a:pt x="0" y="4289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94914" y="890077"/>
            <a:ext cx="17068583" cy="127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07"/>
              </a:lnSpc>
            </a:pPr>
            <a:r>
              <a:rPr lang="en-US" sz="9563" b="1" spc="-717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Latest Transaction Details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35925" y="2438992"/>
            <a:ext cx="5004112" cy="39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 spc="-41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Latest Transaction Date: 30-09-2025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64525" y="4058657"/>
            <a:ext cx="357197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INFORMATION INCLUD</a:t>
            </a:r>
            <a:r>
              <a:rPr lang="en-US" sz="1800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23111" y="4641587"/>
            <a:ext cx="3854798" cy="2835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Account ID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Transaction Date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Trans</a:t>
            </a: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action Type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Device ID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IP Address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Transaction ID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Transaction Amount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 u="none" strike="noStrike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903889" y="6878026"/>
            <a:ext cx="329467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93077" y="7400398"/>
            <a:ext cx="5767008" cy="225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10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Monitor the latest banking acti</a:t>
            </a:r>
            <a:r>
              <a:rPr lang="en-US" sz="21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vities.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</a:t>
            </a:r>
            <a:r>
              <a:rPr lang="en-US" sz="21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 Tracing the preceding transaction based on the last recorded transaction will help establish a pattern.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56D2F0"/>
                </a:solidFill>
                <a:latin typeface="Telegraf"/>
                <a:ea typeface="Telegraf"/>
                <a:cs typeface="Telegraf"/>
                <a:sym typeface="Telegraf"/>
              </a:rPr>
              <a:t>✔ </a:t>
            </a:r>
            <a:r>
              <a:rPr lang="en-US" sz="21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Identify suspicious or high-value transactions.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4914" y="8251116"/>
            <a:ext cx="7763324" cy="86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4"/>
              </a:lnSpc>
              <a:spcBef>
                <a:spcPct val="0"/>
              </a:spcBef>
            </a:pPr>
            <a:r>
              <a:rPr lang="en-US" sz="2431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Thi</a:t>
            </a:r>
            <a:r>
              <a:rPr lang="en-US" sz="2431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s table displays the most recent transaction records based on the selected filters.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93861" y="4002012"/>
            <a:ext cx="6251149" cy="276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3578" lvl="1" indent="-211789" algn="l">
              <a:lnSpc>
                <a:spcPts val="2746"/>
              </a:lnSpc>
              <a:spcBef>
                <a:spcPct val="0"/>
              </a:spcBef>
              <a:buFont typeface="Arial"/>
              <a:buChar char="•"/>
            </a:pPr>
            <a:r>
              <a:rPr lang="en-US" sz="1961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Most transaction amoun</a:t>
            </a:r>
            <a:r>
              <a:rPr lang="en-US" sz="1961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ts are relatively small (below ₹500–₹600).</a:t>
            </a:r>
          </a:p>
          <a:p>
            <a:pPr marL="423578" lvl="1" indent="-211789" algn="l">
              <a:lnSpc>
                <a:spcPts val="2746"/>
              </a:lnSpc>
              <a:spcBef>
                <a:spcPct val="0"/>
              </a:spcBef>
              <a:buFont typeface="Arial"/>
              <a:buChar char="•"/>
            </a:pPr>
            <a:r>
              <a:rPr lang="en-US" sz="1961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One transaction of ₹1,652.49 stands out as the highest amount in the latest records.</a:t>
            </a:r>
          </a:p>
          <a:p>
            <a:pPr marL="423578" lvl="1" indent="-211789" algn="l">
              <a:lnSpc>
                <a:spcPts val="2746"/>
              </a:lnSpc>
              <a:spcBef>
                <a:spcPct val="0"/>
              </a:spcBef>
              <a:buFont typeface="Arial"/>
              <a:buChar char="•"/>
            </a:pPr>
            <a:r>
              <a:rPr lang="en-US" sz="1961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Most recent transactions are Debit transactions.</a:t>
            </a:r>
          </a:p>
          <a:p>
            <a:pPr marL="423578" lvl="1" indent="-211789" algn="l">
              <a:lnSpc>
                <a:spcPts val="2746"/>
              </a:lnSpc>
              <a:spcBef>
                <a:spcPct val="0"/>
              </a:spcBef>
              <a:buFont typeface="Arial"/>
              <a:buChar char="•"/>
            </a:pPr>
            <a:r>
              <a:rPr lang="en-US" sz="1961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Device IDs and IP addresses provide valuable information for identifying suspicious access patterns.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72100" y="3538462"/>
            <a:ext cx="329467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</a:t>
            </a:r>
            <a:r>
              <a:rPr lang="en-US" sz="1999" b="1" u="none" strike="noStrike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6049019" y="-4258492"/>
            <a:ext cx="3259589" cy="13300228"/>
            <a:chOff x="0" y="0"/>
            <a:chExt cx="2575478" cy="105088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5478" cy="10508822"/>
            </a:xfrm>
            <a:custGeom>
              <a:avLst/>
              <a:gdLst/>
              <a:ahLst/>
              <a:cxnLst/>
              <a:rect l="l" t="t" r="r" b="b"/>
              <a:pathLst>
                <a:path w="2575478" h="10508822">
                  <a:moveTo>
                    <a:pt x="83129" y="0"/>
                  </a:moveTo>
                  <a:lnTo>
                    <a:pt x="2492348" y="0"/>
                  </a:lnTo>
                  <a:cubicBezTo>
                    <a:pt x="2514396" y="0"/>
                    <a:pt x="2535540" y="8758"/>
                    <a:pt x="2551130" y="24348"/>
                  </a:cubicBezTo>
                  <a:cubicBezTo>
                    <a:pt x="2566719" y="39938"/>
                    <a:pt x="2575478" y="61082"/>
                    <a:pt x="2575478" y="83129"/>
                  </a:cubicBezTo>
                  <a:lnTo>
                    <a:pt x="2575478" y="10425693"/>
                  </a:lnTo>
                  <a:cubicBezTo>
                    <a:pt x="2575478" y="10471604"/>
                    <a:pt x="2538259" y="10508822"/>
                    <a:pt x="2492348" y="10508822"/>
                  </a:cubicBezTo>
                  <a:lnTo>
                    <a:pt x="83129" y="10508822"/>
                  </a:lnTo>
                  <a:cubicBezTo>
                    <a:pt x="61082" y="10508822"/>
                    <a:pt x="39938" y="10500064"/>
                    <a:pt x="24348" y="10484474"/>
                  </a:cubicBezTo>
                  <a:cubicBezTo>
                    <a:pt x="8758" y="10468884"/>
                    <a:pt x="0" y="10447740"/>
                    <a:pt x="0" y="10425693"/>
                  </a:cubicBezTo>
                  <a:lnTo>
                    <a:pt x="0" y="83129"/>
                  </a:lnTo>
                  <a:cubicBezTo>
                    <a:pt x="0" y="37218"/>
                    <a:pt x="37218" y="0"/>
                    <a:pt x="831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75478" cy="10575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8954083" y="852889"/>
            <a:ext cx="3215222" cy="14271551"/>
            <a:chOff x="0" y="0"/>
            <a:chExt cx="2540422" cy="112762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0422" cy="11276288"/>
            </a:xfrm>
            <a:custGeom>
              <a:avLst/>
              <a:gdLst/>
              <a:ahLst/>
              <a:cxnLst/>
              <a:rect l="l" t="t" r="r" b="b"/>
              <a:pathLst>
                <a:path w="2540422" h="11276288">
                  <a:moveTo>
                    <a:pt x="84276" y="0"/>
                  </a:moveTo>
                  <a:lnTo>
                    <a:pt x="2456146" y="0"/>
                  </a:lnTo>
                  <a:cubicBezTo>
                    <a:pt x="2478497" y="0"/>
                    <a:pt x="2499933" y="8879"/>
                    <a:pt x="2515738" y="24684"/>
                  </a:cubicBezTo>
                  <a:cubicBezTo>
                    <a:pt x="2531543" y="40489"/>
                    <a:pt x="2540422" y="61925"/>
                    <a:pt x="2540422" y="84276"/>
                  </a:cubicBezTo>
                  <a:lnTo>
                    <a:pt x="2540422" y="11192011"/>
                  </a:lnTo>
                  <a:cubicBezTo>
                    <a:pt x="2540422" y="11214363"/>
                    <a:pt x="2531543" y="11235799"/>
                    <a:pt x="2515738" y="11251604"/>
                  </a:cubicBezTo>
                  <a:cubicBezTo>
                    <a:pt x="2499933" y="11267408"/>
                    <a:pt x="2478497" y="11276288"/>
                    <a:pt x="2456146" y="11276288"/>
                  </a:cubicBezTo>
                  <a:lnTo>
                    <a:pt x="84276" y="11276288"/>
                  </a:lnTo>
                  <a:cubicBezTo>
                    <a:pt x="61925" y="11276288"/>
                    <a:pt x="40489" y="11267408"/>
                    <a:pt x="24684" y="11251604"/>
                  </a:cubicBezTo>
                  <a:cubicBezTo>
                    <a:pt x="8879" y="11235799"/>
                    <a:pt x="0" y="11214363"/>
                    <a:pt x="0" y="11192011"/>
                  </a:cubicBezTo>
                  <a:lnTo>
                    <a:pt x="0" y="84276"/>
                  </a:lnTo>
                  <a:cubicBezTo>
                    <a:pt x="0" y="61925"/>
                    <a:pt x="8879" y="40489"/>
                    <a:pt x="24684" y="24684"/>
                  </a:cubicBezTo>
                  <a:cubicBezTo>
                    <a:pt x="40489" y="8879"/>
                    <a:pt x="61925" y="0"/>
                    <a:pt x="842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540422" cy="1134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650738"/>
            <a:ext cx="4577017" cy="2945538"/>
            <a:chOff x="0" y="0"/>
            <a:chExt cx="904419" cy="5820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4419" cy="582039"/>
            </a:xfrm>
            <a:custGeom>
              <a:avLst/>
              <a:gdLst/>
              <a:ahLst/>
              <a:cxnLst/>
              <a:rect l="l" t="t" r="r" b="b"/>
              <a:pathLst>
                <a:path w="904419" h="582039">
                  <a:moveTo>
                    <a:pt x="59202" y="0"/>
                  </a:moveTo>
                  <a:lnTo>
                    <a:pt x="845217" y="0"/>
                  </a:lnTo>
                  <a:cubicBezTo>
                    <a:pt x="860919" y="0"/>
                    <a:pt x="875977" y="6237"/>
                    <a:pt x="887079" y="17340"/>
                  </a:cubicBezTo>
                  <a:cubicBezTo>
                    <a:pt x="898182" y="28442"/>
                    <a:pt x="904419" y="43500"/>
                    <a:pt x="904419" y="59202"/>
                  </a:cubicBezTo>
                  <a:lnTo>
                    <a:pt x="904419" y="522837"/>
                  </a:lnTo>
                  <a:cubicBezTo>
                    <a:pt x="904419" y="538538"/>
                    <a:pt x="898182" y="553596"/>
                    <a:pt x="887079" y="564699"/>
                  </a:cubicBezTo>
                  <a:cubicBezTo>
                    <a:pt x="875977" y="575801"/>
                    <a:pt x="860919" y="582039"/>
                    <a:pt x="845217" y="582039"/>
                  </a:cubicBezTo>
                  <a:lnTo>
                    <a:pt x="59202" y="582039"/>
                  </a:lnTo>
                  <a:cubicBezTo>
                    <a:pt x="43500" y="582039"/>
                    <a:pt x="28442" y="575801"/>
                    <a:pt x="17340" y="564699"/>
                  </a:cubicBezTo>
                  <a:cubicBezTo>
                    <a:pt x="6237" y="553596"/>
                    <a:pt x="0" y="538538"/>
                    <a:pt x="0" y="522837"/>
                  </a:cubicBezTo>
                  <a:lnTo>
                    <a:pt x="0" y="59202"/>
                  </a:lnTo>
                  <a:cubicBezTo>
                    <a:pt x="0" y="43500"/>
                    <a:pt x="6237" y="28442"/>
                    <a:pt x="17340" y="17340"/>
                  </a:cubicBezTo>
                  <a:cubicBezTo>
                    <a:pt x="28442" y="6237"/>
                    <a:pt x="43500" y="0"/>
                    <a:pt x="59202" y="0"/>
                  </a:cubicBezTo>
                  <a:close/>
                </a:path>
              </a:pathLst>
            </a:custGeom>
            <a:blipFill>
              <a:blip r:embed="rId2"/>
              <a:stretch>
                <a:fillRect l="-7273" r="-727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829871" y="926259"/>
            <a:ext cx="4867599" cy="2835432"/>
            <a:chOff x="0" y="0"/>
            <a:chExt cx="754118" cy="4392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54118" cy="439283"/>
            </a:xfrm>
            <a:custGeom>
              <a:avLst/>
              <a:gdLst/>
              <a:ahLst/>
              <a:cxnLst/>
              <a:rect l="l" t="t" r="r" b="b"/>
              <a:pathLst>
                <a:path w="754118" h="439283">
                  <a:moveTo>
                    <a:pt x="55668" y="0"/>
                  </a:moveTo>
                  <a:lnTo>
                    <a:pt x="698451" y="0"/>
                  </a:lnTo>
                  <a:cubicBezTo>
                    <a:pt x="713215" y="0"/>
                    <a:pt x="727374" y="5865"/>
                    <a:pt x="737814" y="16305"/>
                  </a:cubicBezTo>
                  <a:cubicBezTo>
                    <a:pt x="748254" y="26744"/>
                    <a:pt x="754118" y="40904"/>
                    <a:pt x="754118" y="55668"/>
                  </a:cubicBezTo>
                  <a:lnTo>
                    <a:pt x="754118" y="383615"/>
                  </a:lnTo>
                  <a:cubicBezTo>
                    <a:pt x="754118" y="398379"/>
                    <a:pt x="748254" y="412538"/>
                    <a:pt x="737814" y="422978"/>
                  </a:cubicBezTo>
                  <a:cubicBezTo>
                    <a:pt x="727374" y="433418"/>
                    <a:pt x="713215" y="439283"/>
                    <a:pt x="698451" y="439283"/>
                  </a:cubicBezTo>
                  <a:lnTo>
                    <a:pt x="55668" y="439283"/>
                  </a:lnTo>
                  <a:cubicBezTo>
                    <a:pt x="40904" y="439283"/>
                    <a:pt x="26744" y="433418"/>
                    <a:pt x="16305" y="422978"/>
                  </a:cubicBezTo>
                  <a:cubicBezTo>
                    <a:pt x="5865" y="412538"/>
                    <a:pt x="0" y="398379"/>
                    <a:pt x="0" y="383615"/>
                  </a:cubicBezTo>
                  <a:lnTo>
                    <a:pt x="0" y="55668"/>
                  </a:lnTo>
                  <a:cubicBezTo>
                    <a:pt x="0" y="40904"/>
                    <a:pt x="5865" y="26744"/>
                    <a:pt x="16305" y="16305"/>
                  </a:cubicBezTo>
                  <a:cubicBezTo>
                    <a:pt x="26744" y="5865"/>
                    <a:pt x="40904" y="0"/>
                    <a:pt x="55668" y="0"/>
                  </a:cubicBezTo>
                  <a:close/>
                </a:path>
              </a:pathLst>
            </a:custGeom>
            <a:blipFill>
              <a:blip r:embed="rId3"/>
              <a:stretch>
                <a:fillRect t="-7275" b="-7275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796793" y="5813555"/>
            <a:ext cx="11154495" cy="3444745"/>
            <a:chOff x="0" y="0"/>
            <a:chExt cx="8813428" cy="27217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3429" cy="2721774"/>
            </a:xfrm>
            <a:custGeom>
              <a:avLst/>
              <a:gdLst/>
              <a:ahLst/>
              <a:cxnLst/>
              <a:rect l="l" t="t" r="r" b="b"/>
              <a:pathLst>
                <a:path w="8813429" h="2721774">
                  <a:moveTo>
                    <a:pt x="24292" y="0"/>
                  </a:moveTo>
                  <a:lnTo>
                    <a:pt x="8789136" y="0"/>
                  </a:lnTo>
                  <a:cubicBezTo>
                    <a:pt x="8795579" y="0"/>
                    <a:pt x="8801758" y="2559"/>
                    <a:pt x="8806314" y="7115"/>
                  </a:cubicBezTo>
                  <a:cubicBezTo>
                    <a:pt x="8810869" y="11671"/>
                    <a:pt x="8813429" y="17850"/>
                    <a:pt x="8813429" y="24292"/>
                  </a:cubicBezTo>
                  <a:lnTo>
                    <a:pt x="8813429" y="2697481"/>
                  </a:lnTo>
                  <a:cubicBezTo>
                    <a:pt x="8813429" y="2703924"/>
                    <a:pt x="8810869" y="2710103"/>
                    <a:pt x="8806314" y="2714659"/>
                  </a:cubicBezTo>
                  <a:cubicBezTo>
                    <a:pt x="8801758" y="2719214"/>
                    <a:pt x="8795579" y="2721774"/>
                    <a:pt x="8789136" y="2721774"/>
                  </a:cubicBezTo>
                  <a:lnTo>
                    <a:pt x="24292" y="2721774"/>
                  </a:lnTo>
                  <a:cubicBezTo>
                    <a:pt x="17850" y="2721774"/>
                    <a:pt x="11671" y="2719214"/>
                    <a:pt x="7115" y="2714659"/>
                  </a:cubicBezTo>
                  <a:cubicBezTo>
                    <a:pt x="2559" y="2710103"/>
                    <a:pt x="0" y="2703924"/>
                    <a:pt x="0" y="2697481"/>
                  </a:cubicBezTo>
                  <a:lnTo>
                    <a:pt x="0" y="24292"/>
                  </a:lnTo>
                  <a:cubicBezTo>
                    <a:pt x="0" y="17850"/>
                    <a:pt x="2559" y="11671"/>
                    <a:pt x="7115" y="7115"/>
                  </a:cubicBezTo>
                  <a:cubicBezTo>
                    <a:pt x="11671" y="2559"/>
                    <a:pt x="17850" y="0"/>
                    <a:pt x="24292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8813428" cy="2788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65053" y="1292640"/>
            <a:ext cx="11004310" cy="3381465"/>
            <a:chOff x="0" y="0"/>
            <a:chExt cx="8694764" cy="26717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694764" cy="2671775"/>
            </a:xfrm>
            <a:custGeom>
              <a:avLst/>
              <a:gdLst/>
              <a:ahLst/>
              <a:cxnLst/>
              <a:rect l="l" t="t" r="r" b="b"/>
              <a:pathLst>
                <a:path w="8694764" h="2671775">
                  <a:moveTo>
                    <a:pt x="24624" y="0"/>
                  </a:moveTo>
                  <a:lnTo>
                    <a:pt x="8670140" y="0"/>
                  </a:lnTo>
                  <a:cubicBezTo>
                    <a:pt x="8676670" y="0"/>
                    <a:pt x="8682934" y="2594"/>
                    <a:pt x="8687552" y="7212"/>
                  </a:cubicBezTo>
                  <a:cubicBezTo>
                    <a:pt x="8692169" y="11830"/>
                    <a:pt x="8694764" y="18093"/>
                    <a:pt x="8694764" y="24624"/>
                  </a:cubicBezTo>
                  <a:lnTo>
                    <a:pt x="8694764" y="2647151"/>
                  </a:lnTo>
                  <a:cubicBezTo>
                    <a:pt x="8694764" y="2660751"/>
                    <a:pt x="8683740" y="2671775"/>
                    <a:pt x="8670140" y="2671775"/>
                  </a:cubicBezTo>
                  <a:lnTo>
                    <a:pt x="24624" y="2671775"/>
                  </a:lnTo>
                  <a:cubicBezTo>
                    <a:pt x="11024" y="2671775"/>
                    <a:pt x="0" y="2660751"/>
                    <a:pt x="0" y="2647151"/>
                  </a:cubicBezTo>
                  <a:lnTo>
                    <a:pt x="0" y="24624"/>
                  </a:lnTo>
                  <a:cubicBezTo>
                    <a:pt x="0" y="11024"/>
                    <a:pt x="11024" y="0"/>
                    <a:pt x="24624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8694764" cy="2738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6582826" y="714202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0888266" y="5813555"/>
            <a:ext cx="971550" cy="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973898" y="793988"/>
            <a:ext cx="10503219" cy="42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5"/>
              </a:lnSpc>
              <a:spcBef>
                <a:spcPct val="0"/>
              </a:spcBef>
            </a:pPr>
            <a:r>
              <a:rPr lang="en-US" sz="2318" b="1" spc="-46">
                <a:solidFill>
                  <a:srgbClr val="BBF1FE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Business Objectives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96752" y="5922369"/>
            <a:ext cx="3354578" cy="426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8"/>
              </a:lnSpc>
              <a:spcBef>
                <a:spcPct val="0"/>
              </a:spcBef>
            </a:pPr>
            <a:r>
              <a:rPr lang="en-US" sz="2334" b="1" spc="-46">
                <a:solidFill>
                  <a:srgbClr val="BBF1FE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Expected Outcomes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2807" y="1416562"/>
            <a:ext cx="11004310" cy="2948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Reduce financial losses caused by fraudulent transactions.</a:t>
            </a:r>
          </a:p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Improve fraud detection efficiency.</a:t>
            </a:r>
          </a:p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Monitor transaction trends and customer behavior.</a:t>
            </a:r>
          </a:p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Identify unusual transaction patterns.</a:t>
            </a:r>
          </a:p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Strengthen banking security and compliance.</a:t>
            </a:r>
          </a:p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Provide management with real-time KPIs and reports.</a:t>
            </a:r>
          </a:p>
          <a:p>
            <a:pPr algn="l">
              <a:lnSpc>
                <a:spcPts val="3359"/>
              </a:lnSpc>
            </a:pPr>
            <a:endParaRPr lang="en-US" sz="2399" b="1" spc="-47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62120" y="6401550"/>
            <a:ext cx="10620868" cy="2529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Early identification of suspicious transactions.</a:t>
            </a:r>
          </a:p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Better fraud prevention strategies can be developed.  </a:t>
            </a:r>
          </a:p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Improved customer trust and account security.</a:t>
            </a:r>
          </a:p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Faster investigation and response to fraud cases.</a:t>
            </a:r>
          </a:p>
          <a:p>
            <a:pPr marL="518157" lvl="1" indent="-259078" algn="l">
              <a:lnSpc>
                <a:spcPts val="3359"/>
              </a:lnSpc>
              <a:buAutoNum type="arabicPeriod"/>
            </a:pPr>
            <a:r>
              <a:rPr lang="en-US" sz="2399" b="1" spc="-4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Clear visualization of fraud trends for business stakeholders.</a:t>
            </a:r>
          </a:p>
          <a:p>
            <a:pPr algn="l">
              <a:lnSpc>
                <a:spcPts val="3359"/>
              </a:lnSpc>
            </a:pPr>
            <a:endParaRPr lang="en-US" sz="2399" b="1" spc="-47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3219960" y="4975355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3" y="0"/>
                </a:lnTo>
                <a:lnTo>
                  <a:pt x="385763" y="385763"/>
                </a:lnTo>
                <a:lnTo>
                  <a:pt x="0" y="385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491072"/>
            <a:ext cx="4478235" cy="669144"/>
            <a:chOff x="0" y="0"/>
            <a:chExt cx="3538359" cy="528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38359" cy="528706"/>
            </a:xfrm>
            <a:custGeom>
              <a:avLst/>
              <a:gdLst/>
              <a:ahLst/>
              <a:cxnLst/>
              <a:rect l="l" t="t" r="r" b="b"/>
              <a:pathLst>
                <a:path w="3538359" h="528706">
                  <a:moveTo>
                    <a:pt x="34576" y="0"/>
                  </a:moveTo>
                  <a:lnTo>
                    <a:pt x="3503783" y="0"/>
                  </a:lnTo>
                  <a:cubicBezTo>
                    <a:pt x="3522879" y="0"/>
                    <a:pt x="3538359" y="15480"/>
                    <a:pt x="3538359" y="34576"/>
                  </a:cubicBezTo>
                  <a:lnTo>
                    <a:pt x="3538359" y="494130"/>
                  </a:lnTo>
                  <a:cubicBezTo>
                    <a:pt x="3538359" y="513226"/>
                    <a:pt x="3522879" y="528706"/>
                    <a:pt x="3503783" y="528706"/>
                  </a:cubicBezTo>
                  <a:lnTo>
                    <a:pt x="34576" y="528706"/>
                  </a:lnTo>
                  <a:cubicBezTo>
                    <a:pt x="15480" y="528706"/>
                    <a:pt x="0" y="513226"/>
                    <a:pt x="0" y="494130"/>
                  </a:cubicBezTo>
                  <a:lnTo>
                    <a:pt x="0" y="34576"/>
                  </a:lnTo>
                  <a:cubicBezTo>
                    <a:pt x="0" y="15480"/>
                    <a:pt x="15480" y="0"/>
                    <a:pt x="34576" y="0"/>
                  </a:cubicBezTo>
                  <a:close/>
                </a:path>
              </a:pathLst>
            </a:custGeom>
            <a:solidFill>
              <a:srgbClr val="F05A1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538359" cy="595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94805" y="5160216"/>
            <a:ext cx="3064495" cy="4063591"/>
            <a:chOff x="0" y="0"/>
            <a:chExt cx="2421329" cy="32107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21329" cy="3210738"/>
            </a:xfrm>
            <a:custGeom>
              <a:avLst/>
              <a:gdLst/>
              <a:ahLst/>
              <a:cxnLst/>
              <a:rect l="l" t="t" r="r" b="b"/>
              <a:pathLst>
                <a:path w="2421329" h="3210738">
                  <a:moveTo>
                    <a:pt x="88421" y="0"/>
                  </a:moveTo>
                  <a:lnTo>
                    <a:pt x="2332908" y="0"/>
                  </a:lnTo>
                  <a:cubicBezTo>
                    <a:pt x="2356359" y="0"/>
                    <a:pt x="2378849" y="9316"/>
                    <a:pt x="2395431" y="25898"/>
                  </a:cubicBezTo>
                  <a:cubicBezTo>
                    <a:pt x="2412014" y="42480"/>
                    <a:pt x="2421329" y="64971"/>
                    <a:pt x="2421329" y="88421"/>
                  </a:cubicBezTo>
                  <a:lnTo>
                    <a:pt x="2421329" y="3122317"/>
                  </a:lnTo>
                  <a:cubicBezTo>
                    <a:pt x="2421329" y="3145768"/>
                    <a:pt x="2412014" y="3168258"/>
                    <a:pt x="2395431" y="3184840"/>
                  </a:cubicBezTo>
                  <a:cubicBezTo>
                    <a:pt x="2378849" y="3201422"/>
                    <a:pt x="2356359" y="3210738"/>
                    <a:pt x="2332908" y="3210738"/>
                  </a:cubicBezTo>
                  <a:lnTo>
                    <a:pt x="88421" y="3210738"/>
                  </a:lnTo>
                  <a:cubicBezTo>
                    <a:pt x="64971" y="3210738"/>
                    <a:pt x="42480" y="3201422"/>
                    <a:pt x="25898" y="3184840"/>
                  </a:cubicBezTo>
                  <a:cubicBezTo>
                    <a:pt x="9316" y="3168258"/>
                    <a:pt x="0" y="3145768"/>
                    <a:pt x="0" y="3122317"/>
                  </a:cubicBezTo>
                  <a:lnTo>
                    <a:pt x="0" y="88421"/>
                  </a:lnTo>
                  <a:cubicBezTo>
                    <a:pt x="0" y="64971"/>
                    <a:pt x="9316" y="42480"/>
                    <a:pt x="25898" y="25898"/>
                  </a:cubicBezTo>
                  <a:cubicBezTo>
                    <a:pt x="42480" y="9316"/>
                    <a:pt x="64971" y="0"/>
                    <a:pt x="884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421329" cy="3277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82400" y="1028700"/>
            <a:ext cx="5676900" cy="5867400"/>
            <a:chOff x="0" y="0"/>
            <a:chExt cx="1007803" cy="9095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7803" cy="909569"/>
            </a:xfrm>
            <a:custGeom>
              <a:avLst/>
              <a:gdLst/>
              <a:ahLst/>
              <a:cxnLst/>
              <a:rect l="l" t="t" r="r" b="b"/>
              <a:pathLst>
                <a:path w="1007803" h="909569">
                  <a:moveTo>
                    <a:pt x="41655" y="0"/>
                  </a:moveTo>
                  <a:lnTo>
                    <a:pt x="966148" y="0"/>
                  </a:lnTo>
                  <a:cubicBezTo>
                    <a:pt x="989153" y="0"/>
                    <a:pt x="1007803" y="18650"/>
                    <a:pt x="1007803" y="41655"/>
                  </a:cubicBezTo>
                  <a:lnTo>
                    <a:pt x="1007803" y="867914"/>
                  </a:lnTo>
                  <a:cubicBezTo>
                    <a:pt x="1007803" y="890919"/>
                    <a:pt x="989153" y="909569"/>
                    <a:pt x="966148" y="909569"/>
                  </a:cubicBezTo>
                  <a:lnTo>
                    <a:pt x="41655" y="909569"/>
                  </a:lnTo>
                  <a:cubicBezTo>
                    <a:pt x="18650" y="909569"/>
                    <a:pt x="0" y="890919"/>
                    <a:pt x="0" y="867914"/>
                  </a:cubicBezTo>
                  <a:lnTo>
                    <a:pt x="0" y="41655"/>
                  </a:lnTo>
                  <a:cubicBezTo>
                    <a:pt x="0" y="18650"/>
                    <a:pt x="18650" y="0"/>
                    <a:pt x="41655" y="0"/>
                  </a:cubicBezTo>
                  <a:close/>
                </a:path>
              </a:pathLst>
            </a:custGeom>
            <a:blipFill>
              <a:blip r:embed="rId2"/>
              <a:stretch>
                <a:fillRect l="-21940" r="-2194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3507755" y="3693145"/>
            <a:ext cx="3086100" cy="8044210"/>
            <a:chOff x="0" y="0"/>
            <a:chExt cx="2438400" cy="63559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" cy="6355919"/>
            </a:xfrm>
            <a:custGeom>
              <a:avLst/>
              <a:gdLst/>
              <a:ahLst/>
              <a:cxnLst/>
              <a:rect l="l" t="t" r="r" b="b"/>
              <a:pathLst>
                <a:path w="2438400" h="6355919">
                  <a:moveTo>
                    <a:pt x="87802" y="0"/>
                  </a:moveTo>
                  <a:lnTo>
                    <a:pt x="2350598" y="0"/>
                  </a:lnTo>
                  <a:cubicBezTo>
                    <a:pt x="2399089" y="0"/>
                    <a:pt x="2438400" y="39311"/>
                    <a:pt x="2438400" y="87802"/>
                  </a:cubicBezTo>
                  <a:lnTo>
                    <a:pt x="2438400" y="6268117"/>
                  </a:lnTo>
                  <a:cubicBezTo>
                    <a:pt x="2438400" y="6316609"/>
                    <a:pt x="2399089" y="6355919"/>
                    <a:pt x="2350598" y="6355919"/>
                  </a:cubicBezTo>
                  <a:lnTo>
                    <a:pt x="87802" y="6355919"/>
                  </a:lnTo>
                  <a:cubicBezTo>
                    <a:pt x="39311" y="6355919"/>
                    <a:pt x="0" y="6316609"/>
                    <a:pt x="0" y="6268117"/>
                  </a:cubicBezTo>
                  <a:lnTo>
                    <a:pt x="0" y="87802"/>
                  </a:lnTo>
                  <a:cubicBezTo>
                    <a:pt x="0" y="39311"/>
                    <a:pt x="39311" y="0"/>
                    <a:pt x="878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C22">
                    <a:alpha val="100000"/>
                  </a:srgbClr>
                </a:gs>
                <a:gs pos="100000">
                  <a:srgbClr val="334046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438400" cy="6422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028700" y="7229475"/>
            <a:ext cx="0" cy="971550"/>
          </a:xfrm>
          <a:prstGeom prst="line">
            <a:avLst/>
          </a:prstGeom>
          <a:ln w="95250" cap="flat">
            <a:solidFill>
              <a:srgbClr val="F05A1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2057400" y="6686550"/>
            <a:ext cx="5986810" cy="2062976"/>
            <a:chOff x="0" y="0"/>
            <a:chExt cx="4730319" cy="16300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730319" cy="1630006"/>
            </a:xfrm>
            <a:custGeom>
              <a:avLst/>
              <a:gdLst/>
              <a:ahLst/>
              <a:cxnLst/>
              <a:rect l="l" t="t" r="r" b="b"/>
              <a:pathLst>
                <a:path w="4730319" h="1630006">
                  <a:moveTo>
                    <a:pt x="45261" y="0"/>
                  </a:moveTo>
                  <a:lnTo>
                    <a:pt x="4685058" y="0"/>
                  </a:lnTo>
                  <a:cubicBezTo>
                    <a:pt x="4710055" y="0"/>
                    <a:pt x="4730319" y="20264"/>
                    <a:pt x="4730319" y="45261"/>
                  </a:cubicBezTo>
                  <a:lnTo>
                    <a:pt x="4730319" y="1584745"/>
                  </a:lnTo>
                  <a:cubicBezTo>
                    <a:pt x="4730319" y="1596749"/>
                    <a:pt x="4725550" y="1608261"/>
                    <a:pt x="4717062" y="1616749"/>
                  </a:cubicBezTo>
                  <a:cubicBezTo>
                    <a:pt x="4708575" y="1625237"/>
                    <a:pt x="4697062" y="1630006"/>
                    <a:pt x="4685058" y="1630006"/>
                  </a:cubicBezTo>
                  <a:lnTo>
                    <a:pt x="45261" y="1630006"/>
                  </a:lnTo>
                  <a:cubicBezTo>
                    <a:pt x="33257" y="1630006"/>
                    <a:pt x="21745" y="1625237"/>
                    <a:pt x="13257" y="1616749"/>
                  </a:cubicBezTo>
                  <a:cubicBezTo>
                    <a:pt x="4769" y="1608261"/>
                    <a:pt x="0" y="1596749"/>
                    <a:pt x="0" y="1584745"/>
                  </a:cubicBezTo>
                  <a:lnTo>
                    <a:pt x="0" y="45261"/>
                  </a:lnTo>
                  <a:cubicBezTo>
                    <a:pt x="0" y="33257"/>
                    <a:pt x="4769" y="21745"/>
                    <a:pt x="13257" y="13257"/>
                  </a:cubicBezTo>
                  <a:cubicBezTo>
                    <a:pt x="21745" y="4769"/>
                    <a:pt x="33257" y="0"/>
                    <a:pt x="45261" y="0"/>
                  </a:cubicBezTo>
                  <a:close/>
                </a:path>
              </a:pathLst>
            </a:custGeom>
            <a:solidFill>
              <a:srgbClr val="0D1C22"/>
            </a:solidFill>
            <a:ln w="9525" cap="rnd">
              <a:solidFill>
                <a:srgbClr val="334046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4730319" cy="1696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8687148" y="4950619"/>
            <a:ext cx="385762" cy="385762"/>
          </a:xfrm>
          <a:custGeom>
            <a:avLst/>
            <a:gdLst/>
            <a:ahLst/>
            <a:cxnLst/>
            <a:rect l="l" t="t" r="r" b="b"/>
            <a:pathLst>
              <a:path w="385762" h="385762">
                <a:moveTo>
                  <a:pt x="0" y="0"/>
                </a:moveTo>
                <a:lnTo>
                  <a:pt x="385762" y="0"/>
                </a:lnTo>
                <a:lnTo>
                  <a:pt x="385762" y="385762"/>
                </a:lnTo>
                <a:lnTo>
                  <a:pt x="0" y="385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2252495"/>
            <a:ext cx="11350527" cy="2381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85"/>
              </a:lnSpc>
              <a:spcBef>
                <a:spcPct val="0"/>
              </a:spcBef>
            </a:pPr>
            <a:r>
              <a:rPr lang="en-US" sz="17761" b="1" u="none" strike="noStrike" spc="-1332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Thank You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8098" y="4643717"/>
            <a:ext cx="547943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spc="-37">
                <a:solidFill>
                  <a:srgbClr val="F9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Appreciate Your Time and Attention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06719" y="7181850"/>
            <a:ext cx="508817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Thank you for </a:t>
            </a:r>
            <a:r>
              <a:rPr lang="en-US" sz="1600" u="none" strike="noStrike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taking the time to explore this presentation. Your attention and interest are highly valued.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01610" y="8207899"/>
            <a:ext cx="3571970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BBF1FE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PRESENTED BY: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01610" y="8493649"/>
            <a:ext cx="3854798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F9FFFF"/>
                </a:solidFill>
                <a:latin typeface="Telegraf"/>
                <a:ea typeface="Telegraf"/>
                <a:cs typeface="Telegraf"/>
                <a:sym typeface="Telegraf"/>
              </a:rPr>
              <a:t>Rittika Ghosh</a:t>
            </a:r>
          </a:p>
          <a:p>
            <a:pPr algn="l">
              <a:lnSpc>
                <a:spcPts val="1960"/>
              </a:lnSpc>
            </a:pPr>
            <a:endParaRPr lang="en-US" sz="1400">
              <a:solidFill>
                <a:srgbClr val="F9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1627</Words>
  <Application>Microsoft Office PowerPoint</Application>
  <PresentationFormat>Custom</PresentationFormat>
  <Paragraphs>229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Telegraf</vt:lpstr>
      <vt:lpstr>Calibri</vt:lpstr>
      <vt:lpstr>Arial</vt:lpstr>
      <vt:lpstr>Telegraf Medium</vt:lpstr>
      <vt:lpstr>Telegraf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BankingFraudTransactions Analytics</dc:title>
  <cp:lastModifiedBy>Rittika Ghosh</cp:lastModifiedBy>
  <cp:revision>7</cp:revision>
  <dcterms:created xsi:type="dcterms:W3CDTF">2006-08-16T00:00:00Z</dcterms:created>
  <dcterms:modified xsi:type="dcterms:W3CDTF">2026-07-17T11:58:34Z</dcterms:modified>
  <dc:identifier>DAHN97YcfbI</dc:identifier>
</cp:coreProperties>
</file>